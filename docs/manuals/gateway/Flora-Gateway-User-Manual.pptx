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b2b057e-3763-caa3-916d-9ba54ffce0f3}">
          <p14:sldIdLst>
            <p14:sldId id="256"/>
            <p14:sldId id="257"/>
            <p14:sldId id="258"/>
          </p14:sldIdLst>
        </p14:section>
        <p14:section name="Architecture" id="{b25a6750-7a62-3ee6-1de6-7e555be55588}">
          <p14:sldIdLst>
            <p14:sldId id="259"/>
            <p14:sldId id="260"/>
          </p14:sldIdLst>
        </p14:section>
        <p14:section name="Technology" id="{d30f5939-7228-a674-fcf1-379d102db9a7}">
          <p14:sldIdLst>
            <p14:sldId id="261"/>
            <p14:sldId id="262"/>
          </p14:sldIdLst>
        </p14:section>
        <p14:section name="Install &amp; operate" id="{d3d223f2-d0e1-66d3-93a2-8fed488b8401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Data structures" id="{bc036d9b-0826-b3a5-f140-026051014aea}">
          <p14:sldIdLst>
            <p14:sldId id="275"/>
            <p14:sldId id="276"/>
            <p14:sldId id="277"/>
            <p14:sldId id="278"/>
          </p14:sldIdLst>
        </p14:section>
        <p14:section name="Support" id="{4550c824-63f0-b121-0781-f9cd53d83021}">
          <p14:sldIdLst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Flora Gateway user manual. This deck summarises installation, device setup, Leaf assignment, central management, data structures and the technology stack. The full detail is in the Word manual delivered alongside.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parts. The data-structures part has separate relational diagrams, also delivered as PNG and SVG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tiers, each its own Docker Compose application. The gateway is the hardware-facing tier; one is installed per OR or ICU device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Devices send frames to the ingress controllers, which publish them on Kafka. A parser container per device turns them into observations; the collector stores them in PostgreSQL; the server and Kong expose them as /data-api, which the Leaf pulls. gateway-service is the control plane and checks in with Canopy.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pod is &lt;controller&gt;.&lt;id&gt;, for example socket.or-monitor or serial.COM1. Parsers also emit original fields on gw.measurements and logs on gw.logs, and send polls or ACKs back on gw.cmd.&lt;pod&gt;.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Presentation: station admin UI, nginx edge, Kong. Services: Rust for the data path, Python for the control plane and parsers. Messaging and data: Kafka and PostgreSQL. Platform: Docker, flora-updater, serial I/O helpers.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Versions are those pinned in compose.yaml, rust/Cargo.toml and the Python requirements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Desktop on Windows cannot pass COM ports; run the serial controller natively there. After a release is approved, keep --env-file .release/flora-gateway.env on manual compose commands.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74xx is the gateway block (72xx Canopy, 73xx Leaf). Keep Kong, PostgreSQL and Kafka on 127.0.0.1 and let Leaves read through the HTTPS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Users tab manages accounts. API clients can use HTTP Basic with a gateway user. When GATEWAY_ADMIN_KEY is set, write calls need the x-gateway-key header.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check-in sends devices (secrets masked), site, applied configuration version and the data API URL. It receives the license, device types, parser images pinned by digest and any newer desired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catalog is device-types.json, delivered to the gateway through Canopy with each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parser container is named flora-gw-parser-&lt;device_id&gt;. Changing type, pod or options restarts it. Use Streams to see raw frames and Monitor to see decoded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device belongs to at most one Leaf. Assignment can also be done centrally in Canopy, and a case handover with 'move devices' moves them to the new Leaf.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connections are outbound from the gateway and the Leaf. Canopy queues changes and returns them in the reply to the next check-in. The Leaf reads the gateway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Leaf device writer polls every 2 seconds, one minute per case, and maps parameters to chart rows (heart_rate → hr, nibp_mean → nibp_map, MDC 147842 → hr).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Desired configuration is versioned. Once Canopy has sent one, the gateway site is read-only locally and seed files are ignored.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 to 100 alerts are delivered per check-in cycle; Canopy only replaces an alert with a newer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Sites never build images. The updater polls Haber every 30 s and reports its state (current, applying, failed, waiting) back to Haber.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diagrams follow. Each is also delivered as a separate PNG and SVG file for printing at full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Registry: device types, instances, manufacturers, parser images. Data: observations, measurements, device_seen, logs. Operations: users, sessions, alerts, status samples. Singletons: site, license, Canopy link. Observations reference devices by device_id without an enforced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topic families. gw.raw and gw.cmd are per pod; gw.obs, gw.measurements and gw.logs are shared. The collector reads from the earliest offset and commits after storing; parsers read from the latest offset.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Haber records check-ins and release state in SQLite. Canopy stores each gateway, its devices (with the assigned Leaf), configuration snapshots and alerts. The Leaf stores its chosen gateway and the per-minute device data for each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 manual has the full table, including 400 invalid window, 502 after an update, missing secrets, disk growth and 409 on controller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/data-api has no authentication of its own and the leaf filter is a query parameter, so network placement is the main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 manual contains the full data dictionary, environment variables and troubleshooting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7ECE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rgbClr val="0A4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D7ECEC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18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4"/>
                </a:solidFill>
              </a:rPr>
              <a:t>Flora Gateway · User Manual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Flora Gateway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7ECEC"/>
                </a:solidFill>
              </a:rPr>
              <a:t>User Manual · medical device integration for OR and ICU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33D"/>
                </a:solidFill>
              </a:rPr>
              <a:t>ESM FLORA PLATFORM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BA"/>
                </a:solidFill>
              </a:rPr>
              <a:t>Release line gateway-0.2.x  ·  October 2026</a:t>
            </a:r>
            <a:endParaRPr lang="en-US" sz="1200" dirty="0"/>
          </a:p>
        </p:txBody>
      </p:sp>
      <p:sp>
        <p:nvSpPr>
          <p:cNvPr id="6" name="title circle"/>
          <p:cNvSpPr/>
          <p:nvPr/>
        </p:nvSpPr>
        <p:spPr>
          <a:xfrm>
            <a:off x="7406640" y="3520440"/>
            <a:ext cx="1005840" cy="1005840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pic>
        <p:nvPicPr>
          <p:cNvPr id="7" name="titl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7925" y="3741725"/>
            <a:ext cx="563270" cy="5632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this manual covers</a:t>
            </a:r>
            <a:endParaRPr lang="en-US" sz="2800" dirty="0"/>
          </a:p>
        </p:txBody>
      </p:sp>
      <p:sp>
        <p:nvSpPr>
          <p:cNvPr id="3" name="Architecture card"/>
          <p:cNvSpPr/>
          <p:nvPr/>
        </p:nvSpPr>
        <p:spPr>
          <a:xfrm>
            <a:off x="457200" y="105156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4" name="Architecture title"/>
          <p:cNvSpPr txBox="1"/>
          <p:nvPr/>
        </p:nvSpPr>
        <p:spPr>
          <a:xfrm>
            <a:off x="1325880" y="116128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Architecture</a:t>
            </a:r>
            <a:endParaRPr lang="en-US" sz="1600" dirty="0"/>
          </a:p>
        </p:txBody>
      </p:sp>
      <p:sp>
        <p:nvSpPr>
          <p:cNvPr id="5" name="Architecture text"/>
          <p:cNvSpPr txBox="1"/>
          <p:nvPr/>
        </p:nvSpPr>
        <p:spPr>
          <a:xfrm>
            <a:off x="1325880" y="15087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Services, data path and connectivity</a:t>
            </a:r>
            <a:endParaRPr lang="en-US" sz="1300" dirty="0"/>
          </a:p>
        </p:txBody>
      </p:sp>
      <p:sp>
        <p:nvSpPr>
          <p:cNvPr id="6" name="Architecture circle"/>
          <p:cNvSpPr/>
          <p:nvPr/>
        </p:nvSpPr>
        <p:spPr>
          <a:xfrm>
            <a:off x="640080" y="1252728"/>
            <a:ext cx="548640" cy="548640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pic>
        <p:nvPicPr>
          <p:cNvPr id="7" name="Architectu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373429"/>
            <a:ext cx="307238" cy="307238"/>
          </a:xfrm>
          <a:prstGeom prst="rect">
            <a:avLst/>
          </a:prstGeom>
        </p:spPr>
      </p:pic>
      <p:sp>
        <p:nvSpPr>
          <p:cNvPr id="8" name="Technology stack card"/>
          <p:cNvSpPr/>
          <p:nvPr/>
        </p:nvSpPr>
        <p:spPr>
          <a:xfrm>
            <a:off x="3246120" y="105156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9" name="Technology stack title"/>
          <p:cNvSpPr txBox="1"/>
          <p:nvPr/>
        </p:nvSpPr>
        <p:spPr>
          <a:xfrm>
            <a:off x="4114800" y="116128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Technology stack</a:t>
            </a:r>
            <a:endParaRPr lang="en-US" sz="1600" dirty="0"/>
          </a:p>
        </p:txBody>
      </p:sp>
      <p:sp>
        <p:nvSpPr>
          <p:cNvPr id="10" name="Technology stack text"/>
          <p:cNvSpPr txBox="1"/>
          <p:nvPr/>
        </p:nvSpPr>
        <p:spPr>
          <a:xfrm>
            <a:off x="4114800" y="15087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Rust, Python, Kafka, PostgreSQL, Kong</a:t>
            </a:r>
            <a:endParaRPr lang="en-US" sz="1300" dirty="0"/>
          </a:p>
        </p:txBody>
      </p:sp>
      <p:sp>
        <p:nvSpPr>
          <p:cNvPr id="11" name="Technology stack circle"/>
          <p:cNvSpPr/>
          <p:nvPr/>
        </p:nvSpPr>
        <p:spPr>
          <a:xfrm>
            <a:off x="3429000" y="1252728"/>
            <a:ext cx="548640" cy="5486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pic>
        <p:nvPicPr>
          <p:cNvPr id="12" name="Technology stack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701" y="1373429"/>
            <a:ext cx="307238" cy="307238"/>
          </a:xfrm>
          <a:prstGeom prst="rect">
            <a:avLst/>
          </a:prstGeom>
        </p:spPr>
      </p:pic>
      <p:sp>
        <p:nvSpPr>
          <p:cNvPr id="13" name="Install &amp; operate card"/>
          <p:cNvSpPr/>
          <p:nvPr/>
        </p:nvSpPr>
        <p:spPr>
          <a:xfrm>
            <a:off x="6035040" y="105156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4" name="Install &amp;amp; operate title"/>
          <p:cNvSpPr txBox="1"/>
          <p:nvPr/>
        </p:nvSpPr>
        <p:spPr>
          <a:xfrm>
            <a:off x="6903720" y="116128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Install &amp; operate</a:t>
            </a:r>
            <a:endParaRPr lang="en-US" sz="1600" dirty="0"/>
          </a:p>
        </p:txBody>
      </p:sp>
      <p:sp>
        <p:nvSpPr>
          <p:cNvPr id="15" name="Install &amp; operate text"/>
          <p:cNvSpPr txBox="1"/>
          <p:nvPr/>
        </p:nvSpPr>
        <p:spPr>
          <a:xfrm>
            <a:off x="6903720" y="15087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Ports, settings, station admin UI</a:t>
            </a:r>
            <a:endParaRPr lang="en-US" sz="1300" dirty="0"/>
          </a:p>
        </p:txBody>
      </p:sp>
      <p:sp>
        <p:nvSpPr>
          <p:cNvPr id="16" name="Install &amp; operate circle"/>
          <p:cNvSpPr/>
          <p:nvPr/>
        </p:nvSpPr>
        <p:spPr>
          <a:xfrm>
            <a:off x="6217920" y="1252728"/>
            <a:ext cx="548640" cy="548640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pic>
        <p:nvPicPr>
          <p:cNvPr id="17" name="Install &amp; operat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621" y="1373429"/>
            <a:ext cx="307238" cy="307238"/>
          </a:xfrm>
          <a:prstGeom prst="rect">
            <a:avLst/>
          </a:prstGeom>
        </p:spPr>
      </p:pic>
      <p:sp>
        <p:nvSpPr>
          <p:cNvPr id="18" name="Devices &amp; Leaf card"/>
          <p:cNvSpPr/>
          <p:nvPr/>
        </p:nvSpPr>
        <p:spPr>
          <a:xfrm>
            <a:off x="457200" y="283464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9" name="Devices &amp;amp; Leaf title"/>
          <p:cNvSpPr txBox="1"/>
          <p:nvPr/>
        </p:nvSpPr>
        <p:spPr>
          <a:xfrm>
            <a:off x="1325880" y="2944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Devices &amp; Leaf</a:t>
            </a:r>
            <a:endParaRPr lang="en-US" sz="1600" dirty="0"/>
          </a:p>
        </p:txBody>
      </p:sp>
      <p:sp>
        <p:nvSpPr>
          <p:cNvPr id="20" name="Devices &amp; Leaf text"/>
          <p:cNvSpPr txBox="1"/>
          <p:nvPr/>
        </p:nvSpPr>
        <p:spPr>
          <a:xfrm>
            <a:off x="1325880" y="32918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Add devices, assign them to a bed</a:t>
            </a:r>
            <a:endParaRPr lang="en-US" sz="1300" dirty="0"/>
          </a:p>
        </p:txBody>
      </p:sp>
      <p:sp>
        <p:nvSpPr>
          <p:cNvPr id="21" name="Devices &amp; Leaf circle"/>
          <p:cNvSpPr/>
          <p:nvPr/>
        </p:nvSpPr>
        <p:spPr>
          <a:xfrm>
            <a:off x="640080" y="3035808"/>
            <a:ext cx="548640" cy="5486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pic>
        <p:nvPicPr>
          <p:cNvPr id="22" name="Devices &amp; Leaf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3156509"/>
            <a:ext cx="307238" cy="307238"/>
          </a:xfrm>
          <a:prstGeom prst="rect">
            <a:avLst/>
          </a:prstGeom>
        </p:spPr>
      </p:pic>
      <p:sp>
        <p:nvSpPr>
          <p:cNvPr id="23" name="Canopy &amp; fleet card"/>
          <p:cNvSpPr/>
          <p:nvPr/>
        </p:nvSpPr>
        <p:spPr>
          <a:xfrm>
            <a:off x="3246120" y="283464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24" name="Canopy &amp;amp; fleet title"/>
          <p:cNvSpPr txBox="1"/>
          <p:nvPr/>
        </p:nvSpPr>
        <p:spPr>
          <a:xfrm>
            <a:off x="4114800" y="2944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Canopy &amp; fleet</a:t>
            </a:r>
            <a:endParaRPr lang="en-US" sz="1600" dirty="0"/>
          </a:p>
        </p:txBody>
      </p:sp>
      <p:sp>
        <p:nvSpPr>
          <p:cNvPr id="25" name="Canopy &amp; fleet text"/>
          <p:cNvSpPr txBox="1"/>
          <p:nvPr/>
        </p:nvSpPr>
        <p:spPr>
          <a:xfrm>
            <a:off x="4114800" y="32918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Check-in, license, alerts, updates</a:t>
            </a:r>
            <a:endParaRPr lang="en-US" sz="1300" dirty="0"/>
          </a:p>
        </p:txBody>
      </p:sp>
      <p:sp>
        <p:nvSpPr>
          <p:cNvPr id="26" name="Canopy &amp; fleet circle"/>
          <p:cNvSpPr/>
          <p:nvPr/>
        </p:nvSpPr>
        <p:spPr>
          <a:xfrm>
            <a:off x="3429000" y="3035808"/>
            <a:ext cx="548640" cy="548640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pic>
        <p:nvPicPr>
          <p:cNvPr id="27" name="Canopy &amp; fleet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701" y="3156509"/>
            <a:ext cx="307238" cy="307238"/>
          </a:xfrm>
          <a:prstGeom prst="rect">
            <a:avLst/>
          </a:prstGeom>
        </p:spPr>
      </p:pic>
      <p:sp>
        <p:nvSpPr>
          <p:cNvPr id="28" name="Data structures card"/>
          <p:cNvSpPr/>
          <p:nvPr/>
        </p:nvSpPr>
        <p:spPr>
          <a:xfrm>
            <a:off x="6035040" y="283464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29" name="Data structures title"/>
          <p:cNvSpPr txBox="1"/>
          <p:nvPr/>
        </p:nvSpPr>
        <p:spPr>
          <a:xfrm>
            <a:off x="6903720" y="2944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structures</a:t>
            </a:r>
            <a:endParaRPr lang="en-US" sz="1600" dirty="0"/>
          </a:p>
        </p:txBody>
      </p:sp>
      <p:sp>
        <p:nvSpPr>
          <p:cNvPr id="30" name="Data structures text"/>
          <p:cNvSpPr txBox="1"/>
          <p:nvPr/>
        </p:nvSpPr>
        <p:spPr>
          <a:xfrm>
            <a:off x="6903720" y="32918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Relational diagrams and message schemas</a:t>
            </a:r>
            <a:endParaRPr lang="en-US" sz="1300" dirty="0"/>
          </a:p>
        </p:txBody>
      </p:sp>
      <p:sp>
        <p:nvSpPr>
          <p:cNvPr id="31" name="Data structures circle"/>
          <p:cNvSpPr/>
          <p:nvPr/>
        </p:nvSpPr>
        <p:spPr>
          <a:xfrm>
            <a:off x="6217920" y="3035808"/>
            <a:ext cx="548640" cy="5486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pic>
        <p:nvPicPr>
          <p:cNvPr id="32" name="Data structure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621" y="3156509"/>
            <a:ext cx="307238" cy="30723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Where the gateway fits in ESM Flora</a:t>
            </a:r>
            <a:endParaRPr lang="en-US" sz="2800" dirty="0"/>
          </a:p>
        </p:txBody>
      </p:sp>
      <p:sp>
        <p:nvSpPr>
          <p:cNvPr id="3" name="Flora Root card"/>
          <p:cNvSpPr/>
          <p:nvPr/>
        </p:nvSpPr>
        <p:spPr>
          <a:xfrm>
            <a:off x="457200" y="1051560"/>
            <a:ext cx="1920240" cy="25146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4" name="Flora Root title"/>
          <p:cNvSpPr txBox="1"/>
          <p:nvPr/>
        </p:nvSpPr>
        <p:spPr>
          <a:xfrm>
            <a:off x="621792" y="1161288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Flora Root</a:t>
            </a:r>
            <a:endParaRPr lang="en-US" sz="1600" dirty="0"/>
          </a:p>
        </p:txBody>
      </p:sp>
      <p:sp>
        <p:nvSpPr>
          <p:cNvPr id="5" name="Flora Root text"/>
          <p:cNvSpPr txBox="1"/>
          <p:nvPr/>
        </p:nvSpPr>
        <p:spPr>
          <a:xfrm>
            <a:off x="621792" y="1508760"/>
            <a:ext cx="16184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Cloud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Tenants, signed licenses, signed releases</a:t>
            </a:r>
            <a:endParaRPr lang="en-US" sz="1250" dirty="0"/>
          </a:p>
        </p:txBody>
      </p:sp>
      <p:sp>
        <p:nvSpPr>
          <p:cNvPr id="6" name="Flora Root circle"/>
          <p:cNvSpPr/>
          <p:nvPr/>
        </p:nvSpPr>
        <p:spPr>
          <a:xfrm>
            <a:off x="1115568" y="2788920"/>
            <a:ext cx="603504" cy="603504"/>
          </a:xfrm>
          <a:prstGeom prst="ellipse">
            <a:avLst/>
          </a:prstGeom>
          <a:solidFill>
            <a:srgbClr val="4A5A66"/>
          </a:solidFill>
          <a:ln w="12700">
            <a:solidFill>
              <a:srgbClr val="4A5A66"/>
            </a:solidFill>
            <a:prstDash val="solid"/>
          </a:ln>
        </p:spPr>
      </p:sp>
      <p:pic>
        <p:nvPicPr>
          <p:cNvPr id="7" name="Flora Roo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339" y="2921691"/>
            <a:ext cx="337962" cy="337962"/>
          </a:xfrm>
          <a:prstGeom prst="rect">
            <a:avLst/>
          </a:prstGeom>
        </p:spPr>
      </p:pic>
      <p:sp>
        <p:nvSpPr>
          <p:cNvPr id="8" name="Flora Canopy card"/>
          <p:cNvSpPr/>
          <p:nvPr/>
        </p:nvSpPr>
        <p:spPr>
          <a:xfrm>
            <a:off x="2542032" y="1051560"/>
            <a:ext cx="1920240" cy="25146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9" name="Flora Canopy title"/>
          <p:cNvSpPr txBox="1"/>
          <p:nvPr/>
        </p:nvSpPr>
        <p:spPr>
          <a:xfrm>
            <a:off x="2706624" y="1161288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Flora Canopy</a:t>
            </a:r>
            <a:endParaRPr lang="en-US" sz="1600" dirty="0"/>
          </a:p>
        </p:txBody>
      </p:sp>
      <p:sp>
        <p:nvSpPr>
          <p:cNvPr id="10" name="Flora Canopy text"/>
          <p:cNvSpPr txBox="1"/>
          <p:nvPr/>
        </p:nvSpPr>
        <p:spPr>
          <a:xfrm>
            <a:off x="2706624" y="1508760"/>
            <a:ext cx="16184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Hospital data centre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Central data, fleet management, Haber registry</a:t>
            </a:r>
            <a:endParaRPr lang="en-US" sz="1250" dirty="0"/>
          </a:p>
        </p:txBody>
      </p:sp>
      <p:sp>
        <p:nvSpPr>
          <p:cNvPr id="11" name="Flora Canopy circle"/>
          <p:cNvSpPr/>
          <p:nvPr/>
        </p:nvSpPr>
        <p:spPr>
          <a:xfrm>
            <a:off x="3200400" y="2788920"/>
            <a:ext cx="603504" cy="603504"/>
          </a:xfrm>
          <a:prstGeom prst="ellipse">
            <a:avLst/>
          </a:prstGeom>
          <a:solidFill>
            <a:srgbClr val="B5525C"/>
          </a:solidFill>
          <a:ln w="12700">
            <a:solidFill>
              <a:srgbClr val="B5525C"/>
            </a:solidFill>
            <a:prstDash val="solid"/>
          </a:ln>
        </p:spPr>
      </p:sp>
      <p:pic>
        <p:nvPicPr>
          <p:cNvPr id="12" name="Flora Canop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171" y="2921691"/>
            <a:ext cx="337962" cy="337962"/>
          </a:xfrm>
          <a:prstGeom prst="rect">
            <a:avLst/>
          </a:prstGeom>
        </p:spPr>
      </p:pic>
      <p:sp>
        <p:nvSpPr>
          <p:cNvPr id="13" name="Flora Leaf card"/>
          <p:cNvSpPr/>
          <p:nvPr/>
        </p:nvSpPr>
        <p:spPr>
          <a:xfrm>
            <a:off x="4626864" y="1051560"/>
            <a:ext cx="1920240" cy="25146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4" name="Flora Leaf title"/>
          <p:cNvSpPr txBox="1"/>
          <p:nvPr/>
        </p:nvSpPr>
        <p:spPr>
          <a:xfrm>
            <a:off x="4791456" y="1161288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Flora Leaf</a:t>
            </a:r>
            <a:endParaRPr lang="en-US" sz="1600" dirty="0"/>
          </a:p>
        </p:txBody>
      </p:sp>
      <p:sp>
        <p:nvSpPr>
          <p:cNvPr id="15" name="Flora Leaf text"/>
          <p:cNvSpPr txBox="1"/>
          <p:nvPr/>
        </p:nvSpPr>
        <p:spPr>
          <a:xfrm>
            <a:off x="4791456" y="1508760"/>
            <a:ext cx="16184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Each OR / ICU workstation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Bedside charting; works without Canopy</a:t>
            </a:r>
            <a:endParaRPr lang="en-US" sz="1250" dirty="0"/>
          </a:p>
        </p:txBody>
      </p:sp>
      <p:sp>
        <p:nvSpPr>
          <p:cNvPr id="16" name="Flora Leaf circle"/>
          <p:cNvSpPr/>
          <p:nvPr/>
        </p:nvSpPr>
        <p:spPr>
          <a:xfrm>
            <a:off x="5285232" y="2788920"/>
            <a:ext cx="603504" cy="60350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pic>
        <p:nvPicPr>
          <p:cNvPr id="17" name="Flora Leaf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003" y="2921691"/>
            <a:ext cx="337962" cy="337962"/>
          </a:xfrm>
          <a:prstGeom prst="rect">
            <a:avLst/>
          </a:prstGeom>
        </p:spPr>
      </p:pic>
      <p:sp>
        <p:nvSpPr>
          <p:cNvPr id="18" name="Flora Gateway card"/>
          <p:cNvSpPr/>
          <p:nvPr/>
        </p:nvSpPr>
        <p:spPr>
          <a:xfrm>
            <a:off x="6711696" y="1051560"/>
            <a:ext cx="1920240" cy="2514600"/>
          </a:xfrm>
          <a:prstGeom prst="roundRect">
            <a:avLst>
              <a:gd name="adj" fmla="val 3810"/>
            </a:avLst>
          </a:prstGeom>
          <a:solidFill>
            <a:srgbClr val="E6F2F2"/>
          </a:solidFill>
          <a:ln w="9525">
            <a:solidFill>
              <a:srgbClr val="0F6E74"/>
            </a:solidFill>
            <a:prstDash val="solid"/>
          </a:ln>
        </p:spPr>
      </p:sp>
      <p:sp>
        <p:nvSpPr>
          <p:cNvPr id="19" name="Flora Gateway title"/>
          <p:cNvSpPr txBox="1"/>
          <p:nvPr/>
        </p:nvSpPr>
        <p:spPr>
          <a:xfrm>
            <a:off x="6876288" y="1161288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Flora Gateway</a:t>
            </a:r>
            <a:endParaRPr lang="en-US" sz="1600" dirty="0"/>
          </a:p>
        </p:txBody>
      </p:sp>
      <p:sp>
        <p:nvSpPr>
          <p:cNvPr id="20" name="Flora Gateway text"/>
          <p:cNvSpPr txBox="1"/>
          <p:nvPr/>
        </p:nvSpPr>
        <p:spPr>
          <a:xfrm>
            <a:off x="6876288" y="1508760"/>
            <a:ext cx="16184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One per device network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Talks to devices, serves data to Leaf</a:t>
            </a:r>
            <a:endParaRPr lang="en-US" sz="1250" dirty="0"/>
          </a:p>
        </p:txBody>
      </p:sp>
      <p:sp>
        <p:nvSpPr>
          <p:cNvPr id="21" name="Flora Gateway circle"/>
          <p:cNvSpPr/>
          <p:nvPr/>
        </p:nvSpPr>
        <p:spPr>
          <a:xfrm>
            <a:off x="7370064" y="2788920"/>
            <a:ext cx="603504" cy="603504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pic>
        <p:nvPicPr>
          <p:cNvPr id="22" name="Flora Gateway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835" y="2921691"/>
            <a:ext cx="337962" cy="33796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tier connects outward only, so each one works behind NAT. The Leaf reads the gateway directly, so device data keeps flowing when Canopy is unreachable.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Architecture and data flow</a:t>
            </a:r>
            <a:endParaRPr lang="en-US" sz="2800" dirty="0"/>
          </a:p>
        </p:txBody>
      </p:sp>
      <p:pic>
        <p:nvPicPr>
          <p:cNvPr id="3" name="Architecture and data flow diagram" descr="Architecture and data 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25957"/>
            <a:ext cx="8412480" cy="361736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a reading travels</a:t>
            </a:r>
            <a:endParaRPr lang="en-US" sz="2800" dirty="0"/>
          </a:p>
        </p:txBody>
      </p:sp>
      <p:sp>
        <p:nvSpPr>
          <p:cNvPr id="3" name="Controller card"/>
          <p:cNvSpPr/>
          <p:nvPr/>
        </p:nvSpPr>
        <p:spPr>
          <a:xfrm>
            <a:off x="457200" y="1417320"/>
            <a:ext cx="1517904" cy="21488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4" name="Controller title"/>
          <p:cNvSpPr txBox="1"/>
          <p:nvPr/>
        </p:nvSpPr>
        <p:spPr>
          <a:xfrm>
            <a:off x="621792" y="152704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Controller</a:t>
            </a:r>
            <a:endParaRPr lang="en-US" sz="1500" dirty="0"/>
          </a:p>
        </p:txBody>
      </p:sp>
      <p:sp>
        <p:nvSpPr>
          <p:cNvPr id="5" name="Controller text"/>
          <p:cNvSpPr txBox="1"/>
          <p:nvPr/>
        </p:nvSpPr>
        <p:spPr>
          <a:xfrm>
            <a:off x="621792" y="1874520"/>
            <a:ext cx="1216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Receives the frame and publishes it unchanged on gw.raw.&lt;pod&gt;</a:t>
            </a:r>
            <a:endParaRPr lang="en-US" sz="1250" dirty="0"/>
          </a:p>
        </p:txBody>
      </p:sp>
      <p:sp>
        <p:nvSpPr>
          <p:cNvPr id="6" name="step 1"/>
          <p:cNvSpPr/>
          <p:nvPr/>
        </p:nvSpPr>
        <p:spPr>
          <a:xfrm>
            <a:off x="1024128" y="1005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arrow 0"/>
          <p:cNvSpPr/>
          <p:nvPr/>
        </p:nvSpPr>
        <p:spPr>
          <a:xfrm>
            <a:off x="2002536" y="2395728"/>
            <a:ext cx="118872" cy="201168"/>
          </a:xfrm>
          <a:prstGeom prst="rtTriangl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Parser card"/>
          <p:cNvSpPr/>
          <p:nvPr/>
        </p:nvSpPr>
        <p:spPr>
          <a:xfrm>
            <a:off x="2139696" y="1417320"/>
            <a:ext cx="1517904" cy="21488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0" name="Parser title"/>
          <p:cNvSpPr txBox="1"/>
          <p:nvPr/>
        </p:nvSpPr>
        <p:spPr>
          <a:xfrm>
            <a:off x="2304288" y="152704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Parser</a:t>
            </a:r>
            <a:endParaRPr lang="en-US" sz="1500" dirty="0"/>
          </a:p>
        </p:txBody>
      </p:sp>
      <p:sp>
        <p:nvSpPr>
          <p:cNvPr id="11" name="Parser text"/>
          <p:cNvSpPr txBox="1"/>
          <p:nvPr/>
        </p:nvSpPr>
        <p:spPr>
          <a:xfrm>
            <a:off x="2304288" y="1874520"/>
            <a:ext cx="1216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Decodes the protocol; emits observations on gw.obs</a:t>
            </a:r>
            <a:endParaRPr lang="en-US" sz="1250" dirty="0"/>
          </a:p>
        </p:txBody>
      </p:sp>
      <p:sp>
        <p:nvSpPr>
          <p:cNvPr id="12" name="step 2"/>
          <p:cNvSpPr/>
          <p:nvPr/>
        </p:nvSpPr>
        <p:spPr>
          <a:xfrm>
            <a:off x="2706624" y="1005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06624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arrow 1"/>
          <p:cNvSpPr/>
          <p:nvPr/>
        </p:nvSpPr>
        <p:spPr>
          <a:xfrm>
            <a:off x="3685032" y="2395728"/>
            <a:ext cx="118872" cy="201168"/>
          </a:xfrm>
          <a:prstGeom prst="rtTriangl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Collector card"/>
          <p:cNvSpPr/>
          <p:nvPr/>
        </p:nvSpPr>
        <p:spPr>
          <a:xfrm>
            <a:off x="3822192" y="1417320"/>
            <a:ext cx="1517904" cy="21488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6" name="Collector title"/>
          <p:cNvSpPr txBox="1"/>
          <p:nvPr/>
        </p:nvSpPr>
        <p:spPr>
          <a:xfrm>
            <a:off x="3986784" y="152704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Collector</a:t>
            </a:r>
            <a:endParaRPr lang="en-US" sz="1500" dirty="0"/>
          </a:p>
        </p:txBody>
      </p:sp>
      <p:sp>
        <p:nvSpPr>
          <p:cNvPr id="17" name="Collector text"/>
          <p:cNvSpPr txBox="1"/>
          <p:nvPr/>
        </p:nvSpPr>
        <p:spPr>
          <a:xfrm>
            <a:off x="3986784" y="1874520"/>
            <a:ext cx="1216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Stores observations in PostgreSQL in batches</a:t>
            </a:r>
            <a:endParaRPr lang="en-US" sz="1250" dirty="0"/>
          </a:p>
        </p:txBody>
      </p:sp>
      <p:sp>
        <p:nvSpPr>
          <p:cNvPr id="18" name="step 3"/>
          <p:cNvSpPr/>
          <p:nvPr/>
        </p:nvSpPr>
        <p:spPr>
          <a:xfrm>
            <a:off x="4389120" y="1005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arrow 2"/>
          <p:cNvSpPr/>
          <p:nvPr/>
        </p:nvSpPr>
        <p:spPr>
          <a:xfrm>
            <a:off x="5367528" y="2395728"/>
            <a:ext cx="118872" cy="201168"/>
          </a:xfrm>
          <a:prstGeom prst="rtTriangl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Read API card"/>
          <p:cNvSpPr/>
          <p:nvPr/>
        </p:nvSpPr>
        <p:spPr>
          <a:xfrm>
            <a:off x="5504688" y="1417320"/>
            <a:ext cx="1517904" cy="21488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22" name="Read API title"/>
          <p:cNvSpPr txBox="1"/>
          <p:nvPr/>
        </p:nvSpPr>
        <p:spPr>
          <a:xfrm>
            <a:off x="5669280" y="152704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 API</a:t>
            </a:r>
            <a:endParaRPr lang="en-US" sz="1500" dirty="0"/>
          </a:p>
        </p:txBody>
      </p:sp>
      <p:sp>
        <p:nvSpPr>
          <p:cNvPr id="23" name="Read API text"/>
          <p:cNvSpPr txBox="1"/>
          <p:nvPr/>
        </p:nvSpPr>
        <p:spPr>
          <a:xfrm>
            <a:off x="5669280" y="1874520"/>
            <a:ext cx="1216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server + Kong publish /data-api, filtered per Leaf</a:t>
            </a:r>
            <a:endParaRPr lang="en-US" sz="1250" dirty="0"/>
          </a:p>
        </p:txBody>
      </p:sp>
      <p:sp>
        <p:nvSpPr>
          <p:cNvPr id="24" name="step 4"/>
          <p:cNvSpPr/>
          <p:nvPr/>
        </p:nvSpPr>
        <p:spPr>
          <a:xfrm>
            <a:off x="6071616" y="1005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71616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arrow 3"/>
          <p:cNvSpPr/>
          <p:nvPr/>
        </p:nvSpPr>
        <p:spPr>
          <a:xfrm>
            <a:off x="7050024" y="2395728"/>
            <a:ext cx="118872" cy="201168"/>
          </a:xfrm>
          <a:prstGeom prst="rtTriangl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Leaf card"/>
          <p:cNvSpPr/>
          <p:nvPr/>
        </p:nvSpPr>
        <p:spPr>
          <a:xfrm>
            <a:off x="7187184" y="1417320"/>
            <a:ext cx="1517904" cy="2148840"/>
          </a:xfrm>
          <a:prstGeom prst="roundRect">
            <a:avLst>
              <a:gd name="adj" fmla="val 4819"/>
            </a:avLst>
          </a:prstGeom>
          <a:solidFill>
            <a:srgbClr val="E3EAF3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28" name="Leaf title"/>
          <p:cNvSpPr txBox="1"/>
          <p:nvPr/>
        </p:nvSpPr>
        <p:spPr>
          <a:xfrm>
            <a:off x="7351776" y="152704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Leaf</a:t>
            </a:r>
            <a:endParaRPr lang="en-US" sz="1500" dirty="0"/>
          </a:p>
        </p:txBody>
      </p:sp>
      <p:sp>
        <p:nvSpPr>
          <p:cNvPr id="29" name="Leaf text"/>
          <p:cNvSpPr txBox="1"/>
          <p:nvPr/>
        </p:nvSpPr>
        <p:spPr>
          <a:xfrm>
            <a:off x="7351776" y="1874520"/>
            <a:ext cx="1216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Pulls one minute per case into vital_minutes</a:t>
            </a:r>
            <a:endParaRPr lang="en-US" sz="1250" dirty="0"/>
          </a:p>
        </p:txBody>
      </p:sp>
      <p:sp>
        <p:nvSpPr>
          <p:cNvPr id="30" name="step 5"/>
          <p:cNvSpPr/>
          <p:nvPr/>
        </p:nvSpPr>
        <p:spPr>
          <a:xfrm>
            <a:off x="7754112" y="100584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54112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Kafka keeps 72 hours of messages; the collector commits only after storing, so a database restart loses nothing.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Technology stack</a:t>
            </a:r>
            <a:endParaRPr lang="en-US" sz="2800" dirty="0"/>
          </a:p>
        </p:txBody>
      </p:sp>
      <p:pic>
        <p:nvPicPr>
          <p:cNvPr id="3" name="Technology stack diagram" descr="Technology st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41832"/>
            <a:ext cx="8412480" cy="37856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Pinned versions</a:t>
            </a:r>
            <a:endParaRPr lang="en-US" sz="2800" dirty="0"/>
          </a:p>
        </p:txBody>
      </p:sp>
      <p:sp>
        <p:nvSpPr>
          <p:cNvPr id="3" name="Rust 2021 stat"/>
          <p:cNvSpPr/>
          <p:nvPr/>
        </p:nvSpPr>
        <p:spPr>
          <a:xfrm>
            <a:off x="457200" y="109728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E6F2F2"/>
          </a:solidFill>
          <a:ln w="9525">
            <a:solidFill>
              <a:srgbClr val="0F6E7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8016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Rust 2021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116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7 services: 4 controllers, collector, server, publisher</a:t>
            </a:r>
            <a:endParaRPr lang="en-US" sz="1250" dirty="0"/>
          </a:p>
        </p:txBody>
      </p:sp>
      <p:sp>
        <p:nvSpPr>
          <p:cNvPr id="6" name="Kafka 3.9.1 stat"/>
          <p:cNvSpPr/>
          <p:nvPr/>
        </p:nvSpPr>
        <p:spPr>
          <a:xfrm>
            <a:off x="2542032" y="109728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E3EAF3"/>
          </a:solidFill>
          <a:ln w="9525">
            <a:solidFill>
              <a:srgbClr val="3D5A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28016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3"/>
                </a:solidFill>
              </a:rPr>
              <a:t>Kafka 3.9.1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2679192" y="20116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KRaft single node, 72 h retention</a:t>
            </a:r>
            <a:endParaRPr lang="en-US" sz="1250" dirty="0"/>
          </a:p>
        </p:txBody>
      </p:sp>
      <p:sp>
        <p:nvSpPr>
          <p:cNvPr id="9" name="PostgreSQL 17.6 stat"/>
          <p:cNvSpPr/>
          <p:nvPr/>
        </p:nvSpPr>
        <p:spPr>
          <a:xfrm>
            <a:off x="4626864" y="109728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E6F2F2"/>
          </a:solidFill>
          <a:ln w="9525">
            <a:solidFill>
              <a:srgbClr val="0F6E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36592" y="128016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PostgreSQL 17.6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764024" y="20116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Local flora_gateway database</a:t>
            </a:r>
            <a:endParaRPr lang="en-US" sz="1250" dirty="0"/>
          </a:p>
        </p:txBody>
      </p:sp>
      <p:sp>
        <p:nvSpPr>
          <p:cNvPr id="12" name="Python 3.13 stat"/>
          <p:cNvSpPr/>
          <p:nvPr/>
        </p:nvSpPr>
        <p:spPr>
          <a:xfrm>
            <a:off x="6711696" y="109728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E3EAF3"/>
          </a:solidFill>
          <a:ln w="9525">
            <a:solidFill>
              <a:srgbClr val="3D5A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21424" y="128016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3"/>
                </a:solidFill>
              </a:rPr>
              <a:t>Python 3.13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848856" y="20116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FastAPI 0.118 control plane, aiokafka parsers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Kong (DB-less)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 edge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1.27, TLS 1.2/1.3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axum / rdkafka / tokio-serial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/ 0.37 / 5.4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psycopg / docker SDK / aiokafka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3.2.10 / 7.1.0 / 0.12.0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Install in four steps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457200" y="11704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Prepare the host card"/>
          <p:cNvSpPr/>
          <p:nvPr/>
        </p:nvSpPr>
        <p:spPr>
          <a:xfrm>
            <a:off x="1005840" y="987552"/>
            <a:ext cx="768096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6" name="Prepare the host title"/>
          <p:cNvSpPr txBox="1"/>
          <p:nvPr/>
        </p:nvSpPr>
        <p:spPr>
          <a:xfrm>
            <a:off x="1170432" y="1097280"/>
            <a:ext cx="7379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Prepare the host</a:t>
            </a:r>
            <a:endParaRPr lang="en-US" sz="1500" dirty="0"/>
          </a:p>
        </p:txBody>
      </p:sp>
      <p:sp>
        <p:nvSpPr>
          <p:cNvPr id="7" name="Prepare the host text"/>
          <p:cNvSpPr txBox="1"/>
          <p:nvPr/>
        </p:nvSpPr>
        <p:spPr>
          <a:xfrm>
            <a:off x="1170432" y="1444752"/>
            <a:ext cx="7379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Docker + Compose v2 on the device network; outbound HTTPS to Canopy; serial ports if needed</a:t>
            </a:r>
            <a:endParaRPr lang="en-US" sz="1250" dirty="0"/>
          </a:p>
        </p:txBody>
      </p:sp>
      <p:sp>
        <p:nvSpPr>
          <p:cNvPr id="8" name="step 2"/>
          <p:cNvSpPr/>
          <p:nvPr/>
        </p:nvSpPr>
        <p:spPr>
          <a:xfrm>
            <a:off x="457200" y="20848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Configure card"/>
          <p:cNvSpPr/>
          <p:nvPr/>
        </p:nvSpPr>
        <p:spPr>
          <a:xfrm>
            <a:off x="1005840" y="1901952"/>
            <a:ext cx="768096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1" name="Configure title"/>
          <p:cNvSpPr txBox="1"/>
          <p:nvPr/>
        </p:nvSpPr>
        <p:spPr>
          <a:xfrm>
            <a:off x="1170432" y="2011680"/>
            <a:ext cx="7379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Configure</a:t>
            </a:r>
            <a:endParaRPr lang="en-US" sz="1500" dirty="0"/>
          </a:p>
        </p:txBody>
      </p:sp>
      <p:sp>
        <p:nvSpPr>
          <p:cNvPr id="12" name="Configure text"/>
          <p:cNvSpPr txBox="1"/>
          <p:nvPr/>
        </p:nvSpPr>
        <p:spPr>
          <a:xfrm>
            <a:off x="1170432" y="2359152"/>
            <a:ext cx="7379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cp flora-gateway/.env.example .env; set HABER_URL, GATEWAY_HTTPS_PORT, TLS_HOSTNAMES</a:t>
            </a:r>
            <a:endParaRPr lang="en-US" sz="1250" dirty="0"/>
          </a:p>
        </p:txBody>
      </p:sp>
      <p:sp>
        <p:nvSpPr>
          <p:cNvPr id="13" name="step 3"/>
          <p:cNvSpPr/>
          <p:nvPr/>
        </p:nvSpPr>
        <p:spPr>
          <a:xfrm>
            <a:off x="457200" y="29992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Certificate and start card"/>
          <p:cNvSpPr/>
          <p:nvPr/>
        </p:nvSpPr>
        <p:spPr>
          <a:xfrm>
            <a:off x="1005840" y="2816352"/>
            <a:ext cx="768096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6" name="Certificate and start title"/>
          <p:cNvSpPr txBox="1"/>
          <p:nvPr/>
        </p:nvSpPr>
        <p:spPr>
          <a:xfrm>
            <a:off x="1170432" y="2926080"/>
            <a:ext cx="7379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Certificate and start</a:t>
            </a:r>
            <a:endParaRPr lang="en-US" sz="1500" dirty="0"/>
          </a:p>
        </p:txBody>
      </p:sp>
      <p:sp>
        <p:nvSpPr>
          <p:cNvPr id="17" name="Certificate and start text"/>
          <p:cNvSpPr txBox="1"/>
          <p:nvPr/>
        </p:nvSpPr>
        <p:spPr>
          <a:xfrm>
            <a:off x="1170432" y="3273552"/>
            <a:ext cx="7379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scripts/tls/make-cert.sh flora-gateway, then docker compose up -d (add --profile demo for the simulator)</a:t>
            </a:r>
            <a:endParaRPr lang="en-US" sz="1250" dirty="0"/>
          </a:p>
        </p:txBody>
      </p:sp>
      <p:sp>
        <p:nvSpPr>
          <p:cNvPr id="18" name="step 4"/>
          <p:cNvSpPr/>
          <p:nvPr/>
        </p:nvSpPr>
        <p:spPr>
          <a:xfrm>
            <a:off x="457200" y="39136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Verify card"/>
          <p:cNvSpPr/>
          <p:nvPr/>
        </p:nvSpPr>
        <p:spPr>
          <a:xfrm>
            <a:off x="1005840" y="3730752"/>
            <a:ext cx="768096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21" name="Verify title"/>
          <p:cNvSpPr txBox="1"/>
          <p:nvPr/>
        </p:nvSpPr>
        <p:spPr>
          <a:xfrm>
            <a:off x="1170432" y="3840480"/>
            <a:ext cx="7379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Verify</a:t>
            </a:r>
            <a:endParaRPr lang="en-US" sz="1500" dirty="0"/>
          </a:p>
        </p:txBody>
      </p:sp>
      <p:sp>
        <p:nvSpPr>
          <p:cNvPr id="22" name="Verify text"/>
          <p:cNvSpPr txBox="1"/>
          <p:nvPr/>
        </p:nvSpPr>
        <p:spPr>
          <a:xfrm>
            <a:off x="1170432" y="4187952"/>
            <a:ext cx="7379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curl :7400/health, :7410/data-api/health; sign in at https://&lt;host&gt;/ and change admin / admin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Ports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4297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 (dev 7443)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(nginx)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for admin UI and /data-api (Leaf entry)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gateway-service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 admin UI and control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7401–7406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 admin 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/health and /status per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/data-api read API (local by default)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7412 / 7414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/ Kafka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/ native controllers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7421 / 7422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socket-controller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HL7 MLLP listeners (OR / ICU)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webhook-controller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POST ingress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socket-controller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Dräger Vista CMS 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Station admin UI</a:t>
            </a:r>
            <a:endParaRPr lang="en-US" sz="2800" dirty="0"/>
          </a:p>
        </p:txBody>
      </p:sp>
      <p:sp>
        <p:nvSpPr>
          <p:cNvPr id="3" name="Overview card"/>
          <p:cNvSpPr/>
          <p:nvPr/>
        </p:nvSpPr>
        <p:spPr>
          <a:xfrm>
            <a:off x="457200" y="1005840"/>
            <a:ext cx="1737360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4" name="Overview title"/>
          <p:cNvSpPr txBox="1"/>
          <p:nvPr/>
        </p:nvSpPr>
        <p:spPr>
          <a:xfrm>
            <a:off x="621792" y="1115568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Overview</a:t>
            </a:r>
            <a:endParaRPr lang="en-US" sz="1500" dirty="0"/>
          </a:p>
        </p:txBody>
      </p:sp>
      <p:sp>
        <p:nvSpPr>
          <p:cNvPr id="5" name="Overview text"/>
          <p:cNvSpPr txBox="1"/>
          <p:nvPr/>
        </p:nvSpPr>
        <p:spPr>
          <a:xfrm>
            <a:off x="621792" y="1463040"/>
            <a:ext cx="1435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Station, Canopy link, license, layers, status history</a:t>
            </a:r>
            <a:endParaRPr lang="en-US" sz="1200" dirty="0"/>
          </a:p>
        </p:txBody>
      </p:sp>
      <p:sp>
        <p:nvSpPr>
          <p:cNvPr id="6" name="Devices card"/>
          <p:cNvSpPr/>
          <p:nvPr/>
        </p:nvSpPr>
        <p:spPr>
          <a:xfrm>
            <a:off x="2331720" y="1005840"/>
            <a:ext cx="1737360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7" name="Devices title"/>
          <p:cNvSpPr txBox="1"/>
          <p:nvPr/>
        </p:nvSpPr>
        <p:spPr>
          <a:xfrm>
            <a:off x="2496312" y="1115568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Devices</a:t>
            </a:r>
            <a:endParaRPr lang="en-US" sz="1500" dirty="0"/>
          </a:p>
        </p:txBody>
      </p:sp>
      <p:sp>
        <p:nvSpPr>
          <p:cNvPr id="8" name="Devices text"/>
          <p:cNvSpPr txBox="1"/>
          <p:nvPr/>
        </p:nvSpPr>
        <p:spPr>
          <a:xfrm>
            <a:off x="2496312" y="1463040"/>
            <a:ext cx="1435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Add, enable, restart; Monitor live output</a:t>
            </a:r>
            <a:endParaRPr lang="en-US" sz="1200" dirty="0"/>
          </a:p>
        </p:txBody>
      </p:sp>
      <p:sp>
        <p:nvSpPr>
          <p:cNvPr id="9" name="Types card"/>
          <p:cNvSpPr/>
          <p:nvPr/>
        </p:nvSpPr>
        <p:spPr>
          <a:xfrm>
            <a:off x="4206240" y="1005840"/>
            <a:ext cx="1737360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0" name="Types title"/>
          <p:cNvSpPr txBox="1"/>
          <p:nvPr/>
        </p:nvSpPr>
        <p:spPr>
          <a:xfrm>
            <a:off x="4370832" y="1115568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Types</a:t>
            </a:r>
            <a:endParaRPr lang="en-US" sz="1500" dirty="0"/>
          </a:p>
        </p:txBody>
      </p:sp>
      <p:sp>
        <p:nvSpPr>
          <p:cNvPr id="11" name="Types text"/>
          <p:cNvSpPr txBox="1"/>
          <p:nvPr/>
        </p:nvSpPr>
        <p:spPr>
          <a:xfrm>
            <a:off x="4370832" y="1463040"/>
            <a:ext cx="1435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Catalog from Canopy, local templates</a:t>
            </a:r>
            <a:endParaRPr lang="en-US" sz="1200" dirty="0"/>
          </a:p>
        </p:txBody>
      </p:sp>
      <p:sp>
        <p:nvSpPr>
          <p:cNvPr id="12" name="Manufacturers card"/>
          <p:cNvSpPr/>
          <p:nvPr/>
        </p:nvSpPr>
        <p:spPr>
          <a:xfrm>
            <a:off x="457200" y="2423160"/>
            <a:ext cx="1737360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3" name="Manufacturers title"/>
          <p:cNvSpPr txBox="1"/>
          <p:nvPr/>
        </p:nvSpPr>
        <p:spPr>
          <a:xfrm>
            <a:off x="621792" y="2532888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Manufacturers</a:t>
            </a:r>
            <a:endParaRPr lang="en-US" sz="1500" dirty="0"/>
          </a:p>
        </p:txBody>
      </p:sp>
      <p:sp>
        <p:nvSpPr>
          <p:cNvPr id="14" name="Manufacturers text"/>
          <p:cNvSpPr txBox="1"/>
          <p:nvPr/>
        </p:nvSpPr>
        <p:spPr>
          <a:xfrm>
            <a:off x="621792" y="2880360"/>
            <a:ext cx="1435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Dräger, GE, B. Braun, Hidro …</a:t>
            </a:r>
            <a:endParaRPr lang="en-US" sz="1200" dirty="0"/>
          </a:p>
        </p:txBody>
      </p:sp>
      <p:sp>
        <p:nvSpPr>
          <p:cNvPr id="15" name="Streams card"/>
          <p:cNvSpPr/>
          <p:nvPr/>
        </p:nvSpPr>
        <p:spPr>
          <a:xfrm>
            <a:off x="2331720" y="2423160"/>
            <a:ext cx="1737360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6" name="Streams title"/>
          <p:cNvSpPr txBox="1"/>
          <p:nvPr/>
        </p:nvSpPr>
        <p:spPr>
          <a:xfrm>
            <a:off x="2496312" y="2532888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Streams</a:t>
            </a:r>
            <a:endParaRPr lang="en-US" sz="1500" dirty="0"/>
          </a:p>
        </p:txBody>
      </p:sp>
      <p:sp>
        <p:nvSpPr>
          <p:cNvPr id="17" name="Streams text"/>
          <p:cNvSpPr txBox="1"/>
          <p:nvPr/>
        </p:nvSpPr>
        <p:spPr>
          <a:xfrm>
            <a:off x="2496312" y="2880360"/>
            <a:ext cx="1435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Live raw and command frames per pod</a:t>
            </a:r>
            <a:endParaRPr lang="en-US" sz="1200" dirty="0"/>
          </a:p>
        </p:txBody>
      </p:sp>
      <p:sp>
        <p:nvSpPr>
          <p:cNvPr id="18" name="Alerts card"/>
          <p:cNvSpPr/>
          <p:nvPr/>
        </p:nvSpPr>
        <p:spPr>
          <a:xfrm>
            <a:off x="4206240" y="2423160"/>
            <a:ext cx="1737360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9" name="Alerts title"/>
          <p:cNvSpPr txBox="1"/>
          <p:nvPr/>
        </p:nvSpPr>
        <p:spPr>
          <a:xfrm>
            <a:off x="4370832" y="2532888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Alerts</a:t>
            </a:r>
            <a:endParaRPr lang="en-US" sz="1500" dirty="0"/>
          </a:p>
        </p:txBody>
      </p:sp>
      <p:sp>
        <p:nvSpPr>
          <p:cNvPr id="20" name="Alerts text"/>
          <p:cNvSpPr txBox="1"/>
          <p:nvPr/>
        </p:nvSpPr>
        <p:spPr>
          <a:xfrm>
            <a:off x="4370832" y="2880360"/>
            <a:ext cx="1435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Open alerts; acknowledge</a:t>
            </a:r>
            <a:endParaRPr lang="en-US" sz="1200" dirty="0"/>
          </a:p>
        </p:txBody>
      </p:sp>
      <p:sp>
        <p:nvSpPr>
          <p:cNvPr id="21" name="Roles card"/>
          <p:cNvSpPr/>
          <p:nvPr/>
        </p:nvSpPr>
        <p:spPr>
          <a:xfrm>
            <a:off x="6172200" y="1005840"/>
            <a:ext cx="2514600" cy="2679192"/>
          </a:xfrm>
          <a:prstGeom prst="roundRect">
            <a:avLst>
              <a:gd name="adj" fmla="val 2909"/>
            </a:avLst>
          </a:prstGeom>
          <a:solidFill>
            <a:srgbClr val="E6F2F2"/>
          </a:solidFill>
          <a:ln w="9525">
            <a:solidFill>
              <a:srgbClr val="0F6E74"/>
            </a:solidFill>
            <a:prstDash val="solid"/>
          </a:ln>
        </p:spPr>
      </p:sp>
      <p:sp>
        <p:nvSpPr>
          <p:cNvPr id="22" name="Roles title"/>
          <p:cNvSpPr txBox="1"/>
          <p:nvPr/>
        </p:nvSpPr>
        <p:spPr>
          <a:xfrm>
            <a:off x="6336792" y="111556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Roles</a:t>
            </a:r>
            <a:endParaRPr lang="en-US" sz="1500" dirty="0"/>
          </a:p>
        </p:txBody>
      </p:sp>
      <p:sp>
        <p:nvSpPr>
          <p:cNvPr id="23" name="Roles text"/>
          <p:cNvSpPr txBox="1"/>
          <p:nvPr/>
        </p:nvSpPr>
        <p:spPr>
          <a:xfrm>
            <a:off x="6336792" y="1463040"/>
            <a:ext cx="2212848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admin: everything, incl. types, users, Canopy link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operator: devices, controllers, streams; no types or users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Sessions last 12 hours. Change admin / admin under Users → My password on first sign-in.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Connect to Canopy and license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024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Register the gateway ID in Canopy and get its token</a:t>
            </a:r>
            <a:endParaRPr lang="en-US" sz="1400" dirty="0"/>
          </a:p>
        </p:txBody>
      </p:sp>
      <p:sp>
        <p:nvSpPr>
          <p:cNvPr id="6" name="step 2"/>
          <p:cNvSpPr/>
          <p:nvPr/>
        </p:nvSpPr>
        <p:spPr>
          <a:xfrm>
            <a:off x="457200" y="18288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8013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Overview → Canopy connection: URL, gateway ID, key</a:t>
            </a:r>
            <a:endParaRPr lang="en-US" sz="1400" dirty="0"/>
          </a:p>
        </p:txBody>
      </p:sp>
      <p:sp>
        <p:nvSpPr>
          <p:cNvPr id="9" name="step 3"/>
          <p:cNvSpPr/>
          <p:nvPr/>
        </p:nvSpPr>
        <p:spPr>
          <a:xfrm>
            <a:off x="457200" y="26060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5786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Save: the gateway checks in at once, then every 20 s</a:t>
            </a:r>
            <a:endParaRPr lang="en-US" sz="1400" dirty="0"/>
          </a:p>
        </p:txBody>
      </p:sp>
      <p:sp>
        <p:nvSpPr>
          <p:cNvPr id="12" name="License rules card"/>
          <p:cNvSpPr/>
          <p:nvPr/>
        </p:nvSpPr>
        <p:spPr>
          <a:xfrm>
            <a:off x="4800600" y="1005840"/>
            <a:ext cx="3886200" cy="1920240"/>
          </a:xfrm>
          <a:prstGeom prst="roundRect">
            <a:avLst>
              <a:gd name="adj" fmla="val 3810"/>
            </a:avLst>
          </a:prstGeom>
          <a:solidFill>
            <a:srgbClr val="FBEBD0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13" name="License rules title"/>
          <p:cNvSpPr txBox="1"/>
          <p:nvPr/>
        </p:nvSpPr>
        <p:spPr>
          <a:xfrm>
            <a:off x="4965192" y="1115568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License rules</a:t>
            </a:r>
            <a:endParaRPr lang="en-US" sz="1500" dirty="0"/>
          </a:p>
        </p:txBody>
      </p:sp>
      <p:sp>
        <p:nvSpPr>
          <p:cNvPr id="14" name="License rules text"/>
          <p:cNvSpPr txBox="1"/>
          <p:nvPr/>
        </p:nvSpPr>
        <p:spPr>
          <a:xfrm>
            <a:off x="4965192" y="1463040"/>
            <a:ext cx="3584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No, revoked or expired license: all parsers stop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Type not allowed or device limit reached: 403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Canopy unreachable: last license kept, alert opens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The key is stored but never shown again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520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 check-in: curl -u admin:admin -X POST http://127.0.0.1:7400/api/haber/sync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Supported devices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02920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Devices and protocols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monitors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HL7 v2 ORU^R01 (IHE PCD-01), Hidro HL7, Dräger M540 IACS, Dräger Vista 120 S (CMS), GE Bx50 / S5 (DRI)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socket, serial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Anesthesia machines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 Carestation 750 / Aisys CS² (COM 1.2), GE Aisys (DRI), JSON over HTTP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serial, webhook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Ventilators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Dräger MEDIBUS.X (RS-232), HTTP 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serial, feeder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Infusion pumps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Braun Space, SpaceCom BCC (TCP 4001)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modules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ASCII key=value serial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Philips and Mindray native protocols are not implemented; they connect when they or a middleware emit HL7 v2 ORU.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Add a device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097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Devices → Add device</a:t>
            </a:r>
            <a:endParaRPr lang="en-US" sz="1400" dirty="0"/>
          </a:p>
        </p:txBody>
      </p:sp>
      <p:sp>
        <p:nvSpPr>
          <p:cNvPr id="6" name="step 2"/>
          <p:cNvSpPr/>
          <p:nvPr/>
        </p:nvSpPr>
        <p:spPr>
          <a:xfrm>
            <a:off x="457200" y="2057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Choose the device type (defaults fill in)</a:t>
            </a:r>
            <a:endParaRPr lang="en-US" sz="1400" dirty="0"/>
          </a:p>
        </p:txBody>
      </p:sp>
      <p:sp>
        <p:nvSpPr>
          <p:cNvPr id="9" name="step 3"/>
          <p:cNvSpPr/>
          <p:nvPr/>
        </p:nvSpPr>
        <p:spPr>
          <a:xfrm>
            <a:off x="457200" y="29718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926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Unique device ID, label, inventory fields</a:t>
            </a:r>
            <a:endParaRPr lang="en-US" sz="1400" dirty="0"/>
          </a:p>
        </p:txBody>
      </p:sp>
      <p:sp>
        <p:nvSpPr>
          <p:cNvPr id="12" name="step 4"/>
          <p:cNvSpPr/>
          <p:nvPr/>
        </p:nvSpPr>
        <p:spPr>
          <a:xfrm>
            <a:off x="4663440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1097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Pod and connection options (port, framing …)</a:t>
            </a:r>
            <a:endParaRPr lang="en-US" sz="1400" dirty="0"/>
          </a:p>
        </p:txBody>
      </p:sp>
      <p:sp>
        <p:nvSpPr>
          <p:cNvPr id="15" name="step 5"/>
          <p:cNvSpPr/>
          <p:nvPr/>
        </p:nvSpPr>
        <p:spPr>
          <a:xfrm>
            <a:off x="4663440" y="2057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 and enable: parser container starts</a:t>
            </a:r>
            <a:endParaRPr lang="en-US" sz="1400" dirty="0"/>
          </a:p>
        </p:txBody>
      </p:sp>
      <p:sp>
        <p:nvSpPr>
          <p:cNvPr id="18" name="step 6"/>
          <p:cNvSpPr/>
          <p:nvPr/>
        </p:nvSpPr>
        <p:spPr>
          <a:xfrm>
            <a:off x="4663440" y="29718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2926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Monitor: online within 30 s of data</a:t>
            </a:r>
            <a:endParaRPr lang="en-US" sz="1400" dirty="0"/>
          </a:p>
        </p:txBody>
      </p:sp>
      <p:sp>
        <p:nvSpPr>
          <p:cNvPr id="21" name="Socket framing card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22" name="Socket framing title"/>
          <p:cNvSpPr txBox="1"/>
          <p:nvPr/>
        </p:nvSpPr>
        <p:spPr>
          <a:xfrm>
            <a:off x="621792" y="3904488"/>
            <a:ext cx="7927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Socket framing</a:t>
            </a:r>
            <a:endParaRPr lang="en-US" sz="1400" dirty="0"/>
          </a:p>
        </p:txBody>
      </p:sp>
      <p:sp>
        <p:nvSpPr>
          <p:cNvPr id="23" name="Socket framing text"/>
          <p:cNvSpPr txBox="1"/>
          <p:nvPr/>
        </p:nvSpPr>
        <p:spPr>
          <a:xfrm>
            <a:off x="621792" y="4251960"/>
            <a:ext cx="7927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mllp (HL7 + ACK) · line · idle · raw · udp_relay — TCP listen, outbound client (remote_host) or UDP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Assign devices to a Leaf: Set up gateway wizard</a:t>
            </a:r>
            <a:endParaRPr lang="en-US" sz="2800" dirty="0"/>
          </a:p>
        </p:txBody>
      </p:sp>
      <p:sp>
        <p:nvSpPr>
          <p:cNvPr id="3" name="wizard timeline"/>
          <p:cNvSpPr/>
          <p:nvPr/>
        </p:nvSpPr>
        <p:spPr>
          <a:xfrm>
            <a:off x="914400" y="1563624"/>
            <a:ext cx="7315200" cy="0"/>
          </a:xfrm>
          <a:prstGeom prst="line">
            <a:avLst/>
          </a:prstGeom>
          <a:noFill/>
          <a:ln w="25400">
            <a:solidFill>
              <a:srgbClr val="0F6E74"/>
            </a:solidFill>
            <a:prstDash val="solid"/>
          </a:ln>
        </p:spPr>
      </p:sp>
      <p:sp>
        <p:nvSpPr>
          <p:cNvPr id="4" name="step 1"/>
          <p:cNvSpPr/>
          <p:nvPr/>
        </p:nvSpPr>
        <p:spPr>
          <a:xfrm>
            <a:off x="987552" y="137160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Choose gateway card"/>
          <p:cNvSpPr/>
          <p:nvPr/>
        </p:nvSpPr>
        <p:spPr>
          <a:xfrm>
            <a:off x="457200" y="1965960"/>
            <a:ext cx="1554480" cy="16002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7" name="Choose gateway title"/>
          <p:cNvSpPr txBox="1"/>
          <p:nvPr/>
        </p:nvSpPr>
        <p:spPr>
          <a:xfrm>
            <a:off x="621792" y="2075688"/>
            <a:ext cx="125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Choose gateway</a:t>
            </a:r>
            <a:endParaRPr lang="en-US" sz="1400" dirty="0"/>
          </a:p>
        </p:txBody>
      </p:sp>
      <p:sp>
        <p:nvSpPr>
          <p:cNvPr id="8" name="Choose gateway text"/>
          <p:cNvSpPr txBox="1"/>
          <p:nvPr/>
        </p:nvSpPr>
        <p:spPr>
          <a:xfrm>
            <a:off x="621792" y="2423160"/>
            <a:ext cx="1252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From Canopy, or a manual URL</a:t>
            </a:r>
            <a:endParaRPr lang="en-US" sz="1250" dirty="0"/>
          </a:p>
        </p:txBody>
      </p:sp>
      <p:sp>
        <p:nvSpPr>
          <p:cNvPr id="9" name="step 2"/>
          <p:cNvSpPr/>
          <p:nvPr/>
        </p:nvSpPr>
        <p:spPr>
          <a:xfrm>
            <a:off x="2670048" y="137160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0048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st connection card"/>
          <p:cNvSpPr/>
          <p:nvPr/>
        </p:nvSpPr>
        <p:spPr>
          <a:xfrm>
            <a:off x="2139696" y="1965960"/>
            <a:ext cx="1554480" cy="16002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2" name="Test connection title"/>
          <p:cNvSpPr txBox="1"/>
          <p:nvPr/>
        </p:nvSpPr>
        <p:spPr>
          <a:xfrm>
            <a:off x="2304288" y="2075688"/>
            <a:ext cx="125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 connection</a:t>
            </a:r>
            <a:endParaRPr lang="en-US" sz="1400" dirty="0"/>
          </a:p>
        </p:txBody>
      </p:sp>
      <p:sp>
        <p:nvSpPr>
          <p:cNvPr id="13" name="Test connection text"/>
          <p:cNvSpPr txBox="1"/>
          <p:nvPr/>
        </p:nvSpPr>
        <p:spPr>
          <a:xfrm>
            <a:off x="2304288" y="2423160"/>
            <a:ext cx="1252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/health and /api/devices/status</a:t>
            </a:r>
            <a:endParaRPr lang="en-US" sz="1250" dirty="0"/>
          </a:p>
        </p:txBody>
      </p:sp>
      <p:sp>
        <p:nvSpPr>
          <p:cNvPr id="14" name="step 3"/>
          <p:cNvSpPr/>
          <p:nvPr/>
        </p:nvSpPr>
        <p:spPr>
          <a:xfrm>
            <a:off x="4352544" y="137160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52544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Assign devices card"/>
          <p:cNvSpPr/>
          <p:nvPr/>
        </p:nvSpPr>
        <p:spPr>
          <a:xfrm>
            <a:off x="3822192" y="1965960"/>
            <a:ext cx="1554480" cy="16002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7" name="Assign devices title"/>
          <p:cNvSpPr txBox="1"/>
          <p:nvPr/>
        </p:nvSpPr>
        <p:spPr>
          <a:xfrm>
            <a:off x="3986784" y="2075688"/>
            <a:ext cx="125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Assign devices</a:t>
            </a:r>
            <a:endParaRPr lang="en-US" sz="1400" dirty="0"/>
          </a:p>
        </p:txBody>
      </p:sp>
      <p:sp>
        <p:nvSpPr>
          <p:cNvPr id="18" name="Assign devices text"/>
          <p:cNvSpPr txBox="1"/>
          <p:nvPr/>
        </p:nvSpPr>
        <p:spPr>
          <a:xfrm>
            <a:off x="3986784" y="2423160"/>
            <a:ext cx="1252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Queued in Canopy; applied in ~20 s</a:t>
            </a:r>
            <a:endParaRPr lang="en-US" sz="1250" dirty="0"/>
          </a:p>
        </p:txBody>
      </p:sp>
      <p:sp>
        <p:nvSpPr>
          <p:cNvPr id="19" name="step 4"/>
          <p:cNvSpPr/>
          <p:nvPr/>
        </p:nvSpPr>
        <p:spPr>
          <a:xfrm>
            <a:off x="6035040" y="137160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Check live data card"/>
          <p:cNvSpPr/>
          <p:nvPr/>
        </p:nvSpPr>
        <p:spPr>
          <a:xfrm>
            <a:off x="5504688" y="1965960"/>
            <a:ext cx="1554480" cy="16002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22" name="Check live data title"/>
          <p:cNvSpPr txBox="1"/>
          <p:nvPr/>
        </p:nvSpPr>
        <p:spPr>
          <a:xfrm>
            <a:off x="5669280" y="2075688"/>
            <a:ext cx="125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 live data</a:t>
            </a:r>
            <a:endParaRPr lang="en-US" sz="1400" dirty="0"/>
          </a:p>
        </p:txBody>
      </p:sp>
      <p:sp>
        <p:nvSpPr>
          <p:cNvPr id="23" name="Check live data text"/>
          <p:cNvSpPr txBox="1"/>
          <p:nvPr/>
        </p:nvSpPr>
        <p:spPr>
          <a:xfrm>
            <a:off x="5669280" y="2423160"/>
            <a:ext cx="1252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Last 60 s for this Leaf</a:t>
            </a:r>
            <a:endParaRPr lang="en-US" sz="1250" dirty="0"/>
          </a:p>
        </p:txBody>
      </p:sp>
      <p:sp>
        <p:nvSpPr>
          <p:cNvPr id="24" name="step 5"/>
          <p:cNvSpPr/>
          <p:nvPr/>
        </p:nvSpPr>
        <p:spPr>
          <a:xfrm>
            <a:off x="7717536" y="137160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17536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Save card"/>
          <p:cNvSpPr/>
          <p:nvPr/>
        </p:nvSpPr>
        <p:spPr>
          <a:xfrm>
            <a:off x="7187184" y="1965960"/>
            <a:ext cx="1554480" cy="16002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27" name="Save title"/>
          <p:cNvSpPr txBox="1"/>
          <p:nvPr/>
        </p:nvSpPr>
        <p:spPr>
          <a:xfrm>
            <a:off x="7351776" y="2075688"/>
            <a:ext cx="125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Save</a:t>
            </a:r>
            <a:endParaRPr lang="en-US" sz="1400" dirty="0"/>
          </a:p>
        </p:txBody>
      </p:sp>
      <p:sp>
        <p:nvSpPr>
          <p:cNvPr id="28" name="Save text"/>
          <p:cNvSpPr txBox="1"/>
          <p:nvPr/>
        </p:nvSpPr>
        <p:spPr>
          <a:xfrm>
            <a:off x="7351776" y="2423160"/>
            <a:ext cx="1252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Stored in leaf_device_source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Ward → Bedside devices → Set up gateway (needs config.manage). Step 3 times out after 2 minutes if the gateway is offline in Canopy.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Check-in, configuration and assignment</a:t>
            </a:r>
            <a:endParaRPr lang="en-US" sz="2800" dirty="0"/>
          </a:p>
        </p:txBody>
      </p:sp>
      <p:pic>
        <p:nvPicPr>
          <p:cNvPr id="3" name="Check-in, configuration and assignment diagram" descr="Check-in, configuration and assign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52144"/>
            <a:ext cx="8412480" cy="33649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Data API for Leaf and integrators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480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/api/observations?from&amp;to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Observations, window ≤ 4 h, max 50 000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/api/measurements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device fields, paged by after_id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/api/devices/status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/ waiting / offline per device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/health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4" name="json sample"/>
          <p:cNvSpPr/>
          <p:nvPr/>
        </p:nvSpPr>
        <p:spPr>
          <a:xfrm>
            <a:off x="5120640" y="960120"/>
            <a:ext cx="3566160" cy="2331720"/>
          </a:xfrm>
          <a:prstGeom prst="roundRect">
            <a:avLst>
              <a:gd name="adj" fmla="val 2353"/>
            </a:avLst>
          </a:prstGeom>
          <a:solidFill>
            <a:srgbClr val="1B2A33"/>
          </a:solidFill>
          <a:ln w="12700">
            <a:solidFill>
              <a:srgbClr val="1B2A3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0" y="109728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"device_id": "or1-monitor",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"ivy_param": "heart_rate",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"value": 72, "unit": "/min",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"system_ts": 1760000012345,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"pod": "socket.or-monitor" }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URL: https://&lt;gateway-host&gt;/data-api/&lt;leaf-id&gt;/api/observations — the Leaf route adds leaf_id, so each Leaf sees only its devices. /data-api has no authentication of its own: keep it on the device network.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Central management from Canopy</a:t>
            </a:r>
            <a:endParaRPr lang="en-US" sz="2800" dirty="0"/>
          </a:p>
        </p:txBody>
      </p:sp>
      <p:sp>
        <p:nvSpPr>
          <p:cNvPr id="3" name="Site only card"/>
          <p:cNvSpPr/>
          <p:nvPr/>
        </p:nvSpPr>
        <p:spPr>
          <a:xfrm>
            <a:off x="457200" y="100584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4" name="Site only title"/>
          <p:cNvSpPr txBox="1"/>
          <p:nvPr/>
        </p:nvSpPr>
        <p:spPr>
          <a:xfrm>
            <a:off x="621792" y="1115568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Site only</a:t>
            </a:r>
            <a:endParaRPr lang="en-US" sz="1500" dirty="0"/>
          </a:p>
        </p:txBody>
      </p:sp>
      <p:sp>
        <p:nvSpPr>
          <p:cNvPr id="5" name="Site only text"/>
          <p:cNvSpPr txBox="1"/>
          <p:nvPr/>
        </p:nvSpPr>
        <p:spPr>
          <a:xfrm>
            <a:off x="621792" y="146304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Station location is replaced; devices are untouched</a:t>
            </a:r>
            <a:endParaRPr lang="en-US" sz="1300" dirty="0"/>
          </a:p>
        </p:txBody>
      </p:sp>
      <p:sp>
        <p:nvSpPr>
          <p:cNvPr id="6" name="Devices list card"/>
          <p:cNvSpPr/>
          <p:nvPr/>
        </p:nvSpPr>
        <p:spPr>
          <a:xfrm>
            <a:off x="3246120" y="10058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BEBD0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7" name="Devices list title"/>
          <p:cNvSpPr txBox="1"/>
          <p:nvPr/>
        </p:nvSpPr>
        <p:spPr>
          <a:xfrm>
            <a:off x="3410712" y="1115568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Devices list</a:t>
            </a:r>
            <a:endParaRPr lang="en-US" sz="1500" dirty="0"/>
          </a:p>
        </p:txBody>
      </p:sp>
      <p:sp>
        <p:nvSpPr>
          <p:cNvPr id="8" name="Devices list text"/>
          <p:cNvSpPr txBox="1"/>
          <p:nvPr/>
        </p:nvSpPr>
        <p:spPr>
          <a:xfrm>
            <a:off x="3410712" y="146304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The full set: devices not listed are stopped and deleted</a:t>
            </a:r>
            <a:endParaRPr lang="en-US" sz="1300" dirty="0"/>
          </a:p>
        </p:txBody>
      </p:sp>
      <p:sp>
        <p:nvSpPr>
          <p:cNvPr id="9" name="Masked secret •••• card"/>
          <p:cNvSpPr/>
          <p:nvPr/>
        </p:nvSpPr>
        <p:spPr>
          <a:xfrm>
            <a:off x="6035040" y="100584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0" name="Masked secret •••• title"/>
          <p:cNvSpPr txBox="1"/>
          <p:nvPr/>
        </p:nvSpPr>
        <p:spPr>
          <a:xfrm>
            <a:off x="6199632" y="1115568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Masked secret ••••</a:t>
            </a:r>
            <a:endParaRPr lang="en-US" sz="1500" dirty="0"/>
          </a:p>
        </p:txBody>
      </p:sp>
      <p:sp>
        <p:nvSpPr>
          <p:cNvPr id="11" name="Masked secret •••• text"/>
          <p:cNvSpPr txBox="1"/>
          <p:nvPr/>
        </p:nvSpPr>
        <p:spPr>
          <a:xfrm>
            <a:off x="6199632" y="146304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Gateway keeps its own; missing ones are reported for entry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97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Fleet operations: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clone a gateway's configuration to new hardware, set the site from Canopy's location tree, review the last 50 configuration snapshots and the device → Leaf topology.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Monitoring and alerts</a:t>
            </a:r>
            <a:endParaRPr lang="en-US" sz="2800" dirty="0"/>
          </a:p>
        </p:txBody>
      </p:sp>
      <p:sp>
        <p:nvSpPr>
          <p:cNvPr id="3" name="canopy card"/>
          <p:cNvSpPr/>
          <p:nvPr/>
        </p:nvSpPr>
        <p:spPr>
          <a:xfrm>
            <a:off x="457200" y="100584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BEBD0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4" name="canopy title"/>
          <p:cNvSpPr txBox="1"/>
          <p:nvPr/>
        </p:nvSpPr>
        <p:spPr>
          <a:xfrm>
            <a:off x="621792" y="1115568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canopy</a:t>
            </a:r>
            <a:endParaRPr lang="en-US" sz="1600" dirty="0"/>
          </a:p>
        </p:txBody>
      </p:sp>
      <p:sp>
        <p:nvSpPr>
          <p:cNvPr id="5" name="canopy text"/>
          <p:cNvSpPr txBox="1"/>
          <p:nvPr/>
        </p:nvSpPr>
        <p:spPr>
          <a:xfrm>
            <a:off x="621792" y="1463040"/>
            <a:ext cx="1618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Warning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Canopy connection lost</a:t>
            </a:r>
            <a:endParaRPr lang="en-US" sz="1300" dirty="0"/>
          </a:p>
        </p:txBody>
      </p:sp>
      <p:sp>
        <p:nvSpPr>
          <p:cNvPr id="6" name="controller card"/>
          <p:cNvSpPr/>
          <p:nvPr/>
        </p:nvSpPr>
        <p:spPr>
          <a:xfrm>
            <a:off x="2542032" y="100584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6DDE0"/>
          </a:solidFill>
          <a:ln w="9525">
            <a:solidFill>
              <a:srgbClr val="B5525C"/>
            </a:solidFill>
            <a:prstDash val="solid"/>
          </a:ln>
        </p:spPr>
      </p:sp>
      <p:sp>
        <p:nvSpPr>
          <p:cNvPr id="7" name="controller title"/>
          <p:cNvSpPr txBox="1"/>
          <p:nvPr/>
        </p:nvSpPr>
        <p:spPr>
          <a:xfrm>
            <a:off x="2706624" y="1115568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controller</a:t>
            </a:r>
            <a:endParaRPr lang="en-US" sz="1600" dirty="0"/>
          </a:p>
        </p:txBody>
      </p:sp>
      <p:sp>
        <p:nvSpPr>
          <p:cNvPr id="8" name="controller text"/>
          <p:cNvSpPr txBox="1"/>
          <p:nvPr/>
        </p:nvSpPr>
        <p:spPr>
          <a:xfrm>
            <a:off x="2706624" y="1463040"/>
            <a:ext cx="1618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Critical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Controller not running or unhealthy</a:t>
            </a:r>
            <a:endParaRPr lang="en-US" sz="1300" dirty="0"/>
          </a:p>
        </p:txBody>
      </p:sp>
      <p:sp>
        <p:nvSpPr>
          <p:cNvPr id="9" name="device card"/>
          <p:cNvSpPr/>
          <p:nvPr/>
        </p:nvSpPr>
        <p:spPr>
          <a:xfrm>
            <a:off x="4626864" y="100584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6DDE0"/>
          </a:solidFill>
          <a:ln w="9525">
            <a:solidFill>
              <a:srgbClr val="B5525C"/>
            </a:solidFill>
            <a:prstDash val="solid"/>
          </a:ln>
        </p:spPr>
      </p:sp>
      <p:sp>
        <p:nvSpPr>
          <p:cNvPr id="10" name="device title"/>
          <p:cNvSpPr txBox="1"/>
          <p:nvPr/>
        </p:nvSpPr>
        <p:spPr>
          <a:xfrm>
            <a:off x="4791456" y="1115568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device</a:t>
            </a:r>
            <a:endParaRPr lang="en-US" sz="1600" dirty="0"/>
          </a:p>
        </p:txBody>
      </p:sp>
      <p:sp>
        <p:nvSpPr>
          <p:cNvPr id="11" name="device text"/>
          <p:cNvSpPr txBox="1"/>
          <p:nvPr/>
        </p:nvSpPr>
        <p:spPr>
          <a:xfrm>
            <a:off x="4791456" y="1463040"/>
            <a:ext cx="1618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Critical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No data from a device for 120 s</a:t>
            </a:r>
            <a:endParaRPr lang="en-US" sz="1300" dirty="0"/>
          </a:p>
        </p:txBody>
      </p:sp>
      <p:sp>
        <p:nvSpPr>
          <p:cNvPr id="12" name="gateway card"/>
          <p:cNvSpPr/>
          <p:nvPr/>
        </p:nvSpPr>
        <p:spPr>
          <a:xfrm>
            <a:off x="6711696" y="100584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6DDE0"/>
          </a:solidFill>
          <a:ln w="9525">
            <a:solidFill>
              <a:srgbClr val="B5525C"/>
            </a:solidFill>
            <a:prstDash val="solid"/>
          </a:ln>
        </p:spPr>
      </p:sp>
      <p:sp>
        <p:nvSpPr>
          <p:cNvPr id="13" name="gateway title"/>
          <p:cNvSpPr txBox="1"/>
          <p:nvPr/>
        </p:nvSpPr>
        <p:spPr>
          <a:xfrm>
            <a:off x="6876288" y="1115568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gateway</a:t>
            </a:r>
            <a:endParaRPr lang="en-US" sz="1600" dirty="0"/>
          </a:p>
        </p:txBody>
      </p:sp>
      <p:sp>
        <p:nvSpPr>
          <p:cNvPr id="14" name="gateway text"/>
          <p:cNvSpPr txBox="1"/>
          <p:nvPr/>
        </p:nvSpPr>
        <p:spPr>
          <a:xfrm>
            <a:off x="6876288" y="1463040"/>
            <a:ext cx="1618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Critical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Service was down for 2 min or more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88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Lanes are sampled every 30 s; an alert opens after two consecutive down samples and resolves on recovery. Alerts are pushed to Canopy's fleet view; acknowledge them in the Alerts tab. Samples are kept 7 days.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Updates and releases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1024128" y="10058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Root card"/>
          <p:cNvSpPr/>
          <p:nvPr/>
        </p:nvSpPr>
        <p:spPr>
          <a:xfrm>
            <a:off x="457200" y="1508760"/>
            <a:ext cx="1517904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6" name="Root title"/>
          <p:cNvSpPr txBox="1"/>
          <p:nvPr/>
        </p:nvSpPr>
        <p:spPr>
          <a:xfrm>
            <a:off x="621792" y="161848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Root</a:t>
            </a:r>
            <a:endParaRPr lang="en-US" sz="1500" dirty="0"/>
          </a:p>
        </p:txBody>
      </p:sp>
      <p:sp>
        <p:nvSpPr>
          <p:cNvPr id="7" name="Root text"/>
          <p:cNvSpPr txBox="1"/>
          <p:nvPr/>
        </p:nvSpPr>
        <p:spPr>
          <a:xfrm>
            <a:off x="621792" y="1965960"/>
            <a:ext cx="1216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Builds and signs the release (Ed25519)</a:t>
            </a:r>
            <a:endParaRPr lang="en-US" sz="1250" dirty="0"/>
          </a:p>
        </p:txBody>
      </p:sp>
      <p:sp>
        <p:nvSpPr>
          <p:cNvPr id="8" name="step 2"/>
          <p:cNvSpPr/>
          <p:nvPr/>
        </p:nvSpPr>
        <p:spPr>
          <a:xfrm>
            <a:off x="2706624" y="10058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06624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Haber card"/>
          <p:cNvSpPr/>
          <p:nvPr/>
        </p:nvSpPr>
        <p:spPr>
          <a:xfrm>
            <a:off x="2139696" y="1508760"/>
            <a:ext cx="1517904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1" name="Haber title"/>
          <p:cNvSpPr txBox="1"/>
          <p:nvPr/>
        </p:nvSpPr>
        <p:spPr>
          <a:xfrm>
            <a:off x="2304288" y="161848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Haber</a:t>
            </a:r>
            <a:endParaRPr lang="en-US" sz="1500" dirty="0"/>
          </a:p>
        </p:txBody>
      </p:sp>
      <p:sp>
        <p:nvSpPr>
          <p:cNvPr id="12" name="Haber text"/>
          <p:cNvSpPr txBox="1"/>
          <p:nvPr/>
        </p:nvSpPr>
        <p:spPr>
          <a:xfrm>
            <a:off x="2304288" y="1965960"/>
            <a:ext cx="1216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Mirrors images by digest</a:t>
            </a:r>
            <a:endParaRPr lang="en-US" sz="1250" dirty="0"/>
          </a:p>
        </p:txBody>
      </p:sp>
      <p:sp>
        <p:nvSpPr>
          <p:cNvPr id="13" name="step 3"/>
          <p:cNvSpPr/>
          <p:nvPr/>
        </p:nvSpPr>
        <p:spPr>
          <a:xfrm>
            <a:off x="4389120" y="10058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8912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Approve card"/>
          <p:cNvSpPr/>
          <p:nvPr/>
        </p:nvSpPr>
        <p:spPr>
          <a:xfrm>
            <a:off x="3822192" y="1508760"/>
            <a:ext cx="1517904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16" name="Approve title"/>
          <p:cNvSpPr txBox="1"/>
          <p:nvPr/>
        </p:nvSpPr>
        <p:spPr>
          <a:xfrm>
            <a:off x="3986784" y="161848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Approve</a:t>
            </a:r>
            <a:endParaRPr lang="en-US" sz="1500" dirty="0"/>
          </a:p>
        </p:txBody>
      </p:sp>
      <p:sp>
        <p:nvSpPr>
          <p:cNvPr id="17" name="Approve text"/>
          <p:cNvSpPr txBox="1"/>
          <p:nvPr/>
        </p:nvSpPr>
        <p:spPr>
          <a:xfrm>
            <a:off x="3986784" y="1965960"/>
            <a:ext cx="1216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Hospital admin approves or holds</a:t>
            </a:r>
            <a:endParaRPr lang="en-US" sz="1250" dirty="0"/>
          </a:p>
        </p:txBody>
      </p:sp>
      <p:sp>
        <p:nvSpPr>
          <p:cNvPr id="18" name="step 4"/>
          <p:cNvSpPr/>
          <p:nvPr/>
        </p:nvSpPr>
        <p:spPr>
          <a:xfrm>
            <a:off x="6071616" y="10058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71616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Updater card"/>
          <p:cNvSpPr/>
          <p:nvPr/>
        </p:nvSpPr>
        <p:spPr>
          <a:xfrm>
            <a:off x="5504688" y="1508760"/>
            <a:ext cx="1517904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21" name="Updater title"/>
          <p:cNvSpPr txBox="1"/>
          <p:nvPr/>
        </p:nvSpPr>
        <p:spPr>
          <a:xfrm>
            <a:off x="5669280" y="161848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Updater</a:t>
            </a:r>
            <a:endParaRPr lang="en-US" sz="1500" dirty="0"/>
          </a:p>
        </p:txBody>
      </p:sp>
      <p:sp>
        <p:nvSpPr>
          <p:cNvPr id="22" name="Updater text"/>
          <p:cNvSpPr txBox="1"/>
          <p:nvPr/>
        </p:nvSpPr>
        <p:spPr>
          <a:xfrm>
            <a:off x="5669280" y="1965960"/>
            <a:ext cx="1216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Verifies, waits for the window, applies</a:t>
            </a:r>
            <a:endParaRPr lang="en-US" sz="1250" dirty="0"/>
          </a:p>
        </p:txBody>
      </p:sp>
      <p:sp>
        <p:nvSpPr>
          <p:cNvPr id="23" name="step 5"/>
          <p:cNvSpPr/>
          <p:nvPr/>
        </p:nvSpPr>
        <p:spPr>
          <a:xfrm>
            <a:off x="7754112" y="10058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54112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Health card"/>
          <p:cNvSpPr/>
          <p:nvPr/>
        </p:nvSpPr>
        <p:spPr>
          <a:xfrm>
            <a:off x="7187184" y="1508760"/>
            <a:ext cx="1517904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D2DDE0"/>
            </a:solidFill>
            <a:prstDash val="solid"/>
          </a:ln>
        </p:spPr>
      </p:sp>
      <p:sp>
        <p:nvSpPr>
          <p:cNvPr id="26" name="Health title"/>
          <p:cNvSpPr txBox="1"/>
          <p:nvPr/>
        </p:nvSpPr>
        <p:spPr>
          <a:xfrm>
            <a:off x="7351776" y="161848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Health</a:t>
            </a:r>
            <a:endParaRPr lang="en-US" sz="1500" dirty="0"/>
          </a:p>
        </p:txBody>
      </p:sp>
      <p:sp>
        <p:nvSpPr>
          <p:cNvPr id="27" name="Health text"/>
          <p:cNvSpPr txBox="1"/>
          <p:nvPr/>
        </p:nvSpPr>
        <p:spPr>
          <a:xfrm>
            <a:off x="7351776" y="1965960"/>
            <a:ext cx="1216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Rolls back if not healthy in 180 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Parser containers are then upgraded one per cycle. Set FLORA_UPDATER_WINDOW (HH:MM-HH:MM) to update outside clinical hours.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Data structures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ECEC"/>
                </a:solidFill>
              </a:rPr>
              <a:t>Gateway database · Kafka message schemas · Canopy, Haber and Leaf tables</a:t>
            </a:r>
            <a:endParaRPr lang="en-US" sz="1600" dirty="0"/>
          </a:p>
        </p:txBody>
      </p:sp>
      <p:sp>
        <p:nvSpPr>
          <p:cNvPr id="4" name="data circle"/>
          <p:cNvSpPr/>
          <p:nvPr/>
        </p:nvSpPr>
        <p:spPr>
          <a:xfrm>
            <a:off x="7498080" y="3566160"/>
            <a:ext cx="914400" cy="914400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pic>
        <p:nvPicPr>
          <p:cNvPr id="5" name="dat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248" y="3767328"/>
            <a:ext cx="512064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Gateway database (flora_gateway)</a:t>
            </a:r>
            <a:endParaRPr lang="en-US" sz="2800" dirty="0"/>
          </a:p>
        </p:txBody>
      </p:sp>
      <p:pic>
        <p:nvPicPr>
          <p:cNvPr id="3" name="Gateway database (flora_gateway) diagram" descr="Gateway database (flora_gateway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137" y="868680"/>
            <a:ext cx="6847726" cy="3931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Kafka topics and message schemas</a:t>
            </a:r>
            <a:endParaRPr lang="en-US" sz="2800" dirty="0"/>
          </a:p>
        </p:txBody>
      </p:sp>
      <p:pic>
        <p:nvPicPr>
          <p:cNvPr id="3" name="Kafka topics and message schemas diagram" descr="Kafka topics and message schem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6269"/>
            <a:ext cx="8412480" cy="319674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Gateway data in Canopy, Haber and Leaf</a:t>
            </a:r>
            <a:endParaRPr lang="en-US" sz="2800" dirty="0"/>
          </a:p>
        </p:txBody>
      </p:sp>
      <p:pic>
        <p:nvPicPr>
          <p:cNvPr id="3" name="Gateway data in Canopy, Haber and Leaf diagram" descr="Gateway data in Canopy, Haber and Lea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176" y="868680"/>
            <a:ext cx="8063647" cy="3931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Troubleshooting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devices stopped, license invalid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 in Canopy; run a manual sync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 connection lost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HABER_URL, token and the Canopy 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waiting / offline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Streams for the pod; check cabling, IP, serial settings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 but no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type and parser options in Monitor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wizard step 3 times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gateway is online in Canopy; retry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chart empty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Re-run the wizard; check /data-api/&lt;leaf&gt;/api/devices/status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device on Windows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serial controller natively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Dräger M540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IACS relay to a udp_relay pod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Security checklist</a:t>
            </a:r>
            <a:endParaRPr lang="en-US" sz="2800" dirty="0"/>
          </a:p>
        </p:txBody>
      </p:sp>
      <p:sp>
        <p:nvSpPr>
          <p:cNvPr id="3" name="security 1 circle"/>
          <p:cNvSpPr/>
          <p:nvPr/>
        </p:nvSpPr>
        <p:spPr>
          <a:xfrm>
            <a:off x="457200" y="1024128"/>
            <a:ext cx="457200" cy="457200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pic>
        <p:nvPicPr>
          <p:cNvPr id="4" name="security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1247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005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Change admin / admin; create named accounts</a:t>
            </a:r>
            <a:endParaRPr lang="en-US" sz="1400" dirty="0"/>
          </a:p>
        </p:txBody>
      </p:sp>
      <p:sp>
        <p:nvSpPr>
          <p:cNvPr id="6" name="security 2 circle"/>
          <p:cNvSpPr/>
          <p:nvPr/>
        </p:nvSpPr>
        <p:spPr>
          <a:xfrm>
            <a:off x="457200" y="1865376"/>
            <a:ext cx="457200" cy="457200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pic>
        <p:nvPicPr>
          <p:cNvPr id="7" name="security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965960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8470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Replace every *-demo-* token and the DB password</a:t>
            </a:r>
            <a:endParaRPr lang="en-US" sz="1400" dirty="0"/>
          </a:p>
        </p:txBody>
      </p:sp>
      <p:sp>
        <p:nvSpPr>
          <p:cNvPr id="9" name="security 3 circle"/>
          <p:cNvSpPr/>
          <p:nvPr/>
        </p:nvSpPr>
        <p:spPr>
          <a:xfrm>
            <a:off x="457200" y="2706624"/>
            <a:ext cx="457200" cy="457200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pic>
        <p:nvPicPr>
          <p:cNvPr id="10" name="security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280720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6883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GATEWAY_ADMIN_KEY for automation</a:t>
            </a:r>
            <a:endParaRPr lang="en-US" sz="1400" dirty="0"/>
          </a:p>
        </p:txBody>
      </p:sp>
      <p:sp>
        <p:nvSpPr>
          <p:cNvPr id="12" name="security 4 circle"/>
          <p:cNvSpPr/>
          <p:nvPr/>
        </p:nvSpPr>
        <p:spPr>
          <a:xfrm>
            <a:off x="457200" y="3547872"/>
            <a:ext cx="457200" cy="457200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pic>
        <p:nvPicPr>
          <p:cNvPr id="13" name="security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3648456"/>
            <a:ext cx="256032" cy="25603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35295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a hospital or Flora CA certificate</a:t>
            </a:r>
            <a:endParaRPr lang="en-US" sz="1400" dirty="0"/>
          </a:p>
        </p:txBody>
      </p:sp>
      <p:sp>
        <p:nvSpPr>
          <p:cNvPr id="15" name="security 5 circle"/>
          <p:cNvSpPr/>
          <p:nvPr/>
        </p:nvSpPr>
        <p:spPr>
          <a:xfrm>
            <a:off x="4663440" y="1024128"/>
            <a:ext cx="457200" cy="45720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pic>
        <p:nvPicPr>
          <p:cNvPr id="16" name="security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1124712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257800" y="1005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Kong, PostgreSQL and Kafka on 127.0.0.1</a:t>
            </a:r>
            <a:endParaRPr lang="en-US" sz="1400" dirty="0"/>
          </a:p>
        </p:txBody>
      </p:sp>
      <p:sp>
        <p:nvSpPr>
          <p:cNvPr id="18" name="security 6 circle"/>
          <p:cNvSpPr/>
          <p:nvPr/>
        </p:nvSpPr>
        <p:spPr>
          <a:xfrm>
            <a:off x="4663440" y="1865376"/>
            <a:ext cx="457200" cy="45720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pic>
        <p:nvPicPr>
          <p:cNvPr id="19" name="security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196596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57800" y="18470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Limit device ports to the gateway host</a:t>
            </a:r>
            <a:endParaRPr lang="en-US" sz="1400" dirty="0"/>
          </a:p>
        </p:txBody>
      </p:sp>
      <p:sp>
        <p:nvSpPr>
          <p:cNvPr id="21" name="security 7 circle"/>
          <p:cNvSpPr/>
          <p:nvPr/>
        </p:nvSpPr>
        <p:spPr>
          <a:xfrm>
            <a:off x="4663440" y="2706624"/>
            <a:ext cx="457200" cy="45720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pic>
        <p:nvPicPr>
          <p:cNvPr id="22" name="security 7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4024" y="2807208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257800" y="26883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Treat the host as privileged (Docker socket)</a:t>
            </a:r>
            <a:endParaRPr lang="en-US" sz="1400" dirty="0"/>
          </a:p>
        </p:txBody>
      </p:sp>
      <p:sp>
        <p:nvSpPr>
          <p:cNvPr id="24" name="security 8 circle"/>
          <p:cNvSpPr/>
          <p:nvPr/>
        </p:nvSpPr>
        <p:spPr>
          <a:xfrm>
            <a:off x="4663440" y="3547872"/>
            <a:ext cx="457200" cy="45720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pic>
        <p:nvPicPr>
          <p:cNvPr id="25" name="security 8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4024" y="3648456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5257800" y="35295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 releases with a maintenance window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Further reading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7ECEC"/>
                </a:solidFill>
              </a:rPr>
              <a:t>Flora-Gateway-User-Manual.docx · diagrams/ (PNG + SVG) · flora-gateway/README.md · CONFIGURATION.md · DEVELOPMENT.md · DRAEGER.md · HIDRO.md · flora-updater/README.md</a:t>
            </a:r>
            <a:endParaRPr lang="en-US" sz="1800" dirty="0"/>
          </a:p>
        </p:txBody>
      </p:sp>
      <p:sp>
        <p:nvSpPr>
          <p:cNvPr id="4" name="reading circle"/>
          <p:cNvSpPr/>
          <p:nvPr/>
        </p:nvSpPr>
        <p:spPr>
          <a:xfrm>
            <a:off x="7406640" y="3520440"/>
            <a:ext cx="1005840" cy="1005840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pic>
        <p:nvPicPr>
          <p:cNvPr id="5" name="read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7925" y="3741725"/>
            <a:ext cx="563270" cy="5632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lora Gateway">
  <a:themeElements>
    <a:clrScheme name="Flora Gateway">
      <a:dk1>
        <a:srgbClr val="1B2A33"/>
      </a:dk1>
      <a:lt1>
        <a:srgbClr val="FFFFFF"/>
      </a:lt1>
      <a:dk2>
        <a:srgbClr val="0A4F54"/>
      </a:dk2>
      <a:lt2>
        <a:srgbClr val="EEF3F4"/>
      </a:lt2>
      <a:accent1>
        <a:srgbClr val="0F6E74"/>
      </a:accent1>
      <a:accent2>
        <a:srgbClr val="E8A33D"/>
      </a:accent2>
      <a:accent3>
        <a:srgbClr val="3D5A80"/>
      </a:accent3>
      <a:accent4>
        <a:srgbClr val="B5525C"/>
      </a:accent4>
      <a:accent5>
        <a:srgbClr val="4A5A66"/>
      </a:accent5>
      <a:accent6>
        <a:srgbClr val="7FA65A"/>
      </a:accent6>
      <a:hlink>
        <a:srgbClr val="0F6E74"/>
      </a:hlink>
      <a:folHlink>
        <a:srgbClr val="4A5A66"/>
      </a:folHlink>
    </a:clrScheme>
    <a:fontScheme name="Flora Gatewa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ESM Flora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Flora Gateway User Manual</dc:title>
  <dc:subject>PptxGenJS Presentation</dc:subject>
  <dc:creator>ESM Flora</dc:creator>
  <cp:lastModifiedBy>ESM Flora</cp:lastModifiedBy>
  <cp:revision>1</cp:revision>
  <dcterms:created xsi:type="dcterms:W3CDTF">2026-10-13T04:49:31Z</dcterms:created>
  <dcterms:modified xsi:type="dcterms:W3CDTF">2026-10-13T04:49:31Z</dcterms:modified>
</cp:coreProperties>
</file>