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1b73fc6-d6da-7547-56d8-8c99931de6c9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sing the gateway" id="{0ec7e957-f715-84d8-57a6-3307d14588b5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mmon tasks" id="{1025fa92-abd2-3f34-ef93-d0045de15a28}">
          <p14:sldIdLst>
            <p14:sldId id="269"/>
            <p14:sldId id="270"/>
            <p14:sldId id="271"/>
            <p14:sldId id="272"/>
            <p14:sldId id="273"/>
          </p14:sldIdLst>
        </p14:section>
        <p14:section name="Data structures" id="{8ba78fdc-d654-0f80-1d7e-0f649f5b3a66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Technology" id="{92585b36-ff5e-b591-2388-1b76c805e396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manual covers the gateway admin page, connecting devices and Canopy, the data model and the technology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Ingress controllers (Rust) read devices and publish raw frames to Kafka. Parsers (Python) decode them. The collector stores observations in PostgreSQL; Kong serves them to Leaf.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in the gateway database: Canopy's record of each gateway, filled from check-ins, plus the desired configuration and the central alert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ESM Flora Gateway · User manual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ESM Flora Gateway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User manual · medical device integration for Flora Leaf, managed from Canopy · release 0.2.4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gateway does</a:t>
            </a:r>
            <a:endParaRPr lang="en-US" sz="3000" dirty="0"/>
          </a:p>
        </p:txBody>
      </p:sp>
      <p:sp>
        <p:nvSpPr>
          <p:cNvPr id="3" name="card-Connect"/>
          <p:cNvSpPr/>
          <p:nvPr/>
        </p:nvSpPr>
        <p:spPr>
          <a:xfrm>
            <a:off x="457200" y="1188720"/>
            <a:ext cx="1938528" cy="21945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16642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Connect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Monitors, ventilators, anaesthesia machines, pumps over RS-232, HL7/TCP, HTTP, UDP and TCP links.</a:t>
            </a:r>
            <a:endParaRPr lang="en-US" sz="1600" dirty="0"/>
          </a:p>
        </p:txBody>
      </p:sp>
      <p:sp>
        <p:nvSpPr>
          <p:cNvPr id="5" name="card-Decode"/>
          <p:cNvSpPr/>
          <p:nvPr/>
        </p:nvSpPr>
        <p:spPr>
          <a:xfrm>
            <a:off x="2532888" y="1188720"/>
            <a:ext cx="1938528" cy="21945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70048" y="1298448"/>
            <a:ext cx="16642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Decode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One parser per device turns device data into Flora observations (hr, spo2, nibp…), keeping the originals.</a:t>
            </a:r>
            <a:endParaRPr lang="en-US" sz="1600" dirty="0"/>
          </a:p>
        </p:txBody>
      </p:sp>
      <p:sp>
        <p:nvSpPr>
          <p:cNvPr id="7" name="card-Serve"/>
          <p:cNvSpPr/>
          <p:nvPr/>
        </p:nvSpPr>
        <p:spPr>
          <a:xfrm>
            <a:off x="4608576" y="1188720"/>
            <a:ext cx="1938528" cy="21945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45736" y="1298448"/>
            <a:ext cx="16642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Serve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collector stores everything; Leaf workstations pull their devices' data through the data API.</a:t>
            </a:r>
            <a:endParaRPr lang="en-US" sz="1600" dirty="0"/>
          </a:p>
        </p:txBody>
      </p:sp>
      <p:sp>
        <p:nvSpPr>
          <p:cNvPr id="9" name="card-Govern"/>
          <p:cNvSpPr/>
          <p:nvPr/>
        </p:nvSpPr>
        <p:spPr>
          <a:xfrm>
            <a:off x="6684264" y="1188720"/>
            <a:ext cx="1938528" cy="21945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21424" y="1298448"/>
            <a:ext cx="16642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Govern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Canopy supplies device types, licence and location, and keeps the central alert log.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pod is one connection (controller.id, e.g. socket.vista). A device type is a template; a device is one installed unit on a pod, assigned to a Leaf.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gateway sits in ESM Flora</a:t>
            </a:r>
            <a:endParaRPr lang="en-US" sz="3000" dirty="0"/>
          </a:p>
        </p:txBody>
      </p:sp>
      <p:pic>
        <p:nvPicPr>
          <p:cNvPr id="3" name="context" descr="con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791" y="1005840"/>
            <a:ext cx="7294418" cy="3703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from device to Leaf</a:t>
            </a:r>
            <a:endParaRPr lang="en-US" sz="3000" dirty="0"/>
          </a:p>
        </p:txBody>
      </p:sp>
      <p:pic>
        <p:nvPicPr>
          <p:cNvPr id="3" name="architecture" descr="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17" y="1005840"/>
            <a:ext cx="8104367" cy="3703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Canopy and Root</a:t>
            </a:r>
            <a:endParaRPr lang="en-US" sz="3000" dirty="0"/>
          </a:p>
        </p:txBody>
      </p:sp>
      <p:pic>
        <p:nvPicPr>
          <p:cNvPr id="3" name="canopy-flow" descr="canopy-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957" y="1005840"/>
            <a:ext cx="7126085" cy="3703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loop with Canopy</a:t>
            </a:r>
            <a:endParaRPr lang="en-US" sz="3000" dirty="0"/>
          </a:p>
        </p:txBody>
      </p:sp>
      <p:pic>
        <p:nvPicPr>
          <p:cNvPr id="3" name="control-loop" descr="control-lo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87" y="1005840"/>
            <a:ext cx="7765026" cy="3703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gateway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Sign-in, roles and the five screens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 and roles</a:t>
            </a:r>
            <a:endParaRPr lang="en-US" sz="3000" dirty="0"/>
          </a:p>
        </p:txBody>
      </p:sp>
      <p:pic>
        <p:nvPicPr>
          <p:cNvPr id="3" name="sign-in" descr="sign-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621" y="1051560"/>
            <a:ext cx="3459079" cy="3429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663440" y="10515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https://&lt;gateway-host&gt; (7443 in the demo) or http://localhost:7400 on the gateway itself.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First sign-in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admin / admin — change it at once under System → Users → My password.</a:t>
            </a:r>
            <a:endParaRPr lang="en-US" sz="1400" dirty="0"/>
          </a:p>
        </p:txBody>
      </p:sp>
      <p:sp>
        <p:nvSpPr>
          <p:cNvPr id="5" name="role-admin"/>
          <p:cNvSpPr/>
          <p:nvPr/>
        </p:nvSpPr>
        <p:spPr>
          <a:xfrm>
            <a:off x="4663440" y="26060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00600" y="2715768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admin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Operator rights plus device types, manufacturers, users and the Canopy connection.</a:t>
            </a:r>
            <a:endParaRPr lang="en-US" sz="1600" dirty="0"/>
          </a:p>
        </p:txBody>
      </p:sp>
      <p:sp>
        <p:nvSpPr>
          <p:cNvPr id="7" name="role-operator"/>
          <p:cNvSpPr/>
          <p:nvPr/>
        </p:nvSpPr>
        <p:spPr>
          <a:xfrm>
            <a:off x="4663440" y="3630168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3739896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operator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Devices, controllers, streams and alerts.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pic>
        <p:nvPicPr>
          <p:cNvPr id="3" name="02-overview" descr="02-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669280" cy="35433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355080" y="1051560"/>
            <a:ext cx="2331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Station: ID, Canopy status, ward and room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Status history: up, down, stopped, per part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Outage list with duration and cause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Layers: start, stop, restart controllers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Devices and device monitor</a:t>
            </a:r>
            <a:endParaRPr lang="en-US" sz="3000" dirty="0"/>
          </a:p>
        </p:txBody>
      </p:sp>
      <p:pic>
        <p:nvPicPr>
          <p:cNvPr id="3" name="05-device-monitor" descr="05-device-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669280" cy="35433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355080" y="1051560"/>
            <a:ext cx="2331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Add, edit, enable, remove devices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Monitor: stored data per minute, 6 h or 24 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Latest value of every parameter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Live payloads sent to the collector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Streams: raw device traffic</a:t>
            </a:r>
            <a:endParaRPr lang="en-US" sz="3000" dirty="0"/>
          </a:p>
        </p:txBody>
      </p:sp>
      <p:pic>
        <p:nvPicPr>
          <p:cNvPr id="3" name="08-stream-detail" descr="08-stream-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669280" cy="35433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355080" y="1051560"/>
            <a:ext cx="2331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One card per ingress pod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Frames and bytes per second, in and 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Every payload as text or hex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Use it to prove a device is talking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</a:t>
            </a:r>
            <a:endParaRPr lang="en-US" sz="3000" dirty="0"/>
          </a:p>
        </p:txBody>
      </p:sp>
      <p:pic>
        <p:nvPicPr>
          <p:cNvPr id="3" name="09-alerts" descr="09-ale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669280" cy="35433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355080" y="1051560"/>
            <a:ext cx="2331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Opens after about a minute down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Canopy lost, controller down, device silent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Acknowledge, then fix; closes by itself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Every change goes to Canopy's central log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types and connection defaults</a:t>
            </a:r>
            <a:endParaRPr lang="en-US" sz="3000" dirty="0"/>
          </a:p>
        </p:txBody>
      </p:sp>
      <p:pic>
        <p:nvPicPr>
          <p:cNvPr id="3" name="11-device-type-edit" descr="11-device-type-e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669280" cy="35433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355080" y="1051560"/>
            <a:ext cx="2331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Types arrive from Canopy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Locally: manufacturer, model, description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Serial defaults: baud, data bits, parity, stop bits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Admins may add local templates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tasks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Connect to Canopy, add devices, Dräger monitors, check data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the gateway to Canopy</a:t>
            </a:r>
            <a:endParaRPr lang="en-US" sz="3000" dirty="0"/>
          </a:p>
        </p:txBody>
      </p:sp>
      <p:sp>
        <p:nvSpPr>
          <p:cNvPr id="3" name="step-1"/>
          <p:cNvSpPr/>
          <p:nvPr/>
        </p:nvSpPr>
        <p:spPr>
          <a:xfrm>
            <a:off x="457200" y="11430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10642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Overview → Canopy connection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Admin only.</a:t>
            </a:r>
            <a:endParaRPr lang="en-US" sz="1400" dirty="0"/>
          </a:p>
        </p:txBody>
      </p:sp>
      <p:sp>
        <p:nvSpPr>
          <p:cNvPr id="6" name="step-2"/>
          <p:cNvSpPr/>
          <p:nvPr/>
        </p:nvSpPr>
        <p:spPr>
          <a:xfrm>
            <a:off x="457200" y="19659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92938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Enter Canopy address, gateway ID and key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host name means https on port 443.</a:t>
            </a:r>
            <a:endParaRPr lang="en-US" sz="1400" dirty="0"/>
          </a:p>
        </p:txBody>
      </p:sp>
      <p:sp>
        <p:nvSpPr>
          <p:cNvPr id="9" name="step-3"/>
          <p:cNvSpPr/>
          <p:nvPr/>
        </p:nvSpPr>
        <p:spPr>
          <a:xfrm>
            <a:off x="457200" y="278892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75234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Save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gateway checks in at once; 401 = wrong key.</a:t>
            </a:r>
            <a:endParaRPr lang="en-US" sz="1400" dirty="0"/>
          </a:p>
        </p:txBody>
      </p:sp>
      <p:sp>
        <p:nvSpPr>
          <p:cNvPr id="12" name="step-4"/>
          <p:cNvSpPr/>
          <p:nvPr/>
        </p:nvSpPr>
        <p:spPr>
          <a:xfrm>
            <a:off x="457200" y="36118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57530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Set the location at Canopy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Topology → gateway → Set location…</a:t>
            </a:r>
            <a:endParaRPr lang="en-US" sz="1400" dirty="0"/>
          </a:p>
        </p:txBody>
      </p:sp>
      <p:pic>
        <p:nvPicPr>
          <p:cNvPr id="15" name="canopy-connection" descr="canopy-conn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97280"/>
            <a:ext cx="4114800" cy="25717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device</a:t>
            </a:r>
            <a:endParaRPr lang="en-US" sz="3000" dirty="0"/>
          </a:p>
        </p:txBody>
      </p:sp>
      <p:sp>
        <p:nvSpPr>
          <p:cNvPr id="3" name="step-1"/>
          <p:cNvSpPr/>
          <p:nvPr/>
        </p:nvSpPr>
        <p:spPr>
          <a:xfrm>
            <a:off x="457200" y="10972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060704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Type exists and is licensed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System → Device types; Overview → Licence</a:t>
            </a:r>
            <a:endParaRPr lang="en-US" sz="1400" dirty="0"/>
          </a:p>
        </p:txBody>
      </p:sp>
      <p:sp>
        <p:nvSpPr>
          <p:cNvPr id="6" name="step-2"/>
          <p:cNvSpPr/>
          <p:nvPr/>
        </p:nvSpPr>
        <p:spPr>
          <a:xfrm>
            <a:off x="457200" y="168249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4592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Pod is configured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e.g. socket.or2-monitor, serial.COM3</a:t>
            </a:r>
            <a:endParaRPr lang="en-US" sz="1400" dirty="0"/>
          </a:p>
        </p:txBody>
      </p:sp>
      <p:sp>
        <p:nvSpPr>
          <p:cNvPr id="9" name="step-3"/>
          <p:cNvSpPr/>
          <p:nvPr/>
        </p:nvSpPr>
        <p:spPr>
          <a:xfrm>
            <a:off x="457200" y="226771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31136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Devices → Add device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ID, name, type, serial, station, location</a:t>
            </a:r>
            <a:endParaRPr lang="en-US" sz="1400" dirty="0"/>
          </a:p>
        </p:txBody>
      </p:sp>
      <p:sp>
        <p:nvSpPr>
          <p:cNvPr id="12" name="step-4"/>
          <p:cNvSpPr/>
          <p:nvPr/>
        </p:nvSpPr>
        <p:spPr>
          <a:xfrm>
            <a:off x="457200" y="285292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816352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Choose pod and Leaf workstation</a:t>
            </a:r>
            <a:endParaRPr lang="en-US" sz="1400" dirty="0"/>
          </a:p>
        </p:txBody>
      </p:sp>
      <p:sp>
        <p:nvSpPr>
          <p:cNvPr id="15" name="step-5"/>
          <p:cNvSpPr/>
          <p:nvPr/>
        </p:nvSpPr>
        <p:spPr>
          <a:xfrm>
            <a:off x="457200" y="3438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401568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Save with Enabled ticked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parser starts for the device</a:t>
            </a:r>
            <a:endParaRPr lang="en-US" sz="1400" dirty="0"/>
          </a:p>
        </p:txBody>
      </p:sp>
      <p:sp>
        <p:nvSpPr>
          <p:cNvPr id="18" name="step-6"/>
          <p:cNvSpPr/>
          <p:nvPr/>
        </p:nvSpPr>
        <p:spPr>
          <a:xfrm>
            <a:off x="457200" y="40233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986784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Check Monitor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Values appear within seconds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Dräger monitors</a:t>
            </a:r>
            <a:endParaRPr lang="en-US" sz="3000" dirty="0"/>
          </a:p>
        </p:txBody>
      </p:sp>
      <p:sp>
        <p:nvSpPr>
          <p:cNvPr id="3" name="vista"/>
          <p:cNvSpPr/>
          <p:nvPr/>
        </p:nvSpPr>
        <p:spPr>
          <a:xfrm>
            <a:off x="457200" y="1097280"/>
            <a:ext cx="39776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3703320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Vista 120 S · TCP 9500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Connects to the gateway as to its central station; the gateway greets it and decodes HR, RR, NIBP, SpO2, PR and temperature.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1. Enable pod socket.vista (framing raw).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2. Optional beacon: broadcast on UDP 9610 so monitors find the gateway.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3. Device type draeger-vista-120s; source_ip per monitor when shared.</a:t>
            </a:r>
            <a:endParaRPr lang="en-US" sz="1600" dirty="0"/>
          </a:p>
        </p:txBody>
      </p:sp>
      <p:sp>
        <p:nvSpPr>
          <p:cNvPr id="5" name="m540"/>
          <p:cNvSpPr/>
          <p:nvPr/>
        </p:nvSpPr>
        <p:spPr>
          <a:xfrm>
            <a:off x="4709160" y="1097280"/>
            <a:ext cx="39776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0" y="1207008"/>
            <a:ext cx="3703320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M540 (IACS) · UDP 2050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Multicast. Discovery on 224.127.1.254:2000 joins each monitor's group 224.0.1.&lt;last octet&gt; automatically.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Direct: enable pod m540, set multicast_interface.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Other subnet or Docker: run tools/iacs-relay/relay.py and use pod m540-relay (TCP 2051, udp_relay).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One device draeger-iacs-m540 per monitor (source_ip).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that data reaches Leaf</a:t>
            </a:r>
            <a:endParaRPr lang="en-US" sz="3000" dirty="0"/>
          </a:p>
        </p:txBody>
      </p:sp>
      <p:sp>
        <p:nvSpPr>
          <p:cNvPr id="3" name="check-1"/>
          <p:cNvSpPr/>
          <p:nvPr/>
        </p:nvSpPr>
        <p:spPr>
          <a:xfrm>
            <a:off x="457200" y="14630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572768"/>
            <a:ext cx="1600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Streams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Frames arriving on the pod?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19202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check-2"/>
          <p:cNvSpPr/>
          <p:nvPr/>
        </p:nvSpPr>
        <p:spPr>
          <a:xfrm>
            <a:off x="2578608" y="14630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15768" y="1572768"/>
            <a:ext cx="1600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Monitor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Observations stored, latest recent?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3128" y="19202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check-3"/>
          <p:cNvSpPr/>
          <p:nvPr/>
        </p:nvSpPr>
        <p:spPr>
          <a:xfrm>
            <a:off x="4700016" y="14630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1572768"/>
            <a:ext cx="1600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Status history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Device green?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74536" y="19202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check-4"/>
          <p:cNvSpPr/>
          <p:nvPr/>
        </p:nvSpPr>
        <p:spPr>
          <a:xfrm>
            <a:off x="6821424" y="14630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58584" y="1572768"/>
            <a:ext cx="1600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Leaf chart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Values on the running case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If a device is enabled but silent for 2 minutes, an alert opens and Canopy is told.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Gateway database (16 tables, four diagrams) · Kafka messages · related data at Canopy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model at a glance</a:t>
            </a:r>
            <a:endParaRPr lang="en-US" sz="3000" dirty="0"/>
          </a:p>
        </p:txBody>
      </p:sp>
      <p:sp>
        <p:nvSpPr>
          <p:cNvPr id="3" name="er-card-1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3749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ER 1 · Registry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manufacturer, device_type, device_instance, parser_image, license</a:t>
            </a:r>
            <a:endParaRPr lang="en-US" sz="1600" dirty="0"/>
          </a:p>
        </p:txBody>
      </p:sp>
      <p:sp>
        <p:nvSpPr>
          <p:cNvPr id="5" name="er-card-2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207008"/>
            <a:ext cx="3749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ER 2 · Telemetry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observation, measurement, device_seen, log</a:t>
            </a:r>
            <a:endParaRPr lang="en-US" sz="1600" dirty="0"/>
          </a:p>
        </p:txBody>
      </p:sp>
      <p:sp>
        <p:nvSpPr>
          <p:cNvPr id="7" name="er-card-3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807208"/>
            <a:ext cx="3749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ER 3 · Users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user, session</a:t>
            </a:r>
            <a:endParaRPr lang="en-US" sz="1600" dirty="0"/>
          </a:p>
        </p:txBody>
      </p:sp>
      <p:sp>
        <p:nvSpPr>
          <p:cNvPr id="9" name="er-card-4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807208"/>
            <a:ext cx="3749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ER 4 · Operations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status_sample, alert, site, canopy_link, schema_migration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Solid line: foreign key in PostgreSQL. Dashed: logical link by value. Times are epoch milliseconds.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1 · Device registry and licensing</a:t>
            </a:r>
            <a:endParaRPr lang="en-US" sz="3000" dirty="0"/>
          </a:p>
        </p:txBody>
      </p:sp>
      <p:pic>
        <p:nvPicPr>
          <p:cNvPr id="3" name="er-1-device-registry" descr="er-1-device-regis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4930" y="960120"/>
            <a:ext cx="4714139" cy="3749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2 · Telemetry</a:t>
            </a:r>
            <a:endParaRPr lang="en-US" sz="3000" dirty="0"/>
          </a:p>
        </p:txBody>
      </p:sp>
      <p:pic>
        <p:nvPicPr>
          <p:cNvPr id="3" name="er-2-telemetry" descr="er-2-teleme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844" y="960120"/>
            <a:ext cx="5290312" cy="3749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3 · Users and sessions</a:t>
            </a:r>
            <a:endParaRPr lang="en-US" sz="3000" dirty="0"/>
          </a:p>
        </p:txBody>
      </p:sp>
      <p:pic>
        <p:nvPicPr>
          <p:cNvPr id="3" name="er-3-users" descr="er-3-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2786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4 · Status, alerts, site, Canopy link</a:t>
            </a:r>
            <a:endParaRPr lang="en-US" sz="3000" dirty="0"/>
          </a:p>
        </p:txBody>
      </p:sp>
      <p:pic>
        <p:nvPicPr>
          <p:cNvPr id="3" name="er-4-operations" descr="er-4-ope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247" y="960120"/>
            <a:ext cx="5601507" cy="3749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 on Kafka</a:t>
            </a:r>
            <a:endParaRPr lang="en-US" sz="3000" dirty="0"/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Topic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From → to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Content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gw.raw.&lt;pod&gt;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controller → parser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RawFrame: bytes read from a device, with source IP, connection and framing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gw.cmd.&lt;pod&gt;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parser / gateway-service → controller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Command: bytes to write to a device (polls, ACKs, greetings)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gw.obs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parser → collector, publisher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Observation: Flora parameter (ivy_param), value, unit, timestamps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gw.measurements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parser → collector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Original device field (raw_code, raw_value, definition)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gw.logs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any component → collector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LogEvent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message envelopes</a:t>
            </a:r>
            <a:endParaRPr lang="en-US" sz="3000" dirty="0"/>
          </a:p>
        </p:txBody>
      </p:sp>
      <p:pic>
        <p:nvPicPr>
          <p:cNvPr id="3" name="kafka-envelopes" descr="kafka-envelop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550" y="960120"/>
            <a:ext cx="6620901" cy="3749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data at Canopy</a:t>
            </a:r>
            <a:endParaRPr lang="en-US" sz="3000" dirty="0"/>
          </a:p>
        </p:txBody>
      </p:sp>
      <p:pic>
        <p:nvPicPr>
          <p:cNvPr id="3" name="canopy-db" descr="canopy-d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1098" y="960120"/>
            <a:ext cx="5501803" cy="3749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Haber: gateway registry and releases</a:t>
            </a:r>
            <a:endParaRPr lang="en-US" sz="3000" dirty="0"/>
          </a:p>
        </p:txBody>
      </p:sp>
      <p:pic>
        <p:nvPicPr>
          <p:cNvPr id="3" name="haber-db" descr="haber-d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068" y="960120"/>
            <a:ext cx="6677864" cy="3749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D2621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and operations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Stack, ports, releases, troubleshooting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3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Main libraries / versions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Ingress, egress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Rust (edition 2021)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tokio 1, rdkafka 0.37, tokio-postgres 0.7, tokio-serial 5.4, axum 0.8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Device parsers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Python 3.13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aiokafka 0.12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service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Python 3.13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FastAPI 0.118, uvicorn 0.37, psycopg 3.2, Docker SDK 7.1, httpx 0.28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UI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HTML, CSS, JavaScript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framework; inline SVG charts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Message bus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Apache Kafka 3.9.1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KRaft mode, single node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PostgreSQL 17.6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Alpine image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Data API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Kong 3.9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DB-less, one route per Leaf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Edge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nginx 1.27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TLS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Packaging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Docker Compose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flora-updater, Haber registry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ports</a:t>
            </a:r>
            <a:endParaRPr lang="en-US" sz="3000" dirty="0"/>
          </a:p>
        </p:txBody>
      </p:sp>
      <p:graphicFrame>
        <p:nvGraphicFramePr>
          <p:cNvPr id="3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7490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Port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Reachable from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443 (demo 7443)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HTTPS edge: admin page and /data-api/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Network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7400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page and API (gateway-service)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Local only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7410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Data API (Kong)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Local only; use the edge from other machines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7401–7406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Controller status endpoints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Local only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7412 / 7414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PostgreSQL / Kafka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Local only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9001, 9002 (7421, 7422)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HL7 monitors (demo pods)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Device network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9500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Dräger Vista 120 S CMS link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Device network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2050, 2000 (UDP)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Dräger M540 data and discovery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Device network (multicast)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2051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M540 TCP relay (udp_relay)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Device network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Releases and updates</a:t>
            </a:r>
            <a:endParaRPr lang="en-US" sz="3000" dirty="0"/>
          </a:p>
        </p:txBody>
      </p:sp>
      <p:sp>
        <p:nvSpPr>
          <p:cNvPr id="3" name="step-1"/>
          <p:cNvSpPr/>
          <p:nvPr/>
        </p:nvSpPr>
        <p:spPr>
          <a:xfrm>
            <a:off x="457200" y="11430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10642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Build and publish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./demo/release.sh &lt;version&gt; gateway — Root signs it</a:t>
            </a:r>
            <a:endParaRPr lang="en-US" sz="1400" dirty="0"/>
          </a:p>
        </p:txBody>
      </p:sp>
      <p:sp>
        <p:nvSpPr>
          <p:cNvPr id="6" name="step-2"/>
          <p:cNvSpPr/>
          <p:nvPr/>
        </p:nvSpPr>
        <p:spPr>
          <a:xfrm>
            <a:off x="457200" y="20116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97510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Approve at Canopy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Haber mirrors the images; the hospital approves</a:t>
            </a:r>
            <a:endParaRPr lang="en-US" sz="1400" dirty="0"/>
          </a:p>
        </p:txBody>
      </p:sp>
      <p:sp>
        <p:nvSpPr>
          <p:cNvPr id="9" name="step-3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84378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flora-updater applies 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Pinned in .release/flora-gateway.env</a:t>
            </a:r>
            <a:endParaRPr lang="en-US" sz="1400" dirty="0"/>
          </a:p>
        </p:txBody>
      </p:sp>
      <p:sp>
        <p:nvSpPr>
          <p:cNvPr id="12" name="release-warning"/>
          <p:cNvSpPr/>
          <p:nvPr/>
        </p:nvSpPr>
        <p:spPr>
          <a:xfrm>
            <a:off x="5486400" y="109728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BE7DC"/>
          </a:solidFill>
          <a:ln w="12700">
            <a:solidFill>
              <a:srgbClr val="FBE7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1207008"/>
            <a:ext cx="29260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Do not use compose --build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On a release-managed gateway it competes with the updater and can leave services stopped. Ship a new release (versions are immutable).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3000" dirty="0"/>
          </a:p>
        </p:txBody>
      </p:sp>
      <p:graphicFrame>
        <p:nvGraphicFramePr>
          <p:cNvPr id="3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Symptom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to check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 device shows “disabled” or “not started”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Enable it on Devices. Check the licence on Overview: the type must be licensed and the device limit not reached.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data on Leaf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Devices → Monitor: are observations stored? Streams: are frames arriving on the pod? Then check that Kong (data API) is running.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Pod connected but 0 frames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Polled devices send only when asked: check that the device is enabled so its parser polls.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Canopy shows “offline”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Overview → Canopy connection: check the address, gateway ID and key. A 401 means the key is wrong.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Alerts “queued for Canopy”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Canopy is unreachable. Alerts are resent automatically when it comes back; use Send to Canopy now to retry.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find more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Full manual: docs/gateway-manual/ESM-Flora-Gateway-User-Manual.docx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Developers: flora-gateway/README.md, DEVELOPMENT.md, CONFIGURATION.md, DRAEGER.md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M Flora Forest">
  <a:themeElements>
    <a:clrScheme name="ESM Flora Forest">
      <a:dk1>
        <a:srgbClr val="1D2621"/>
      </a:dk1>
      <a:lt1>
        <a:srgbClr val="FFFFFF"/>
      </a:lt1>
      <a:dk2>
        <a:srgbClr val="2F6F4F"/>
      </a:dk2>
      <a:lt2>
        <a:srgbClr val="E6EFE9"/>
      </a:lt2>
      <a:accent1>
        <a:srgbClr val="2F6F4F"/>
      </a:accent1>
      <a:accent2>
        <a:srgbClr val="C2571A"/>
      </a:accent2>
      <a:accent3>
        <a:srgbClr val="2A78D6"/>
      </a:accent3>
      <a:accent4>
        <a:srgbClr val="6DBB8F"/>
      </a:accent4>
      <a:accent5>
        <a:srgbClr val="5F6B64"/>
      </a:accent5>
      <a:accent6>
        <a:srgbClr val="F2B33D"/>
      </a:accent6>
      <a:hlink>
        <a:srgbClr val="2A78D6"/>
      </a:hlink>
      <a:folHlink>
        <a:srgbClr val="5F6B64"/>
      </a:folHlink>
    </a:clrScheme>
    <a:fontScheme name="ESM Flora For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ESM Flora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ESM Flora Gateway — User manual</dc:title>
  <dc:subject>PptxGenJS Presentation</dc:subject>
  <dc:creator>ESM Flora</dc:creator>
  <cp:lastModifiedBy>ESM Flora</cp:lastModifiedBy>
  <cp:revision>1</cp:revision>
  <dcterms:created xsi:type="dcterms:W3CDTF">2026-10-13T04:44:05Z</dcterms:created>
  <dcterms:modified xsi:type="dcterms:W3CDTF">2026-10-13T04:44:05Z</dcterms:modified>
</cp:coreProperties>
</file>