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0a00247-7766-cc67-f3da-6af3e54c9a45}">
          <p14:sldIdLst>
            <p14:sldId id="256"/>
            <p14:sldId id="257"/>
            <p14:sldId id="258"/>
          </p14:sldIdLst>
        </p14:section>
        <p14:section name="Overview" id="{a2dc9c4d-45db-6274-8df1-e739ecf344b1}">
          <p14:sldIdLst>
            <p14:sldId id="259"/>
            <p14:sldId id="260"/>
            <p14:sldId id="261"/>
          </p14:sldIdLst>
        </p14:section>
        <p14:section name="Technology stack" id="{1b0b0c7c-8241-beef-c5b4-701f19049bb6}">
          <p14:sldIdLst>
            <p14:sldId id="262"/>
            <p14:sldId id="263"/>
          </p14:sldIdLst>
        </p14:section>
        <p14:section name="Using the console" id="{b082e664-ef11-ecdb-7cf1-0438a6a0fcaf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Canopy integration" id="{b4042689-6d11-ddf4-bd86-a9cb6e7eda80}">
          <p14:sldIdLst>
            <p14:sldId id="270"/>
            <p14:sldId id="271"/>
            <p14:sldId id="272"/>
            <p14:sldId id="273"/>
            <p14:sldId id="274"/>
          </p14:sldIdLst>
        </p14:section>
        <p14:section name="Data structures" id="{40b65b7c-b485-592f-e3ee-bed8a62f07d5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Reference" id="{865bc8cc-23ca-04ff-14d0-278ad7568f45}">
          <p14:sldIdLst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Root issues licences and releases; Canopy (with Haber) manages gateways; Leafs read device data from the Gateway on the local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Controller -&gt; gw.raw.&lt;pod&gt; -&gt; parser -&gt; gw.obs -&gt; collector -&gt; PostgreSQL -&gt; server -&gt; Kong /data-api/&lt;leaf&gt; -&gt; nginx edge -&gt; Leaf.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ESM Flora Gateway · User Manual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Flora Gateway User Manual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Medical device integration for OR, ICU and bedside workstations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ESM FLORA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Manual 1.0 · gateway release 0.2.4  · 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manual covers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-dot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48132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80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Overview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60934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Where the Gateway sits, its components and data flow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4663440" y="109728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-dot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4813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280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Technology stack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532120" y="160934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Rust, Python, Kafka, PostgreSQL, Kong, nginx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57200" y="228600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-dot"/>
          <p:cNvSpPr/>
          <p:nvPr/>
        </p:nvSpPr>
        <p:spPr>
          <a:xfrm>
            <a:off x="685800" y="2560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67004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Using the console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325880" y="279806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Sign-in, roles, devices, streams, alerts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4663440" y="228600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-dot"/>
          <p:cNvSpPr/>
          <p:nvPr/>
        </p:nvSpPr>
        <p:spPr>
          <a:xfrm>
            <a:off x="4892040" y="2560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67004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3212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Canopy integration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532120" y="279806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Licence, configuration sync, clone, Leaf wizard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457200" y="347472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con-dot"/>
          <p:cNvSpPr/>
          <p:nvPr/>
        </p:nvSpPr>
        <p:spPr>
          <a:xfrm>
            <a:off x="685800" y="3749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85876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25880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 structures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1325880" y="398678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Relational diagrams for every data store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4663440" y="347472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con-dot"/>
          <p:cNvSpPr/>
          <p:nvPr/>
        </p:nvSpPr>
        <p:spPr>
          <a:xfrm>
            <a:off x="4892040" y="3749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858768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532120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Reference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5532120" y="398678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Ports, settings, security, updates, troubleshooting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device signal to charted observation</a:t>
            </a:r>
            <a:endParaRPr lang="en-US" sz="2600" dirty="0"/>
          </a:p>
        </p:txBody>
      </p:sp>
      <p:sp>
        <p:nvSpPr>
          <p:cNvPr id="3" name="icon-dot"/>
          <p:cNvSpPr/>
          <p:nvPr/>
        </p:nvSpPr>
        <p:spPr>
          <a:xfrm>
            <a:off x="548640" y="1051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61288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097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Connect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2926080" y="10972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RS-232, HL7 v2 / MLLP, UDP multicast, TCP and HTTP poll / push</a:t>
            </a:r>
            <a:endParaRPr lang="en-US" sz="1400" dirty="0"/>
          </a:p>
        </p:txBody>
      </p:sp>
      <p:sp>
        <p:nvSpPr>
          <p:cNvPr id="7" name="icon-dot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9280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Parse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2926080" y="1828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isolated parser container per device produces Flora observations</a:t>
            </a:r>
            <a:endParaRPr lang="en-US" sz="1400" dirty="0"/>
          </a:p>
        </p:txBody>
      </p:sp>
      <p:sp>
        <p:nvSpPr>
          <p:cNvPr id="11" name="icon-dot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6243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Store &amp; serve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2926080" y="2560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Local PostgreSQL store; each Leaf reads its own devices via the data-api</a:t>
            </a:r>
            <a:endParaRPr lang="en-US" sz="1400" dirty="0"/>
          </a:p>
        </p:txBody>
      </p:sp>
      <p:sp>
        <p:nvSpPr>
          <p:cNvPr id="15" name="icon-dot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5584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Licence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2926080" y="32918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Device licence, catalogue and parser images come from Haber in Canopy</a:t>
            </a:r>
            <a:endParaRPr lang="en-US" sz="1400" dirty="0"/>
          </a:p>
        </p:txBody>
      </p:sp>
      <p:sp>
        <p:nvSpPr>
          <p:cNvPr id="19" name="icon-dot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08736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8872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Watch</a:t>
            </a:r>
            <a:endParaRPr lang="en-US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2926080" y="40233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Status history for every lane, alerts pushed to Canopy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Gateway sits in ESM Flora</a:t>
            </a:r>
            <a:endParaRPr lang="en-US" sz="2600" dirty="0"/>
          </a:p>
        </p:txBody>
      </p:sp>
      <p:pic>
        <p:nvPicPr>
          <p:cNvPr id="3" name="arch-1-context" descr="arch-1-con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40337"/>
            <a:ext cx="8229600" cy="374288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Gateway: device bytes to Leaf observations</a:t>
            </a:r>
            <a:endParaRPr lang="en-US" sz="2600" dirty="0"/>
          </a:p>
        </p:txBody>
      </p:sp>
      <p:pic>
        <p:nvPicPr>
          <p:cNvPr id="3" name="arch-2-dataflow" descr="arch-2-data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040" y="914400"/>
            <a:ext cx="7631920" cy="3794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Fifteen containers, one Compose project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754880"/>
                <a:gridCol w="164592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bus between controllers, parsers and the collector (Kafka 3.9, KRaft)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127.0.0.1:7414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gateway-db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17 store: registry, licence, alerts and observations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127.0.0.1:7412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serial-controller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RS-232 ingress and egress (frames split by idle time)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127.0.0.1:7401 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socket-controller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TCP/UDP ingress: HL7 MLLP, line, raw, UDP multicast and relay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7421, 7422, 9500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feeder-controller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Polls device HTTP endpoints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127.0.0.1:7402 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webhook-controller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Receives HTTP POSTs from devices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parser (one per device)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device-medical-service container, turns frames into observations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observations, measurements and logs to PostgreSQL in batches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127.0.0.1:7405 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Optionally pushes observations to external HTTP receivers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127.0.0.1:7406 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API for observations, measurements and device status (Rust/axum)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:8080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data-api routes for each Leaf (DB-less Kong 3.9)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127.0.0.1:7410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gateway-service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console and API, Haber check-in, licence, parser lifecycle, alerts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127.0.0.1:7400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 HTTPS entry point for the console and /data-api/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 (dev 7443)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the release approved in Haber, with health check and rollback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simulator (demo)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devices for demonstrations and training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127.0.0.1:7420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0584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-dot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30942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527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Rust 2021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1051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Controllers, collector, server, publisher: tokio, axum, rdkafka, tokio-serial</a:t>
            </a:r>
            <a:endParaRPr lang="en-US" sz="1150" dirty="0"/>
          </a:p>
        </p:txBody>
      </p:sp>
      <p:sp>
        <p:nvSpPr>
          <p:cNvPr id="8" name="card"/>
          <p:cNvSpPr/>
          <p:nvPr/>
        </p:nvSpPr>
        <p:spPr>
          <a:xfrm>
            <a:off x="3246120" y="100584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-dot"/>
          <p:cNvSpPr/>
          <p:nvPr/>
        </p:nvSpPr>
        <p:spPr>
          <a:xfrm>
            <a:off x="3429000" y="11887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701" y="130942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2527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Python 3.13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81051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gateway-service (FastAPI 0.118, psycopg 3) and device parsers (aiokafka)</a:t>
            </a:r>
            <a:endParaRPr lang="en-US" sz="1150" dirty="0"/>
          </a:p>
        </p:txBody>
      </p:sp>
      <p:sp>
        <p:nvSpPr>
          <p:cNvPr id="13" name="card"/>
          <p:cNvSpPr/>
          <p:nvPr/>
        </p:nvSpPr>
        <p:spPr>
          <a:xfrm>
            <a:off x="6035040" y="100584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-dot"/>
          <p:cNvSpPr/>
          <p:nvPr/>
        </p:nvSpPr>
        <p:spPr>
          <a:xfrm>
            <a:off x="6217920" y="118872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621" y="130942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2527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Kafka 3.9.1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81051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KRaft single node, topics per pod, 72 h retention</a:t>
            </a:r>
            <a:endParaRPr lang="en-US" sz="1150" dirty="0"/>
          </a:p>
        </p:txBody>
      </p:sp>
      <p:sp>
        <p:nvSpPr>
          <p:cNvPr id="18" name="card"/>
          <p:cNvSpPr/>
          <p:nvPr/>
        </p:nvSpPr>
        <p:spPr>
          <a:xfrm>
            <a:off x="457200" y="283464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-dot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313822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0815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PostgreSQL 17.6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63931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Registry, licence, alerts and observation time series</a:t>
            </a:r>
            <a:endParaRPr lang="en-US" sz="1150" dirty="0"/>
          </a:p>
        </p:txBody>
      </p:sp>
      <p:sp>
        <p:nvSpPr>
          <p:cNvPr id="23" name="card"/>
          <p:cNvSpPr/>
          <p:nvPr/>
        </p:nvSpPr>
        <p:spPr>
          <a:xfrm>
            <a:off x="3246120" y="283464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con-dot"/>
          <p:cNvSpPr/>
          <p:nvPr/>
        </p:nvSpPr>
        <p:spPr>
          <a:xfrm>
            <a:off x="3429000" y="301752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701" y="3138221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69080" y="30815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Kong 3.9 + nginx 1.27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63931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Per-Leaf data-api routes; HTTPS edge with Flora CA certificates</a:t>
            </a:r>
            <a:endParaRPr lang="en-US" sz="1150" dirty="0"/>
          </a:p>
        </p:txBody>
      </p:sp>
      <p:sp>
        <p:nvSpPr>
          <p:cNvPr id="28" name="card"/>
          <p:cNvSpPr/>
          <p:nvPr/>
        </p:nvSpPr>
        <p:spPr>
          <a:xfrm>
            <a:off x="6035040" y="283464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con-dot"/>
          <p:cNvSpPr/>
          <p:nvPr/>
        </p:nvSpPr>
        <p:spPr>
          <a:xfrm>
            <a:off x="6217920" y="301752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621" y="3138221"/>
            <a:ext cx="261518" cy="26151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30815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Docker Compose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63931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One parser container per device; signed, digest-pinned releases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Protocols and security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960120"/>
            <a:ext cx="3977640" cy="36576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card"/>
          <p:cNvSpPr/>
          <p:nvPr/>
        </p:nvSpPr>
        <p:spPr>
          <a:xfrm>
            <a:off x="4709160" y="960120"/>
            <a:ext cx="3977640" cy="36576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Device protocols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HL7 v2 (ORU, IHE PCD-01) over MLLP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Dräger MEDIBUS.X, IACS (M540), Vista CMS link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GE Datex COM 1.2 and DRI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B. Braun BCC (SpaceCom)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JSON push / poll, ASCII key=value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Security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HTTPS edge, certificate from the shared Flora CA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scrypt passwords, HttpOnly 12 h sessions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Admin and operator roles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Bearer gateway key to Haber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Ed25519-signed releases, digest-pinned images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 console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https://&lt;gateway-host&gt;  ·  dev https://localhost:7443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in and roles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First sign-in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Open https://&lt;gateway-host&gt; and sign in.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New gateway: admin / admin (from GATEWAY_ADMIN_USERNAME / _PASSWORD).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Change it at once: gear → Users → My password.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Sessions last 12 hours; a password change signs out other sessions.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4663440" y="100584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icon-dot"/>
          <p:cNvSpPr/>
          <p:nvPr/>
        </p:nvSpPr>
        <p:spPr>
          <a:xfrm>
            <a:off x="4846320" y="11887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12984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4068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Admin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75564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Everything an operator can do, plus device types, manufacturers, users, the Canopy connection and the site/location.</a:t>
            </a:r>
            <a:endParaRPr lang="en-US" sz="1150" dirty="0"/>
          </a:p>
        </p:txBody>
      </p:sp>
      <p:sp>
        <p:nvSpPr>
          <p:cNvPr id="9" name="card"/>
          <p:cNvSpPr/>
          <p:nvPr/>
        </p:nvSpPr>
        <p:spPr>
          <a:xfrm>
            <a:off x="4663440" y="283464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icon-dot"/>
          <p:cNvSpPr/>
          <p:nvPr/>
        </p:nvSpPr>
        <p:spPr>
          <a:xfrm>
            <a:off x="4846320" y="30175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31272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Operator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358444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Devices (add, edit, enable, disable, remove, restart), controllers (start, stop, restart), streams, acknowledging alerts, Haber sync.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tabs run the gateway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0584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-dot"/>
          <p:cNvSpPr/>
          <p:nvPr/>
        </p:nvSpPr>
        <p:spPr>
          <a:xfrm>
            <a:off x="114300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674" y="13203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Overview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2240280"/>
            <a:ext cx="15910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Station and Canopy status, uptime history, licence, controller layers, live device data, logs</a:t>
            </a:r>
            <a:endParaRPr lang="en-US" sz="1150" dirty="0"/>
          </a:p>
        </p:txBody>
      </p:sp>
      <p:sp>
        <p:nvSpPr>
          <p:cNvPr id="8" name="card"/>
          <p:cNvSpPr/>
          <p:nvPr/>
        </p:nvSpPr>
        <p:spPr>
          <a:xfrm>
            <a:off x="2560320" y="100584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-dot"/>
          <p:cNvSpPr/>
          <p:nvPr/>
        </p:nvSpPr>
        <p:spPr>
          <a:xfrm>
            <a:off x="32461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794" y="132039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5176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Devices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724912" y="2240280"/>
            <a:ext cx="15910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Installed devices with inventory data; add, edit, enable, remove; per-device Monitor</a:t>
            </a:r>
            <a:endParaRPr lang="en-US" sz="1150" dirty="0"/>
          </a:p>
        </p:txBody>
      </p:sp>
      <p:sp>
        <p:nvSpPr>
          <p:cNvPr id="13" name="card"/>
          <p:cNvSpPr/>
          <p:nvPr/>
        </p:nvSpPr>
        <p:spPr>
          <a:xfrm>
            <a:off x="4663440" y="100584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-dot"/>
          <p:cNvSpPr/>
          <p:nvPr/>
        </p:nvSpPr>
        <p:spPr>
          <a:xfrm>
            <a:off x="534924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914" y="132039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5488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Streams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828032" y="2240280"/>
            <a:ext cx="15910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Every ingress pod: frames/s, bytes/s, last 200 frames in and out as text or hex</a:t>
            </a:r>
            <a:endParaRPr lang="en-US" sz="1150" dirty="0"/>
          </a:p>
        </p:txBody>
      </p:sp>
      <p:sp>
        <p:nvSpPr>
          <p:cNvPr id="18" name="card"/>
          <p:cNvSpPr/>
          <p:nvPr/>
        </p:nvSpPr>
        <p:spPr>
          <a:xfrm>
            <a:off x="6766560" y="100584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-dot"/>
          <p:cNvSpPr/>
          <p:nvPr/>
        </p:nvSpPr>
        <p:spPr>
          <a:xfrm>
            <a:off x="745236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034" y="132039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Alerts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931152" y="2240280"/>
            <a:ext cx="15910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Active alerts to acknowledge, alert log, delivery status to Canopy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Gear menu: Device types · Manufacturers · Users · Sign out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device in four steps</a:t>
            </a:r>
            <a:endParaRPr lang="en-US" sz="2600" dirty="0"/>
          </a:p>
        </p:txBody>
      </p:sp>
      <p:sp>
        <p:nvSpPr>
          <p:cNvPr id="3" name="step-dot"/>
          <p:cNvSpPr/>
          <p:nvPr/>
        </p:nvSpPr>
        <p:spPr>
          <a:xfrm>
            <a:off x="457200" y="10058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9875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Devices → Add device</a:t>
            </a:r>
            <a:endParaRPr lang="en-US" sz="1350" dirty="0"/>
          </a:p>
        </p:txBody>
      </p:sp>
      <p:sp>
        <p:nvSpPr>
          <p:cNvPr id="6" name="step-dot"/>
          <p:cNvSpPr/>
          <p:nvPr/>
        </p:nvSpPr>
        <p:spPr>
          <a:xfrm>
            <a:off x="457200" y="18745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8562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Fill Device ID, type, pod, Leaf and inventory fields</a:t>
            </a:r>
            <a:endParaRPr lang="en-US" sz="1350" dirty="0"/>
          </a:p>
        </p:txBody>
      </p:sp>
      <p:sp>
        <p:nvSpPr>
          <p:cNvPr id="9" name="step-dot"/>
          <p:cNvSpPr/>
          <p:nvPr/>
        </p:nvSpPr>
        <p:spPr>
          <a:xfrm>
            <a:off x="457200" y="2743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7249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Tick Enabled → Save: type, ID and licence are checked, parser starts</a:t>
            </a:r>
            <a:endParaRPr lang="en-US" sz="1350" dirty="0"/>
          </a:p>
        </p:txBody>
      </p:sp>
      <p:sp>
        <p:nvSpPr>
          <p:cNvPr id="12" name="step-dot"/>
          <p:cNvSpPr/>
          <p:nvPr/>
        </p:nvSpPr>
        <p:spPr>
          <a:xfrm>
            <a:off x="457200" y="36118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5935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Monitor: values within a minute; else open Ingress stream</a:t>
            </a:r>
            <a:endParaRPr lang="en-US" sz="1350" dirty="0"/>
          </a:p>
        </p:txBody>
      </p:sp>
      <p:sp>
        <p:nvSpPr>
          <p:cNvPr id="15" name="card"/>
          <p:cNvSpPr/>
          <p:nvPr/>
        </p:nvSpPr>
        <p:spPr>
          <a:xfrm>
            <a:off x="4663440" y="960120"/>
            <a:ext cx="4023360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8920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Before you start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155448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The device type exists (from Canopy or a local template)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The licence allows the type and has a free slot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The pod (e.g. socket.icu-monitor) exists in gateway.toml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Device ID is unique: letters, digits, . _ - (max 80)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Changing type, pod or options restarts the parser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operations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0584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-dot"/>
          <p:cNvSpPr/>
          <p:nvPr/>
        </p:nvSpPr>
        <p:spPr>
          <a:xfrm>
            <a:off x="658368" y="12618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3716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143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Restart a parser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98448" y="146304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Overview → Live device data → Restart</a:t>
            </a:r>
            <a:endParaRPr lang="en-US" sz="1150" dirty="0"/>
          </a:p>
        </p:txBody>
      </p:sp>
      <p:sp>
        <p:nvSpPr>
          <p:cNvPr id="8" name="card"/>
          <p:cNvSpPr/>
          <p:nvPr/>
        </p:nvSpPr>
        <p:spPr>
          <a:xfrm>
            <a:off x="4663440" y="100584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-dot"/>
          <p:cNvSpPr/>
          <p:nvPr/>
        </p:nvSpPr>
        <p:spPr>
          <a:xfrm>
            <a:off x="4864608" y="126187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3716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04688" y="1143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Enable / disable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504688" y="146304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Devices → Enable/Disable; enabled devices use licence slots</a:t>
            </a:r>
            <a:endParaRPr lang="en-US" sz="1150" dirty="0"/>
          </a:p>
        </p:txBody>
      </p:sp>
      <p:sp>
        <p:nvSpPr>
          <p:cNvPr id="13" name="card"/>
          <p:cNvSpPr/>
          <p:nvPr/>
        </p:nvSpPr>
        <p:spPr>
          <a:xfrm>
            <a:off x="457200" y="219456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-dot"/>
          <p:cNvSpPr/>
          <p:nvPr/>
        </p:nvSpPr>
        <p:spPr>
          <a:xfrm>
            <a:off x="658368" y="24505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56032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98448" y="2331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Stop a controller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298448" y="265176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Overview → Layers → Stop / Start / Restart; stays stopped until started</a:t>
            </a:r>
            <a:endParaRPr lang="en-US" sz="1150" dirty="0"/>
          </a:p>
        </p:txBody>
      </p:sp>
      <p:sp>
        <p:nvSpPr>
          <p:cNvPr id="18" name="card"/>
          <p:cNvSpPr/>
          <p:nvPr/>
        </p:nvSpPr>
        <p:spPr>
          <a:xfrm>
            <a:off x="4663440" y="219456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-dot"/>
          <p:cNvSpPr/>
          <p:nvPr/>
        </p:nvSpPr>
        <p:spPr>
          <a:xfrm>
            <a:off x="4864608" y="245059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25603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04688" y="2331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Look at data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504688" y="265176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Streams for raw frames · Monitor for parsed values · Overview → Logs</a:t>
            </a:r>
            <a:endParaRPr lang="en-US" sz="1150" dirty="0"/>
          </a:p>
        </p:txBody>
      </p:sp>
      <p:sp>
        <p:nvSpPr>
          <p:cNvPr id="23" name="card"/>
          <p:cNvSpPr/>
          <p:nvPr/>
        </p:nvSpPr>
        <p:spPr>
          <a:xfrm>
            <a:off x="457200" y="338328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con-dot"/>
          <p:cNvSpPr/>
          <p:nvPr/>
        </p:nvSpPr>
        <p:spPr>
          <a:xfrm>
            <a:off x="658368" y="36393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74904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98448" y="3520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Sync with Canopy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1298448" y="384048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Overview → License → Sync now (check-in immediately)</a:t>
            </a:r>
            <a:endParaRPr lang="en-US" sz="1150" dirty="0"/>
          </a:p>
        </p:txBody>
      </p:sp>
      <p:sp>
        <p:nvSpPr>
          <p:cNvPr id="28" name="card"/>
          <p:cNvSpPr/>
          <p:nvPr/>
        </p:nvSpPr>
        <p:spPr>
          <a:xfrm>
            <a:off x="4663440" y="338328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con-dot"/>
          <p:cNvSpPr/>
          <p:nvPr/>
        </p:nvSpPr>
        <p:spPr>
          <a:xfrm>
            <a:off x="4864608" y="363931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36" y="3749040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504688" y="3520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Remove a device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5504688" y="384048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Devices → Remove; parser stops, stored observations are kept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and alerts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005840"/>
                <a:gridCol w="3749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Raised when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Canopy connection lost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good check-in within 3 × the sync interval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 down: &lt;name&gt;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 /status unreachable or container stopped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data from &lt;device&gt;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 device sent nothing for 120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service was not running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on start when the last sample is more than 2 min 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29718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 status sample per lane every 30 s, kept 7 days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Opens after 2 consecutive down samples; resolves on the first OK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Disabled devices and stopped controllers report stopped, not down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 change is pushed to the Canopy gateway alert inbox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Canopy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Licence · configuration sync · clone · Leaf assignment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20 seconds the gateway checks in</a:t>
            </a:r>
            <a:endParaRPr lang="en-US" sz="2600" dirty="0"/>
          </a:p>
        </p:txBody>
      </p:sp>
      <p:pic>
        <p:nvPicPr>
          <p:cNvPr id="3" name="arch-3-control-loop" descr="arch-3-control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66947"/>
            <a:ext cx="8229600" cy="34896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Connect, license, locate and clone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0584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-dot"/>
          <p:cNvSpPr/>
          <p:nvPr/>
        </p:nvSpPr>
        <p:spPr>
          <a:xfrm>
            <a:off x="658368" y="12070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316736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252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Connect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783080"/>
            <a:ext cx="36393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Overview → Station → Canopy connection: address, Gateway ID, Gateway key. Saving checks in at once.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4663440" y="100584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-dot"/>
          <p:cNvSpPr/>
          <p:nvPr/>
        </p:nvSpPr>
        <p:spPr>
          <a:xfrm>
            <a:off x="4864608" y="120700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31673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04688" y="1252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Licence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64608" y="1783080"/>
            <a:ext cx="36393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Max devices, allowed types, expiry. Kept while Canopy is offline; revoked or expired stops all parsers.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57200" y="283464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-dot"/>
          <p:cNvSpPr/>
          <p:nvPr/>
        </p:nvSpPr>
        <p:spPr>
          <a:xfrm>
            <a:off x="658368" y="30358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14553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98448" y="3081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Location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58368" y="3611880"/>
            <a:ext cx="36393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Set at Canopy → Topology → gateway → Set location…; applied at the next check-in.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4663440" y="283464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-dot"/>
          <p:cNvSpPr/>
          <p:nvPr/>
        </p:nvSpPr>
        <p:spPr>
          <a:xfrm>
            <a:off x="4864608" y="3035808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14553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04688" y="3081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Clone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864608" y="3611880"/>
            <a:ext cx="36393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Canopy snapshots each configuration; clone it to a new gateway, which receives it on first check-in.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 devices to a Leaf with the gateway wizard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Test the data-api URL the gateway reported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2560320" y="118872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743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9659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Choose devices for this Leaf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663440" y="118872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4632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9659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Assignment travels via Canopy, applies at next check-in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6766560" y="118872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9494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9659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Verify values from the last 60 s, save the source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520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 the Leaf: Ward settings → Gateway wizard (permission config.manage). The Leaf then reads https://&lt;gateway&gt;/data-api/… filtered by its leaf_id.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Supported device types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96112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566160"/>
                <a:gridCol w="1005840"/>
                <a:gridCol w="1371600"/>
              </a:tblGrid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hl7-patient-monitor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monitor (HL7 v2 / IHE PCD-01)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hl7v2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hidro-hl7-monitor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Hidro shared HL7 monitor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hidro_hl7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draeger-iacs-m540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Dräger M540 (IACS UDP)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iacs_m540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draeger-vista-120s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Dräger Vista 120 S (CMS link, TCP)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draeger_vista_s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draeger-medibus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Dräger MEDIBUS.X (RS-232)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medibus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ge-carestation-750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 Carestation 750 (COM 1.2)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ge_carestation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ge-aisys-cs2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 Aisys CS2 (COM 1.2)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ge_carestation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ge-bx50-dri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 Bx50 / B650 (DRI)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ge_dri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ge-s5-dri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 S/5 (DRI)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ge_dri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ge-aisys-dri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 Aisys (legacy DRI)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ge_dri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bbraun-space-bcc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Braun SpaceCom (BCC over TCP)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bbraun_bcc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json-anesthesia-machine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Anaesthesia machine (JSON push)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json_fields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http-ventilator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ICU ventilator (HTTP poll)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json_fields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serial-temp-module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/ CVP module (RS-232, polled)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ascii_kv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acme-t200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Acme T-200 temperature / CVP (RS-232)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acme_t200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Relational diagrams · solid = foreign key · dashed = logical link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DB · device registry</a:t>
            </a:r>
            <a:endParaRPr lang="en-US" sz="2600" dirty="0"/>
          </a:p>
        </p:txBody>
      </p:sp>
      <p:pic>
        <p:nvPicPr>
          <p:cNvPr id="3" name="er-1-device-registry" descr="er-1-device-regis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772" y="868680"/>
            <a:ext cx="6738457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DB · licence, site, Canopy link, users</a:t>
            </a:r>
            <a:endParaRPr lang="en-US" sz="2600" dirty="0"/>
          </a:p>
        </p:txBody>
      </p:sp>
      <p:pic>
        <p:nvPicPr>
          <p:cNvPr id="3" name="er-2-license-site-auth" descr="er-2-license-site-au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9618" y="868680"/>
            <a:ext cx="5624763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DB · observations (time series)</a:t>
            </a:r>
            <a:endParaRPr lang="en-US" sz="2600" dirty="0"/>
          </a:p>
        </p:txBody>
      </p:sp>
      <p:pic>
        <p:nvPicPr>
          <p:cNvPr id="3" name="er-3-observations" descr="er-3-observ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8517" y="868680"/>
            <a:ext cx="6266966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DB · monitoring, alerts, operations</a:t>
            </a:r>
            <a:endParaRPr lang="en-US" sz="2600" dirty="0"/>
          </a:p>
        </p:txBody>
      </p:sp>
      <p:pic>
        <p:nvPicPr>
          <p:cNvPr id="3" name="er-4-monitoring-alerts" descr="er-4-monitoring-ale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5924" y="868680"/>
            <a:ext cx="5912151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Canopy DB · gateway configuration and alerts</a:t>
            </a:r>
            <a:endParaRPr lang="en-US" sz="2600" dirty="0"/>
          </a:p>
        </p:txBody>
      </p:sp>
      <p:pic>
        <p:nvPicPr>
          <p:cNvPr id="3" name="er-5-canopy-gateway" descr="er-5-canopy-gate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7489" y="868680"/>
            <a:ext cx="6189022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Haber SQLite · gateway registry and releases</a:t>
            </a:r>
            <a:endParaRPr lang="en-US" sz="2600" dirty="0"/>
          </a:p>
        </p:txBody>
      </p:sp>
      <p:pic>
        <p:nvPicPr>
          <p:cNvPr id="3" name="er-6-haber" descr="er-6-ha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431" y="868680"/>
            <a:ext cx="7747138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topics · message envelopes</a:t>
            </a:r>
            <a:endParaRPr lang="en-US" sz="2600" dirty="0"/>
          </a:p>
        </p:txBody>
      </p:sp>
      <p:pic>
        <p:nvPicPr>
          <p:cNvPr id="3" name="er-7-kafka-messages" descr="er-7-kafka-mess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738" y="868680"/>
            <a:ext cx="7526524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and ports</a:t>
            </a:r>
            <a:endParaRPr lang="en-US" sz="2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96112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120640"/>
                <a:gridCol w="128016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 (dev 7443)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edge: admin console and /data-api/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gateway-service admin (HTTP)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localhost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7401–7406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Controller, collector and publisher /status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localhost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Kong data-api (HTTP)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localhost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7412 / 7414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/ Kafka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localhost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7421 / 7422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HL7 MLLP OR / ICU monitors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webhook (HTTP POST)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9500 (UDP 9610)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Dräger Vista 120 S CMS link (beacon)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2050 UDP · 2000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Dräger M540 data · discovery multicast 224.127.1.254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M540 relay (udp_relay framing)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4001 (outbound)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Braun BCC SpaceCom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Simulator (demo profile only)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localhost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Canopy 443 (dev 9443)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Haber check-in at /api/haber/ (outbound)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settings in flora-gateway/.env</a:t>
            </a:r>
            <a:endParaRPr lang="en-US" sz="2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96112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286000"/>
                <a:gridCol w="3017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FLORA_GATEWAY_ID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gateway-hospital-01-a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identity, stamped on every frame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HABER_URL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https://host.docker.internal:9443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Canopy / Haber address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HABER_GATEWAY_TOKEN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(demo token)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key sent as Bearer token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GATEWAY_SYNC_INTERVAL_SEC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Check-in interval in seconds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GATEWAY_LICENSE_REQUIRED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a valid licence, parsers do not run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GATEWAY_DATA_API_URL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http://host.docker.internal:7410/data-api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data-api URL reported to Canopy for the Leaf wizard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GATEWAY_ADMIN_USERNAME / _PASSWORD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/ 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admin account (only when no users exist)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GATEWAY_SESSION_HOURS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 session lifetime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GATEWAY_ADMIN_KEY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(empty)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x-gateway-key header for scripted write calls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FLORA_GATEWAY_CONFIG_FILE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gateway.toml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 and pod configuration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FLORA_GATEWAY_SEED_FILE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instances.json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First-start device seed (ignored once Canopy config applied)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FLORA_GATEWAY_DB_PASSWORD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flora-gateway-local-only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password — change in production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Releases arrive signed and approved</a:t>
            </a:r>
            <a:endParaRPr lang="en-US" sz="2600" dirty="0"/>
          </a:p>
        </p:txBody>
      </p:sp>
      <p:sp>
        <p:nvSpPr>
          <p:cNvPr id="3" name="icon-dot"/>
          <p:cNvSpPr/>
          <p:nvPr/>
        </p:nvSpPr>
        <p:spPr>
          <a:xfrm>
            <a:off x="914400" y="11887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1331366"/>
            <a:ext cx="309067" cy="30906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8745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Root signs</a:t>
            </a:r>
            <a:endParaRPr lang="en-US" sz="1300" dirty="0"/>
          </a:p>
        </p:txBody>
      </p:sp>
      <p:sp>
        <p:nvSpPr>
          <p:cNvPr id="6" name="flow-arrow"/>
          <p:cNvSpPr/>
          <p:nvPr/>
        </p:nvSpPr>
        <p:spPr>
          <a:xfrm>
            <a:off x="1664208" y="1371600"/>
            <a:ext cx="365760" cy="22860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icon-dot"/>
          <p:cNvSpPr/>
          <p:nvPr/>
        </p:nvSpPr>
        <p:spPr>
          <a:xfrm>
            <a:off x="2615184" y="11887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830" y="1331366"/>
            <a:ext cx="309067" cy="30906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157984" y="18745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Haber mirrors</a:t>
            </a:r>
            <a:endParaRPr lang="en-US" sz="1300" dirty="0"/>
          </a:p>
        </p:txBody>
      </p:sp>
      <p:sp>
        <p:nvSpPr>
          <p:cNvPr id="10" name="flow-arrow"/>
          <p:cNvSpPr/>
          <p:nvPr/>
        </p:nvSpPr>
        <p:spPr>
          <a:xfrm>
            <a:off x="3364992" y="1371600"/>
            <a:ext cx="365760" cy="22860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icon-dot"/>
          <p:cNvSpPr/>
          <p:nvPr/>
        </p:nvSpPr>
        <p:spPr>
          <a:xfrm>
            <a:off x="4315968" y="11887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614" y="1331366"/>
            <a:ext cx="309067" cy="309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58768" y="18745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Hospital approves</a:t>
            </a:r>
            <a:endParaRPr lang="en-US" sz="1300" dirty="0"/>
          </a:p>
        </p:txBody>
      </p:sp>
      <p:sp>
        <p:nvSpPr>
          <p:cNvPr id="14" name="flow-arrow"/>
          <p:cNvSpPr/>
          <p:nvPr/>
        </p:nvSpPr>
        <p:spPr>
          <a:xfrm>
            <a:off x="5065776" y="1371600"/>
            <a:ext cx="365760" cy="22860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icon-dot"/>
          <p:cNvSpPr/>
          <p:nvPr/>
        </p:nvSpPr>
        <p:spPr>
          <a:xfrm>
            <a:off x="6016752" y="11887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398" y="1331366"/>
            <a:ext cx="309067" cy="309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559552" y="18745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Updater applies</a:t>
            </a:r>
            <a:endParaRPr lang="en-US" sz="1300" dirty="0"/>
          </a:p>
        </p:txBody>
      </p:sp>
      <p:sp>
        <p:nvSpPr>
          <p:cNvPr id="18" name="flow-arrow"/>
          <p:cNvSpPr/>
          <p:nvPr/>
        </p:nvSpPr>
        <p:spPr>
          <a:xfrm>
            <a:off x="6766560" y="1371600"/>
            <a:ext cx="365760" cy="22860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icon-dot"/>
          <p:cNvSpPr/>
          <p:nvPr/>
        </p:nvSpPr>
        <p:spPr>
          <a:xfrm>
            <a:off x="7717536" y="11887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0182" y="1331366"/>
            <a:ext cx="309067" cy="309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260336" y="18745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Health check / rollback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Images are pinned by sha256 digest and verified against the Root key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Health checks within 180 s; automatic rollback if unhealthy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Parser images upgrade one device per check-in cycle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Optional maintenance window: FLORA_UPDATER_WINDOW=HH:MM-HH:MM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</a:t>
            </a:r>
            <a:endParaRPr lang="en-US" sz="2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96112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"unknown device type …; sync from Haber first"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type is not in the catalogue yet. Check the Canopy connection and the licence, then Overview → License → Sync now.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 "device license invalid / not licensed / device limit reached"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 problem: expired, revoked, type not allowed or max_devices reached. Ask the Canopy administrator; Root issues licences per hospital.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Canopy shows 503 "no verified license bundle"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Canopy has no verified bundle from Flora Root yet: a Canopy-side issue.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"No data from &lt;device&gt;"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Streams: are frames arriving on the pod, are polls going out? Check cable, baud/parity, port, source IP and that the controller is running.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 shows Stopped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stays stopped across restarts until you press Start (or run docker compose up).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port not visible (Windows)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Desktop cannot pass COM ports. Run serial/socket controllers natively and point SERIAL_ADMIN_URL / SOCKET_ADMIN_URL to them.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Dräger M540 silent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Multicast does not cross subnets or Docker bridges: use tools/iacs-relay/relay.py with udp_relay framing.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Edits to instances.json have no effect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only a first-start seed. Edit devices in the console.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Console https://&lt;gateway&gt;  ·  data-api /data-api/&lt;leaf-id&gt;/api/observations  ·  full manual and diagrams in docs/gateway-manual/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M Flora Gateway">
  <a:themeElements>
    <a:clrScheme name="ESM Flora Gateway">
      <a:dk1>
        <a:srgbClr val="14342B"/>
      </a:dk1>
      <a:lt1>
        <a:srgbClr val="FFFFFF"/>
      </a:lt1>
      <a:dk2>
        <a:srgbClr val="1F6F5C"/>
      </a:dk2>
      <a:lt2>
        <a:srgbClr val="EEF5F1"/>
      </a:lt2>
      <a:accent1>
        <a:srgbClr val="1F6F5C"/>
      </a:accent1>
      <a:accent2>
        <a:srgbClr val="B5651D"/>
      </a:accent2>
      <a:accent3>
        <a:srgbClr val="1E4E79"/>
      </a:accent3>
      <a:accent4>
        <a:srgbClr val="6B4F2A"/>
      </a:accent4>
      <a:accent5>
        <a:srgbClr val="444C8A"/>
      </a:accent5>
      <a:accent6>
        <a:srgbClr val="9B2C2C"/>
      </a:accent6>
      <a:hlink>
        <a:srgbClr val="1E4E79"/>
      </a:hlink>
      <a:folHlink>
        <a:srgbClr val="7A4E9C"/>
      </a:folHlink>
    </a:clrScheme>
    <a:fontScheme name="ESM Flora Gatewa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Flora Gateway User Manual</dc:title>
  <dc:subject>PptxGenJS Presentation</dc:subject>
  <dc:creator>ESM Flora</dc:creator>
  <cp:lastModifiedBy>ESM Flora</cp:lastModifiedBy>
  <cp:revision>1</cp:revision>
  <dcterms:created xsi:type="dcterms:W3CDTF">2026-10-13T04:45:09Z</dcterms:created>
  <dcterms:modified xsi:type="dcterms:W3CDTF">2026-10-13T04:45:09Z</dcterms:modified>
</cp:coreProperties>
</file>