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d8bfc9e-114d-0d0d-003b-3265f7dd131d}">
          <p14:sldIdLst>
            <p14:sldId id="256"/>
            <p14:sldId id="257"/>
            <p14:sldId id="258"/>
          </p14:sldIdLst>
        </p14:section>
        <p14:section name="Overview" id="{200caa24-37be-6eb6-9094-d7cca2ff31ad}">
          <p14:sldIdLst>
            <p14:sldId id="259"/>
            <p14:sldId id="260"/>
            <p14:sldId id="261"/>
          </p14:sldIdLst>
        </p14:section>
        <p14:section name="Technology stack" id="{f06085d1-8706-404f-d17d-7ff56382eec1}">
          <p14:sldIdLst>
            <p14:sldId id="262"/>
            <p14:sldId id="263"/>
          </p14:sldIdLst>
        </p14:section>
        <p14:section name="Using the console" id="{559fe4be-77c6-7223-3661-c01941c4d887}">
          <p14:sldIdLst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Canopy integration" id="{3dc71a0e-db90-9847-2e96-d38a88f9bba0}">
          <p14:sldIdLst>
            <p14:sldId id="270"/>
            <p14:sldId id="271"/>
            <p14:sldId id="272"/>
            <p14:sldId id="273"/>
            <p14:sldId id="274"/>
          </p14:sldIdLst>
        </p14:section>
        <p14:section name="Devices at Canopy" id="{b9f8698b-13e0-7047-5144-1769b916355a}">
          <p14:sldIdLst>
            <p14:sldId id="275"/>
            <p14:sldId id="276"/>
            <p14:sldId id="277"/>
            <p14:sldId id="278"/>
          </p14:sldIdLst>
        </p14:section>
        <p14:section name="Data structures" id="{d2d127b5-cf4f-1cb8-6d51-cfb650bb7b44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Reference" id="{0a7e1664-7ed0-be88-b0ef-acd5c1173eaa}">
          <p14:sldIdLst>
            <p14:sldId id="289"/>
            <p14:sldId id="290"/>
            <p14:sldId id="291"/>
            <p14:sldId id="292"/>
            <p14:sldId id="2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Root issues licences and releases; Canopy (with Haber) manages gateways; Leafs read device data from the Gateway on the local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Controller -&gt; gw.raw.&lt;pod&gt; -&gt; parser -&gt; gw.obs -&gt; collector -&gt; PostgreSQL -&gt; server -&gt; Kong /data-api/&lt;leaf&gt; -&gt; nginx edge -&gt; Leaf.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ESM Flora Gateway · User Manual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 Gateway User Manual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Medical device integration for OR, ICU and bedside workstations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ESM FLORA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Manual 1.1 · gateway release 0.2.4 + Devices  · 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manual covers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109728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dot"/>
          <p:cNvSpPr/>
          <p:nvPr/>
        </p:nvSpPr>
        <p:spPr>
          <a:xfrm>
            <a:off x="68580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8132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25880" y="1280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Overview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60934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Where the Gateway sits, its components and data flow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4663440" y="109728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dot"/>
          <p:cNvSpPr/>
          <p:nvPr/>
        </p:nvSpPr>
        <p:spPr>
          <a:xfrm>
            <a:off x="4892040" y="1371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768" y="14813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32120" y="1280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Technology stack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5532120" y="160934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Rust, Python, Kafka, PostgreSQL, Kong, nginx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457200" y="228600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dot"/>
          <p:cNvSpPr/>
          <p:nvPr/>
        </p:nvSpPr>
        <p:spPr>
          <a:xfrm>
            <a:off x="685800" y="2560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2670048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2588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Using the console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325880" y="279806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Sign-in, roles, devices, streams, alerts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663440" y="228600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icon-dot"/>
          <p:cNvSpPr/>
          <p:nvPr/>
        </p:nvSpPr>
        <p:spPr>
          <a:xfrm>
            <a:off x="4892040" y="25603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2670048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32120" y="24688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Canopy integration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5532120" y="279806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Licence, configuration sync, clone, Leaf wizard</a:t>
            </a:r>
            <a:endParaRPr lang="en-US" sz="1200" dirty="0"/>
          </a:p>
        </p:txBody>
      </p:sp>
      <p:sp>
        <p:nvSpPr>
          <p:cNvPr id="23" name="card"/>
          <p:cNvSpPr/>
          <p:nvPr/>
        </p:nvSpPr>
        <p:spPr>
          <a:xfrm>
            <a:off x="457200" y="347472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icon-dot"/>
          <p:cNvSpPr/>
          <p:nvPr/>
        </p:nvSpPr>
        <p:spPr>
          <a:xfrm>
            <a:off x="685800" y="3749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858768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325880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Devices and data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1325880" y="398678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Registry, device types, activity; relational diagrams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4663440" y="347472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icon-dot"/>
          <p:cNvSpPr/>
          <p:nvPr/>
        </p:nvSpPr>
        <p:spPr>
          <a:xfrm>
            <a:off x="4892040" y="3749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1768" y="3858768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32120" y="36576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Reference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5532120" y="3986784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Ports, settings, security, updates, troubleshooting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device signal to charted observation</a:t>
            </a:r>
            <a:endParaRPr lang="en-US" sz="2600" dirty="0"/>
          </a:p>
        </p:txBody>
      </p:sp>
      <p:sp>
        <p:nvSpPr>
          <p:cNvPr id="3" name="icon-dot"/>
          <p:cNvSpPr/>
          <p:nvPr/>
        </p:nvSpPr>
        <p:spPr>
          <a:xfrm>
            <a:off x="548640" y="10515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161288"/>
            <a:ext cx="237744" cy="23774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88720" y="1097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Connect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2926080" y="10972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RS-232, HL7 v2 / MLLP, UDP multicast, TCP and HTTP poll / push</a:t>
            </a:r>
            <a:endParaRPr lang="en-US" sz="1400" dirty="0"/>
          </a:p>
        </p:txBody>
      </p:sp>
      <p:sp>
        <p:nvSpPr>
          <p:cNvPr id="7" name="icon-dot"/>
          <p:cNvSpPr/>
          <p:nvPr/>
        </p:nvSpPr>
        <p:spPr>
          <a:xfrm>
            <a:off x="548640" y="1783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9280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188720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Parse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2926080" y="1828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isolated parser container per device produces Flora observations</a:t>
            </a:r>
            <a:endParaRPr lang="en-US" sz="1400" dirty="0"/>
          </a:p>
        </p:txBody>
      </p:sp>
      <p:sp>
        <p:nvSpPr>
          <p:cNvPr id="11" name="icon-dot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2432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188720" y="25603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Store &amp; serve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2926080" y="25603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Local PostgreSQL store; each Leaf reads its own devices via the data-api</a:t>
            </a:r>
            <a:endParaRPr lang="en-US" sz="1400" dirty="0"/>
          </a:p>
        </p:txBody>
      </p:sp>
      <p:sp>
        <p:nvSpPr>
          <p:cNvPr id="15" name="icon-dot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55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188720" y="32918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Licence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2926080" y="3291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Device licence, catalogue and parser images come from Haber in Canopy</a:t>
            </a:r>
            <a:endParaRPr lang="en-US" sz="1400" dirty="0"/>
          </a:p>
        </p:txBody>
      </p:sp>
      <p:sp>
        <p:nvSpPr>
          <p:cNvPr id="19" name="icon-dot"/>
          <p:cNvSpPr/>
          <p:nvPr/>
        </p:nvSpPr>
        <p:spPr>
          <a:xfrm>
            <a:off x="548640" y="3977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08736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4023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Watch</a:t>
            </a:r>
            <a:endParaRPr lang="en-US" sz="1700" dirty="0"/>
          </a:p>
        </p:txBody>
      </p:sp>
      <p:sp>
        <p:nvSpPr>
          <p:cNvPr id="22" name="Text 15"/>
          <p:cNvSpPr txBox="1"/>
          <p:nvPr/>
        </p:nvSpPr>
        <p:spPr>
          <a:xfrm>
            <a:off x="2926080" y="40233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Status history for every lane, alerts pushed to Canopy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Gateway sits in ESM Flora</a:t>
            </a:r>
            <a:endParaRPr lang="en-US" sz="2600" dirty="0"/>
          </a:p>
        </p:txBody>
      </p:sp>
      <p:pic>
        <p:nvPicPr>
          <p:cNvPr id="3" name="arch-1-context" descr="arch-1-c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40337"/>
            <a:ext cx="8229600" cy="374288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Gateway: device bytes to Leaf observations</a:t>
            </a:r>
            <a:endParaRPr lang="en-US" sz="2600" dirty="0"/>
          </a:p>
        </p:txBody>
      </p:sp>
      <p:pic>
        <p:nvPicPr>
          <p:cNvPr id="3" name="arch-2-dataflow" descr="arch-2-data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6040" y="914400"/>
            <a:ext cx="7631920" cy="3794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Fifteen containers, one Compose project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754880"/>
                <a:gridCol w="1645920"/>
              </a:tblGrid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kafka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 bus between controllers, parsers and the collector (Kafka 3.9, KRaft)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127.0.0.1:7414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gateway-db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 store: registry, licence, alerts and observations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127.0.0.1:7412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serial-controller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RS-232 ingress and egress (frames split by idle time)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127.0.0.1:7401 admin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socket-controller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TCP/UDP ingress: HL7 MLLP, line, raw, UDP multicast and relay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7421, 7422, 9500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feeder-controller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Polls device HTTP endpoints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127.0.0.1:7402 admin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webhook-controller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Receives HTTP POSTs from devices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parser (one per device)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device-medical-service container, turns frames into observations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Writes observations, measurements and logs to PostgreSQL in batches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127.0.0.1:7405 admin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Optionally pushes observations to external HTTP receivers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127.0.0.1:7406 admin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API for observations, measurements and device status (Rust/axum)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:8080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data-api routes for each Leaf (DB-less Kong 3.9)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127.0.0.1:7410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gateway-service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console and API, Haber check-in, licence, parser lifecycle, alerts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127.0.0.1:7400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nginx HTTPS entry point for the console and /data-api/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443 (dev 7443)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Applies the release approved in Haber, with health check and rollback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outbound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simulator (demo)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Synthetic devices for demonstrations and training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127.0.0.1:7420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1005840"/>
            <a:ext cx="26060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dot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1" y="130942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Rust 2021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81051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Controllers, collector, server, publisher: tokio, axum, rdkafka, tokio-serial</a:t>
            </a:r>
            <a:endParaRPr lang="en-US" sz="1150" dirty="0"/>
          </a:p>
        </p:txBody>
      </p:sp>
      <p:sp>
        <p:nvSpPr>
          <p:cNvPr id="8" name="card"/>
          <p:cNvSpPr/>
          <p:nvPr/>
        </p:nvSpPr>
        <p:spPr>
          <a:xfrm>
            <a:off x="3246120" y="1005840"/>
            <a:ext cx="26060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dot"/>
          <p:cNvSpPr/>
          <p:nvPr/>
        </p:nvSpPr>
        <p:spPr>
          <a:xfrm>
            <a:off x="3429000" y="1188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701" y="1309421"/>
            <a:ext cx="261518" cy="26151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6908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Python 3.13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29000" y="181051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gateway-service (FastAPI 0.118, psycopg 3) and device parsers (aiokafka)</a:t>
            </a:r>
            <a:endParaRPr lang="en-US" sz="1150" dirty="0"/>
          </a:p>
        </p:txBody>
      </p:sp>
      <p:sp>
        <p:nvSpPr>
          <p:cNvPr id="13" name="card"/>
          <p:cNvSpPr/>
          <p:nvPr/>
        </p:nvSpPr>
        <p:spPr>
          <a:xfrm>
            <a:off x="6035040" y="1005840"/>
            <a:ext cx="26060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dot"/>
          <p:cNvSpPr/>
          <p:nvPr/>
        </p:nvSpPr>
        <p:spPr>
          <a:xfrm>
            <a:off x="6217920" y="118872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8621" y="1309421"/>
            <a:ext cx="261518" cy="26151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58000" y="12527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Kafka 3.9.1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181051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KRaft single node, topics per pod, 72 h retention</a:t>
            </a:r>
            <a:endParaRPr lang="en-US" sz="1150" dirty="0"/>
          </a:p>
        </p:txBody>
      </p:sp>
      <p:sp>
        <p:nvSpPr>
          <p:cNvPr id="18" name="card"/>
          <p:cNvSpPr/>
          <p:nvPr/>
        </p:nvSpPr>
        <p:spPr>
          <a:xfrm>
            <a:off x="457200" y="2834640"/>
            <a:ext cx="26060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icon-dot"/>
          <p:cNvSpPr/>
          <p:nvPr/>
        </p:nvSpPr>
        <p:spPr>
          <a:xfrm>
            <a:off x="640080" y="3017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3138221"/>
            <a:ext cx="261518" cy="26151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0815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PostgreSQL 17.6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63931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Registry, licence, alerts and observation time series</a:t>
            </a:r>
            <a:endParaRPr lang="en-US" sz="1150" dirty="0"/>
          </a:p>
        </p:txBody>
      </p:sp>
      <p:sp>
        <p:nvSpPr>
          <p:cNvPr id="23" name="card"/>
          <p:cNvSpPr/>
          <p:nvPr/>
        </p:nvSpPr>
        <p:spPr>
          <a:xfrm>
            <a:off x="3246120" y="2834640"/>
            <a:ext cx="26060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icon-dot"/>
          <p:cNvSpPr/>
          <p:nvPr/>
        </p:nvSpPr>
        <p:spPr>
          <a:xfrm>
            <a:off x="3429000" y="30175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9701" y="3138221"/>
            <a:ext cx="261518" cy="26151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69080" y="30815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Kong 3.9 + nginx 1.27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29000" y="363931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Per-Leaf data-api routes; HTTPS edge with Flora CA certificates</a:t>
            </a:r>
            <a:endParaRPr lang="en-US" sz="1150" dirty="0"/>
          </a:p>
        </p:txBody>
      </p:sp>
      <p:sp>
        <p:nvSpPr>
          <p:cNvPr id="28" name="card"/>
          <p:cNvSpPr/>
          <p:nvPr/>
        </p:nvSpPr>
        <p:spPr>
          <a:xfrm>
            <a:off x="6035040" y="2834640"/>
            <a:ext cx="260604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icon-dot"/>
          <p:cNvSpPr/>
          <p:nvPr/>
        </p:nvSpPr>
        <p:spPr>
          <a:xfrm>
            <a:off x="6217920" y="301752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8621" y="3138221"/>
            <a:ext cx="261518" cy="26151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58000" y="3081528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Docker Compose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17920" y="3639312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One parser container per device; signed, digest-pinned releases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Protocols and security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960120"/>
            <a:ext cx="3977640" cy="36576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card"/>
          <p:cNvSpPr/>
          <p:nvPr/>
        </p:nvSpPr>
        <p:spPr>
          <a:xfrm>
            <a:off x="4709160" y="960120"/>
            <a:ext cx="3977640" cy="3657600"/>
          </a:xfrm>
          <a:prstGeom prst="roundRect">
            <a:avLst>
              <a:gd name="adj" fmla="val 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85800" y="1097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Device protocols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5544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HL7 v2 (ORU, IHE PCD-01) over MLLP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Dräger MEDIBUS.X, IACS (M540), Vista CMS link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 Datex COM 1.2 and DRI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B. Braun BCC (SpaceCom)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JSON push / poll, ASCII key=value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937760" y="1097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Security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554480"/>
            <a:ext cx="3566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HTTPS edge, certificate from the shared Flora CA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scrypt passwords, HttpOnly 12 h sessions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Admin and operator roles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Bearer gateway key to Haber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Ed25519-signed releases, digest-pinned images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the console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https://&lt;gateway-host&gt;  ·  dev https://localhost:7443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 in and roles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3931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First sign-in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Open https://&lt;gateway-host&gt; and sign in.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New gateway: admin / admin (from GATEWAY_ADMIN_USERNAME / _PASSWORD).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Change it at once: gear → Users → My password.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Sessions last 12 hours; a password change signs out other sessions.</a:t>
            </a:r>
            <a:endParaRPr lang="en-US" sz="1300" dirty="0"/>
          </a:p>
        </p:txBody>
      </p:sp>
      <p:sp>
        <p:nvSpPr>
          <p:cNvPr id="4" name="card"/>
          <p:cNvSpPr/>
          <p:nvPr/>
        </p:nvSpPr>
        <p:spPr>
          <a:xfrm>
            <a:off x="4663440" y="10058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icon-dot"/>
          <p:cNvSpPr/>
          <p:nvPr/>
        </p:nvSpPr>
        <p:spPr>
          <a:xfrm>
            <a:off x="4846320" y="11887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6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56048" y="1298448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40680" y="1234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Admin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175564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Everything an operator can do, plus device types, manufacturers, users, the Canopy connection and the site/location.</a:t>
            </a:r>
            <a:endParaRPr lang="en-US" sz="1150" dirty="0"/>
          </a:p>
        </p:txBody>
      </p:sp>
      <p:sp>
        <p:nvSpPr>
          <p:cNvPr id="9" name="card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-dot"/>
          <p:cNvSpPr/>
          <p:nvPr/>
        </p:nvSpPr>
        <p:spPr>
          <a:xfrm>
            <a:off x="4846320" y="301752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312724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40680" y="3063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Operator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846320" y="358444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Devices (add, edit, enable, disable, remove, restart), controllers (start, stop, restart), streams, acknowledging alerts, Haber sync.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tabs run the gateway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100584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dot"/>
          <p:cNvSpPr/>
          <p:nvPr/>
        </p:nvSpPr>
        <p:spPr>
          <a:xfrm>
            <a:off x="114300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4674" y="132039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Overview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2240280"/>
            <a:ext cx="15910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Station and Canopy status, uptime history, licence, controller layers, live device data, logs</a:t>
            </a:r>
            <a:endParaRPr lang="en-US" sz="1150" dirty="0"/>
          </a:p>
        </p:txBody>
      </p:sp>
      <p:sp>
        <p:nvSpPr>
          <p:cNvPr id="8" name="card"/>
          <p:cNvSpPr/>
          <p:nvPr/>
        </p:nvSpPr>
        <p:spPr>
          <a:xfrm>
            <a:off x="2560320" y="100584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dot"/>
          <p:cNvSpPr/>
          <p:nvPr/>
        </p:nvSpPr>
        <p:spPr>
          <a:xfrm>
            <a:off x="324612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794" y="132039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51760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Devices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2724912" y="2240280"/>
            <a:ext cx="15910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Installed devices with inventory data; add, edit, enable, remove; per-device Monitor</a:t>
            </a:r>
            <a:endParaRPr lang="en-US" sz="1150" dirty="0"/>
          </a:p>
        </p:txBody>
      </p:sp>
      <p:sp>
        <p:nvSpPr>
          <p:cNvPr id="13" name="card"/>
          <p:cNvSpPr/>
          <p:nvPr/>
        </p:nvSpPr>
        <p:spPr>
          <a:xfrm>
            <a:off x="4663440" y="100584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dot"/>
          <p:cNvSpPr/>
          <p:nvPr/>
        </p:nvSpPr>
        <p:spPr>
          <a:xfrm>
            <a:off x="534924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0914" y="132039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54880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Streams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4828032" y="2240280"/>
            <a:ext cx="15910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Every ingress pod: frames/s, bytes/s, last 200 frames in and out as text or hex</a:t>
            </a:r>
            <a:endParaRPr lang="en-US" sz="1150" dirty="0"/>
          </a:p>
        </p:txBody>
      </p:sp>
      <p:sp>
        <p:nvSpPr>
          <p:cNvPr id="18" name="card"/>
          <p:cNvSpPr/>
          <p:nvPr/>
        </p:nvSpPr>
        <p:spPr>
          <a:xfrm>
            <a:off x="6766560" y="1005840"/>
            <a:ext cx="1920240" cy="274320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icon-dot"/>
          <p:cNvSpPr/>
          <p:nvPr/>
        </p:nvSpPr>
        <p:spPr>
          <a:xfrm>
            <a:off x="7452360" y="11887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4034" y="1320394"/>
            <a:ext cx="285293" cy="28529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58000" y="1828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Alerts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6931152" y="2240280"/>
            <a:ext cx="15910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Active alerts to acknowledge, alert log, delivery status to Canopy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Gear menu: Device types · Manufacturers · Users · Sign out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a device in four steps</a:t>
            </a:r>
            <a:endParaRPr lang="en-US" sz="2600" dirty="0"/>
          </a:p>
        </p:txBody>
      </p:sp>
      <p:sp>
        <p:nvSpPr>
          <p:cNvPr id="3" name="step-dot"/>
          <p:cNvSpPr/>
          <p:nvPr/>
        </p:nvSpPr>
        <p:spPr>
          <a:xfrm>
            <a:off x="457200" y="1005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98755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Devices → Add device</a:t>
            </a:r>
            <a:endParaRPr lang="en-US" sz="1350" dirty="0"/>
          </a:p>
        </p:txBody>
      </p:sp>
      <p:sp>
        <p:nvSpPr>
          <p:cNvPr id="6" name="step-dot"/>
          <p:cNvSpPr/>
          <p:nvPr/>
        </p:nvSpPr>
        <p:spPr>
          <a:xfrm>
            <a:off x="457200" y="18745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185623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Fill Device ID, type, pod, Leaf and inventory fields</a:t>
            </a:r>
            <a:endParaRPr lang="en-US" sz="1350" dirty="0"/>
          </a:p>
        </p:txBody>
      </p:sp>
      <p:sp>
        <p:nvSpPr>
          <p:cNvPr id="9" name="step-dot"/>
          <p:cNvSpPr/>
          <p:nvPr/>
        </p:nvSpPr>
        <p:spPr>
          <a:xfrm>
            <a:off x="457200" y="27432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743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72491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Tick Enabled → Save: type, ID and licence are checked, parser starts</a:t>
            </a:r>
            <a:endParaRPr lang="en-US" sz="1350" dirty="0"/>
          </a:p>
        </p:txBody>
      </p:sp>
      <p:sp>
        <p:nvSpPr>
          <p:cNvPr id="12" name="step-dot"/>
          <p:cNvSpPr/>
          <p:nvPr/>
        </p:nvSpPr>
        <p:spPr>
          <a:xfrm>
            <a:off x="457200" y="36118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611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593592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Monitor: values within a minute; else open Ingress stream</a:t>
            </a:r>
            <a:endParaRPr lang="en-US" sz="1350" dirty="0"/>
          </a:p>
        </p:txBody>
      </p:sp>
      <p:sp>
        <p:nvSpPr>
          <p:cNvPr id="15" name="card"/>
          <p:cNvSpPr/>
          <p:nvPr/>
        </p:nvSpPr>
        <p:spPr>
          <a:xfrm>
            <a:off x="4663440" y="960120"/>
            <a:ext cx="4023360" cy="3611880"/>
          </a:xfrm>
          <a:prstGeom prst="roundRect">
            <a:avLst>
              <a:gd name="adj" fmla="val 202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89204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Before you start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554480"/>
            <a:ext cx="3611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device type exists (from Canopy or a local template)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licence allows the type and has a free slot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The pod (e.g. socket.icu-monitor) exists in gateway.toml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Device ID is unique: letters, digits, . _ - (max 80)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Changing type, pod or options restarts the parser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Everyday operations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100584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dot"/>
          <p:cNvSpPr/>
          <p:nvPr/>
        </p:nvSpPr>
        <p:spPr>
          <a:xfrm>
            <a:off x="658368" y="126187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371600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143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Restart a parser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298448" y="146304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Overview → Live device data → Restart</a:t>
            </a:r>
            <a:endParaRPr lang="en-US" sz="1150" dirty="0"/>
          </a:p>
        </p:txBody>
      </p:sp>
      <p:sp>
        <p:nvSpPr>
          <p:cNvPr id="8" name="card"/>
          <p:cNvSpPr/>
          <p:nvPr/>
        </p:nvSpPr>
        <p:spPr>
          <a:xfrm>
            <a:off x="4663440" y="100584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dot"/>
          <p:cNvSpPr/>
          <p:nvPr/>
        </p:nvSpPr>
        <p:spPr>
          <a:xfrm>
            <a:off x="4864608" y="126187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7160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04688" y="11430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Enable / disable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5504688" y="146304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Devices → Enable/Disable; enabled devices use licence slots</a:t>
            </a:r>
            <a:endParaRPr lang="en-US" sz="1150" dirty="0"/>
          </a:p>
        </p:txBody>
      </p:sp>
      <p:sp>
        <p:nvSpPr>
          <p:cNvPr id="13" name="card"/>
          <p:cNvSpPr/>
          <p:nvPr/>
        </p:nvSpPr>
        <p:spPr>
          <a:xfrm>
            <a:off x="457200" y="219456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dot"/>
          <p:cNvSpPr/>
          <p:nvPr/>
        </p:nvSpPr>
        <p:spPr>
          <a:xfrm>
            <a:off x="658368" y="245059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560320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98448" y="23317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Stop a controller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1298448" y="26517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Overview → Layers → Stop / Start / Restart; stays stopped until started</a:t>
            </a:r>
            <a:endParaRPr lang="en-US" sz="1150" dirty="0"/>
          </a:p>
        </p:txBody>
      </p:sp>
      <p:sp>
        <p:nvSpPr>
          <p:cNvPr id="18" name="card"/>
          <p:cNvSpPr/>
          <p:nvPr/>
        </p:nvSpPr>
        <p:spPr>
          <a:xfrm>
            <a:off x="4663440" y="219456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icon-dot"/>
          <p:cNvSpPr/>
          <p:nvPr/>
        </p:nvSpPr>
        <p:spPr>
          <a:xfrm>
            <a:off x="4864608" y="245059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2560320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23317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Look at data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5504688" y="265176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Streams for raw frames · Monitor for parsed values · Overview → Logs</a:t>
            </a:r>
            <a:endParaRPr lang="en-US" sz="1150" dirty="0"/>
          </a:p>
        </p:txBody>
      </p:sp>
      <p:sp>
        <p:nvSpPr>
          <p:cNvPr id="23" name="card"/>
          <p:cNvSpPr/>
          <p:nvPr/>
        </p:nvSpPr>
        <p:spPr>
          <a:xfrm>
            <a:off x="457200" y="338328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icon-dot"/>
          <p:cNvSpPr/>
          <p:nvPr/>
        </p:nvSpPr>
        <p:spPr>
          <a:xfrm>
            <a:off x="658368" y="363931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5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749040"/>
            <a:ext cx="237744" cy="23774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1298448" y="3520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Sync with Canopy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1298448" y="384048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Overview → License → Sync now (check-in immediately)</a:t>
            </a:r>
            <a:endParaRPr lang="en-US" sz="1150" dirty="0"/>
          </a:p>
        </p:txBody>
      </p:sp>
      <p:sp>
        <p:nvSpPr>
          <p:cNvPr id="28" name="card"/>
          <p:cNvSpPr/>
          <p:nvPr/>
        </p:nvSpPr>
        <p:spPr>
          <a:xfrm>
            <a:off x="4663440" y="3383280"/>
            <a:ext cx="402336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icon-dot"/>
          <p:cNvSpPr/>
          <p:nvPr/>
        </p:nvSpPr>
        <p:spPr>
          <a:xfrm>
            <a:off x="4864608" y="3639312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30" name="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749040"/>
            <a:ext cx="237744" cy="23774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5504688" y="3520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Remove a device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5504688" y="3840480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Devices → Remove; parser stops, stored observations are kept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and alerts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05840"/>
                <a:gridCol w="3749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Raised when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Canopy connection lost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canopy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good check-in within 3 × the sync 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 down: &lt;name&gt;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 /status unreachable or container stopped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from &lt;device&gt;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Enabled device sent nothing for 120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service was not running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Recorded on start when the last sample is more than 2 min old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297180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status sample per lane every 30 s, kept 7 days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Opens after 2 consecutive down samples; resolves on the first OK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Disabled devices and stopped controllers report stopped, not down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Every change is pushed to the Canopy gateway alert inbox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Canopy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Licence · configuration sync · clone · Leaf assignment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20 seconds the gateway checks in</a:t>
            </a:r>
            <a:endParaRPr lang="en-US" sz="2600" dirty="0"/>
          </a:p>
        </p:txBody>
      </p:sp>
      <p:pic>
        <p:nvPicPr>
          <p:cNvPr id="3" name="arch-3-control-loop" descr="arch-3-control-lo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627" y="914400"/>
            <a:ext cx="7940745" cy="3794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Connect, license, locate and clone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10058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dot"/>
          <p:cNvSpPr/>
          <p:nvPr/>
        </p:nvSpPr>
        <p:spPr>
          <a:xfrm>
            <a:off x="658368" y="12070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316736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252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Connect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783080"/>
            <a:ext cx="3639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Overview → Station → Canopy connection: address, Gateway ID, Gateway key. Saving checks in at once.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4663440" y="10058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dot"/>
          <p:cNvSpPr/>
          <p:nvPr/>
        </p:nvSpPr>
        <p:spPr>
          <a:xfrm>
            <a:off x="4864608" y="120700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16736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04688" y="1252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Licence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864608" y="1783080"/>
            <a:ext cx="3639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Max devices, allowed types, expiry. Kept while Canopy is offline; revoked or expired stops all parsers.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dot"/>
          <p:cNvSpPr/>
          <p:nvPr/>
        </p:nvSpPr>
        <p:spPr>
          <a:xfrm>
            <a:off x="658368" y="303580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314553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98448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Location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58368" y="3611880"/>
            <a:ext cx="3639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Set at Canopy → Topology → gateway → Set location…; applied at the next check-in.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icon-dot"/>
          <p:cNvSpPr/>
          <p:nvPr/>
        </p:nvSpPr>
        <p:spPr>
          <a:xfrm>
            <a:off x="4864608" y="3035808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145536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Clone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4864608" y="3611880"/>
            <a:ext cx="3639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Canopy snapshots each configuration; clone it to a new gateway, which receives it on first check-in.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Assign devices to a Leaf with the gateway wizard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118872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Test the data-api URL the gateway reported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2560320" y="118872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74320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2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743200" y="196596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Choose devices for this Leaf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4663440" y="118872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84632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46320" y="196596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Assignment travels via Canopy, applies at next check-in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6766560" y="1188720"/>
            <a:ext cx="1920240" cy="20116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94944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49440" y="1965960"/>
            <a:ext cx="1600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Verify values from the last 60 s, save the source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On the Leaf: Ward settings → Gateway wizard (permission config.manage). The Leaf then reads https://&lt;gateway&gt;/data-api/… filtered by its leaf_id.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Supported device types</a:t>
            </a:r>
            <a:endParaRPr lang="en-US" sz="2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566160"/>
                <a:gridCol w="1005840"/>
                <a:gridCol w="1371600"/>
              </a:tblGrid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hl7-patient-monitor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monitor (HL7 v2 / IHE PCD-01)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socket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hl7v2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hidro-hl7-monitor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 shared HL7 monitor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socket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hidro_hl7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draeger-iacs-m540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Dräger M540 (IACS UDP)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socket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iacs_m540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draeger-vista-120s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Dräger Vista 120 S (CMS link, TCP)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socket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draeger_vista_s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draeger-medibus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Dräger MEDIBUS.X (RS-232)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medibus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ge-carestation-750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 Carestation 750 (COM 1.2)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ge_carestation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ge-aisys-cs2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 Aisys CS2 (COM 1.2)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ge_carestation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ge-bx50-dri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 Bx50 / B650 (DRI)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ge_dri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ge-s5-dri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 S/5 (DRI)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ge_dri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ge-aisys-dri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 Aisys (legacy DRI)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ge_dri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bbraun-space-bcc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Braun SpaceCom (BCC over TCP)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socket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bbraun_bcc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json-anesthesia-machine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Anaesthesia machine (JSON push)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webhook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json_fields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http-ventilator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ICU ventilator (HTTP poll)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feeder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json_fields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serial-temp-module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/ CVP module (RS-232, polled)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ascii_kv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acme-t200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Acme T-200 temperature / CVP (RS-232)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acme_t200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Devices at Canopy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Registry by ward · hospital device types · hourly activity and on/off events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registry for every device and gateway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10058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dot"/>
          <p:cNvSpPr/>
          <p:nvPr/>
        </p:nvSpPr>
        <p:spPr>
          <a:xfrm>
            <a:off x="658368" y="120700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316736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1252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Master record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1783080"/>
            <a:ext cx="3639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Asset tag, S/N, model, ward, room, status, warranty and PM dates kept at Canopy</a:t>
            </a:r>
            <a:endParaRPr lang="en-US" sz="1200" dirty="0"/>
          </a:p>
        </p:txBody>
      </p:sp>
      <p:sp>
        <p:nvSpPr>
          <p:cNvPr id="8" name="card"/>
          <p:cNvSpPr/>
          <p:nvPr/>
        </p:nvSpPr>
        <p:spPr>
          <a:xfrm>
            <a:off x="4663440" y="10058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icon-dot"/>
          <p:cNvSpPr/>
          <p:nvPr/>
        </p:nvSpPr>
        <p:spPr>
          <a:xfrm>
            <a:off x="4864608" y="120700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16736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04688" y="12527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Added automatically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864608" y="1783080"/>
            <a:ext cx="3639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Unknown gateways and the devices they report appear flagged Review; saving registers them</a:t>
            </a:r>
            <a:endParaRPr lang="en-US" sz="1200" dirty="0"/>
          </a:p>
        </p:txBody>
      </p:sp>
      <p:sp>
        <p:nvSpPr>
          <p:cNvPr id="13" name="card"/>
          <p:cNvSpPr/>
          <p:nvPr/>
        </p:nvSpPr>
        <p:spPr>
          <a:xfrm>
            <a:off x="45720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icon-dot"/>
          <p:cNvSpPr/>
          <p:nvPr/>
        </p:nvSpPr>
        <p:spPr>
          <a:xfrm>
            <a:off x="658368" y="303580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5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3145536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98448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Matched at check-in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658368" y="3611880"/>
            <a:ext cx="3639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By existing link, then asset tag, then serial; moved devices re-link; admin fields never overwritten</a:t>
            </a:r>
            <a:endParaRPr lang="en-US" sz="1200" dirty="0"/>
          </a:p>
        </p:txBody>
      </p:sp>
      <p:sp>
        <p:nvSpPr>
          <p:cNvPr id="18" name="card"/>
          <p:cNvSpPr/>
          <p:nvPr/>
        </p:nvSpPr>
        <p:spPr>
          <a:xfrm>
            <a:off x="4663440" y="2834640"/>
            <a:ext cx="4023360" cy="164592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icon-dot"/>
          <p:cNvSpPr/>
          <p:nvPr/>
        </p:nvSpPr>
        <p:spPr>
          <a:xfrm>
            <a:off x="4864608" y="3035808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3145536"/>
            <a:ext cx="237744" cy="23774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504688" y="308152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Grouped by ward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4864608" y="3611880"/>
            <a:ext cx="363931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Gateway: the ward it is installed in. Device: its own ward. Ward users see their own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Hospital device types reach every gateway</a:t>
            </a:r>
            <a:endParaRPr lang="en-US" sz="2600" dirty="0"/>
          </a:p>
        </p:txBody>
      </p:sp>
      <p:sp>
        <p:nvSpPr>
          <p:cNvPr id="3" name="icon-dot"/>
          <p:cNvSpPr/>
          <p:nvPr/>
        </p:nvSpPr>
        <p:spPr>
          <a:xfrm>
            <a:off x="1097280" y="105156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9926" y="1194206"/>
            <a:ext cx="309067" cy="309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737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Admin adds type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20574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Devices → Device types</a:t>
            </a:r>
            <a:endParaRPr lang="en-US" sz="1100" dirty="0"/>
          </a:p>
        </p:txBody>
      </p:sp>
      <p:sp>
        <p:nvSpPr>
          <p:cNvPr id="7" name="flow-arrow"/>
          <p:cNvSpPr/>
          <p:nvPr/>
        </p:nvSpPr>
        <p:spPr>
          <a:xfrm>
            <a:off x="2121408" y="1234440"/>
            <a:ext cx="36576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icon-dot"/>
          <p:cNvSpPr/>
          <p:nvPr/>
        </p:nvSpPr>
        <p:spPr>
          <a:xfrm>
            <a:off x="3246120" y="105156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766" y="1194206"/>
            <a:ext cx="309067" cy="30906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606040" y="1737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Canopy answers check-in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2606040" y="20574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enabled types</a:t>
            </a:r>
            <a:endParaRPr lang="en-US" sz="1100" dirty="0"/>
          </a:p>
        </p:txBody>
      </p:sp>
      <p:sp>
        <p:nvSpPr>
          <p:cNvPr id="12" name="flow-arrow"/>
          <p:cNvSpPr/>
          <p:nvPr/>
        </p:nvSpPr>
        <p:spPr>
          <a:xfrm>
            <a:off x="4270248" y="1234440"/>
            <a:ext cx="36576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icon-dot"/>
          <p:cNvSpPr/>
          <p:nvPr/>
        </p:nvSpPr>
        <p:spPr>
          <a:xfrm>
            <a:off x="5394960" y="105156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7606" y="1194206"/>
            <a:ext cx="309067" cy="30906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754880" y="1737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Haber adds image + licence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4754880" y="20574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release parser image</a:t>
            </a:r>
            <a:endParaRPr lang="en-US" sz="1100" dirty="0"/>
          </a:p>
        </p:txBody>
      </p:sp>
      <p:sp>
        <p:nvSpPr>
          <p:cNvPr id="17" name="flow-arrow"/>
          <p:cNvSpPr/>
          <p:nvPr/>
        </p:nvSpPr>
        <p:spPr>
          <a:xfrm>
            <a:off x="6419088" y="1234440"/>
            <a:ext cx="36576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icon-dot"/>
          <p:cNvSpPr/>
          <p:nvPr/>
        </p:nvSpPr>
        <p:spPr>
          <a:xfrm>
            <a:off x="7543800" y="105156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9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6446" y="1194206"/>
            <a:ext cx="309067" cy="309067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903720" y="173736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Gateway catalog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6903720" y="205740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origin: canopy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731520" y="2651760"/>
            <a:ext cx="7680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Start from scratch or "Use as template" on a Flora Root release type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Licensed when Root licenses a type with the same parser; Root codes cannot be reused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Connection defaults checked with the gateway's own rules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Arrives at the next check-in (≈ 20 s); disable to stop delivery, delete only when unused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Hourly activity and on/off events</a:t>
            </a:r>
            <a:endParaRPr lang="en-US" sz="2600" dirty="0"/>
          </a:p>
        </p:txBody>
      </p:sp>
      <p:sp>
        <p:nvSpPr>
          <p:cNvPr id="3" name="card"/>
          <p:cNvSpPr/>
          <p:nvPr/>
        </p:nvSpPr>
        <p:spPr>
          <a:xfrm>
            <a:off x="457200" y="960120"/>
            <a:ext cx="4937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icon-dot"/>
          <p:cNvSpPr/>
          <p:nvPr/>
        </p:nvSpPr>
        <p:spPr>
          <a:xfrm>
            <a:off x="640080" y="12344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44168"/>
            <a:ext cx="237744" cy="2377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06984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Powered on / off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0881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connection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38988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The device's own link came up or went down (TCP connection, UDP data, answered polls) on a pod only it uses</a:t>
            </a:r>
            <a:endParaRPr lang="en-US" sz="1100" dirty="0"/>
          </a:p>
        </p:txBody>
      </p:sp>
      <p:sp>
        <p:nvSpPr>
          <p:cNvPr id="9" name="card"/>
          <p:cNvSpPr/>
          <p:nvPr/>
        </p:nvSpPr>
        <p:spPr>
          <a:xfrm>
            <a:off x="457200" y="2148840"/>
            <a:ext cx="493776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icon-dot"/>
          <p:cNvSpPr/>
          <p:nvPr/>
        </p:nvSpPr>
        <p:spPr>
          <a:xfrm>
            <a:off x="640080" y="24231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53288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280160" y="22585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Data resumed / stopped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4206240" y="22768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data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280160" y="2578608"/>
            <a:ext cx="3977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Data started again or stopped for 2 minutes — the device may be off, unplugged or idle</a:t>
            </a:r>
            <a:endParaRPr lang="en-US" sz="1100" dirty="0"/>
          </a:p>
        </p:txBody>
      </p:sp>
      <p:sp>
        <p:nvSpPr>
          <p:cNvPr id="15" name="card"/>
          <p:cNvSpPr/>
          <p:nvPr/>
        </p:nvSpPr>
        <p:spPr>
          <a:xfrm>
            <a:off x="5669280" y="960120"/>
            <a:ext cx="301752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852160" y="10972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Every hour, per device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5852160" y="1463040"/>
            <a:ext cx="2743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Share of the hour sending data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Values received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Power on / off counts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Rebuilt every 10 min, resent until confirmed</a:t>
            </a:r>
            <a:endParaRPr lang="en-US" sz="1200" dirty="0"/>
          </a:p>
        </p:txBody>
      </p:sp>
      <p:sp>
        <p:nvSpPr>
          <p:cNvPr id="18" name="legend-swatch"/>
          <p:cNvSpPr/>
          <p:nvPr/>
        </p:nvSpPr>
        <p:spPr>
          <a:xfrm>
            <a:off x="457200" y="365760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2296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≥ 95 %</a:t>
            </a:r>
            <a:endParaRPr lang="en-US" sz="1200" dirty="0"/>
          </a:p>
        </p:txBody>
      </p:sp>
      <p:sp>
        <p:nvSpPr>
          <p:cNvPr id="20" name="legend-swatch"/>
          <p:cNvSpPr/>
          <p:nvPr/>
        </p:nvSpPr>
        <p:spPr>
          <a:xfrm>
            <a:off x="2103120" y="365760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46888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50–95 %</a:t>
            </a:r>
            <a:endParaRPr lang="en-US" sz="1200" dirty="0"/>
          </a:p>
        </p:txBody>
      </p:sp>
      <p:sp>
        <p:nvSpPr>
          <p:cNvPr id="22" name="legend-swatch"/>
          <p:cNvSpPr/>
          <p:nvPr/>
        </p:nvSpPr>
        <p:spPr>
          <a:xfrm>
            <a:off x="3749040" y="365760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11480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&lt; 50 %</a:t>
            </a:r>
            <a:endParaRPr lang="en-US" sz="1200" dirty="0"/>
          </a:p>
        </p:txBody>
      </p:sp>
      <p:sp>
        <p:nvSpPr>
          <p:cNvPr id="24" name="legend-swatch"/>
          <p:cNvSpPr/>
          <p:nvPr/>
        </p:nvSpPr>
        <p:spPr>
          <a:xfrm>
            <a:off x="5394960" y="365760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576072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no data</a:t>
            </a:r>
            <a:endParaRPr lang="en-US" sz="1200" dirty="0"/>
          </a:p>
        </p:txBody>
      </p:sp>
      <p:sp>
        <p:nvSpPr>
          <p:cNvPr id="26" name="legend-swatch"/>
          <p:cNvSpPr/>
          <p:nvPr/>
        </p:nvSpPr>
        <p:spPr>
          <a:xfrm>
            <a:off x="7040880" y="3657600"/>
            <a:ext cx="274320" cy="274320"/>
          </a:xfrm>
          <a:prstGeom prst="roundRect">
            <a:avLst>
              <a:gd name="adj" fmla="val 13333"/>
            </a:avLst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406640" y="365760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disabled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Device state: On · Off · Disabled · Unknown (gateway offline) · Not reported · Not connected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structures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Relational diagrams · solid = foreign key · dashed = logical link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DB · device registry</a:t>
            </a:r>
            <a:endParaRPr lang="en-US" sz="2600" dirty="0"/>
          </a:p>
        </p:txBody>
      </p:sp>
      <p:pic>
        <p:nvPicPr>
          <p:cNvPr id="3" name="er-1-device-registry" descr="er-1-device-regist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2772" y="868680"/>
            <a:ext cx="6738457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DB · licence, site, Canopy link, users</a:t>
            </a:r>
            <a:endParaRPr lang="en-US" sz="2600" dirty="0"/>
          </a:p>
        </p:txBody>
      </p:sp>
      <p:pic>
        <p:nvPicPr>
          <p:cNvPr id="3" name="er-2-license-site-auth" descr="er-2-license-site-au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9618" y="868680"/>
            <a:ext cx="5624763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DB · observations (time series)</a:t>
            </a:r>
            <a:endParaRPr lang="en-US" sz="2600" dirty="0"/>
          </a:p>
        </p:txBody>
      </p:sp>
      <p:pic>
        <p:nvPicPr>
          <p:cNvPr id="3" name="er-3-observations" descr="er-3-observ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8517" y="868680"/>
            <a:ext cx="6266966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DB · monitoring, alerts, operations</a:t>
            </a:r>
            <a:endParaRPr lang="en-US" sz="2600" dirty="0"/>
          </a:p>
        </p:txBody>
      </p:sp>
      <p:pic>
        <p:nvPicPr>
          <p:cNvPr id="3" name="er-4-monitoring-alerts" descr="er-4-monitoring-ale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5924" y="868680"/>
            <a:ext cx="5912151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DB · device activity and on/off events</a:t>
            </a:r>
            <a:endParaRPr lang="en-US" sz="2600" dirty="0"/>
          </a:p>
        </p:txBody>
      </p:sp>
      <p:pic>
        <p:nvPicPr>
          <p:cNvPr id="3" name="er-8-gateway-activity" descr="er-8-gateway-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8186" y="868680"/>
            <a:ext cx="7387628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Canopy DB · gateway configuration and alerts</a:t>
            </a:r>
            <a:endParaRPr lang="en-US" sz="2600" dirty="0"/>
          </a:p>
        </p:txBody>
      </p:sp>
      <p:pic>
        <p:nvPicPr>
          <p:cNvPr id="3" name="er-5-canopy-gateway" descr="er-5-canopy-gatew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77489" y="868680"/>
            <a:ext cx="6189022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Canopy DB · Devices registry, types, activity</a:t>
            </a:r>
            <a:endParaRPr lang="en-US" sz="2600" dirty="0"/>
          </a:p>
        </p:txBody>
      </p:sp>
      <p:pic>
        <p:nvPicPr>
          <p:cNvPr id="3" name="er-9-canopy-devices" descr="er-9-canopy-devi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49683" y="868680"/>
            <a:ext cx="5044634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Haber SQLite · gateway registry and releases</a:t>
            </a:r>
            <a:endParaRPr lang="en-US" sz="2600" dirty="0"/>
          </a:p>
        </p:txBody>
      </p:sp>
      <p:pic>
        <p:nvPicPr>
          <p:cNvPr id="3" name="er-6-haber" descr="er-6-ha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8431" y="868680"/>
            <a:ext cx="7747138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Kafka topics · message envelopes</a:t>
            </a:r>
            <a:endParaRPr lang="en-US" sz="2600" dirty="0"/>
          </a:p>
        </p:txBody>
      </p:sp>
      <p:pic>
        <p:nvPicPr>
          <p:cNvPr id="3" name="er-7-kafka-messages" descr="er-7-kafka-messa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738" y="868680"/>
            <a:ext cx="7526524" cy="3886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Network and ports</a:t>
            </a:r>
            <a:endParaRPr lang="en-US" sz="26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120640"/>
                <a:gridCol w="128016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443 (dev 7443)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 edge: admin console and /data-api/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gateway-service admin (HTTP)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7401–7406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Controller, collector and publisher /status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Kong data-api (HTTP)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7412 / 7414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/ Kafka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7421 / 7422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HL7 MLLP OR / ICU monitors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webhook (HTTP POST)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9500 (UDP 9610)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Dräger Vista 120 S CMS link (beacon)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2050 UDP · 2000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Dräger M540 data · discovery multicast 224.127.1.254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M540 relay (udp_relay framing)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4001 (outbound)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B. Braun BCC SpaceCom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LAN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Simulator (demo profile only)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localhost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Canopy 443 (dev 9443)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 check-in at /api/haber/ (outbound)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hospital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settings in flora-gateway/.env</a:t>
            </a:r>
            <a:endParaRPr lang="en-US" sz="2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286000"/>
                <a:gridCol w="30175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FLORA_GATEWAY_ID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gateway-hospital-01-a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identity, stamped on every frame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HABER_URL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https://host.docker.internal:9443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Canopy / Haber address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HABER_GATEWAY_TOKEN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(demo token)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 key sent as Bearer token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GATEWAY_SYNC_INTERVAL_SEC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Check-in interval in seconds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GATEWAY_LICENSE_REQUIRED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Without a valid licence, parsers do not run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GATEWAY_DATA_API_URL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http://host.docker.internal:7410/data-api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data-api URL reported to Canopy for the Leaf wizard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GATEWAY_ADMIN_USERNAME / _PASSWORD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/ admin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admin account (only when no users exist)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GATEWAY_SESSION_HOURS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Console session lifetime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GATEWAY_ADMIN_KEY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(empty)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 x-gateway-key header for scripted write calls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FLORA_GATEWAY_CONFIG_FILE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gateway.toml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 and pod configuration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FLORA_GATEWAY_SEED_FILE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instances.json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First-start device seed (ignored once Canopy config applied)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FLORA_GATEWAY_DB_PASSWORD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flora-gateway-local-only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password — change in production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Releases arrive signed and approved</a:t>
            </a:r>
            <a:endParaRPr lang="en-US" sz="2600" dirty="0"/>
          </a:p>
        </p:txBody>
      </p:sp>
      <p:sp>
        <p:nvSpPr>
          <p:cNvPr id="3" name="icon-dot"/>
          <p:cNvSpPr/>
          <p:nvPr/>
        </p:nvSpPr>
        <p:spPr>
          <a:xfrm>
            <a:off x="914400" y="11887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046" y="1331366"/>
            <a:ext cx="309067" cy="3090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8745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Root signs</a:t>
            </a:r>
            <a:endParaRPr lang="en-US" sz="1300" dirty="0"/>
          </a:p>
        </p:txBody>
      </p:sp>
      <p:sp>
        <p:nvSpPr>
          <p:cNvPr id="6" name="flow-arrow"/>
          <p:cNvSpPr/>
          <p:nvPr/>
        </p:nvSpPr>
        <p:spPr>
          <a:xfrm>
            <a:off x="1664208" y="1371600"/>
            <a:ext cx="36576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icon-dot"/>
          <p:cNvSpPr/>
          <p:nvPr/>
        </p:nvSpPr>
        <p:spPr>
          <a:xfrm>
            <a:off x="2615184" y="11887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7830" y="1331366"/>
            <a:ext cx="309067" cy="30906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157984" y="18745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Haber mirrors</a:t>
            </a:r>
            <a:endParaRPr lang="en-US" sz="1300" dirty="0"/>
          </a:p>
        </p:txBody>
      </p:sp>
      <p:sp>
        <p:nvSpPr>
          <p:cNvPr id="10" name="flow-arrow"/>
          <p:cNvSpPr/>
          <p:nvPr/>
        </p:nvSpPr>
        <p:spPr>
          <a:xfrm>
            <a:off x="3364992" y="1371600"/>
            <a:ext cx="36576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icon-dot"/>
          <p:cNvSpPr/>
          <p:nvPr/>
        </p:nvSpPr>
        <p:spPr>
          <a:xfrm>
            <a:off x="4315968" y="11887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8614" y="1331366"/>
            <a:ext cx="309067" cy="30906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58768" y="18745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Hospital approves</a:t>
            </a:r>
            <a:endParaRPr lang="en-US" sz="1300" dirty="0"/>
          </a:p>
        </p:txBody>
      </p:sp>
      <p:sp>
        <p:nvSpPr>
          <p:cNvPr id="14" name="flow-arrow"/>
          <p:cNvSpPr/>
          <p:nvPr/>
        </p:nvSpPr>
        <p:spPr>
          <a:xfrm>
            <a:off x="5065776" y="1371600"/>
            <a:ext cx="36576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icon-dot"/>
          <p:cNvSpPr/>
          <p:nvPr/>
        </p:nvSpPr>
        <p:spPr>
          <a:xfrm>
            <a:off x="6016752" y="1188720"/>
            <a:ext cx="594360" cy="5943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9398" y="1331366"/>
            <a:ext cx="309067" cy="309067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559552" y="18745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Updater applies</a:t>
            </a:r>
            <a:endParaRPr lang="en-US" sz="1300" dirty="0"/>
          </a:p>
        </p:txBody>
      </p:sp>
      <p:sp>
        <p:nvSpPr>
          <p:cNvPr id="18" name="flow-arrow"/>
          <p:cNvSpPr/>
          <p:nvPr/>
        </p:nvSpPr>
        <p:spPr>
          <a:xfrm>
            <a:off x="6766560" y="1371600"/>
            <a:ext cx="365760" cy="228600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icon-dot"/>
          <p:cNvSpPr/>
          <p:nvPr/>
        </p:nvSpPr>
        <p:spPr>
          <a:xfrm>
            <a:off x="7717536" y="1188720"/>
            <a:ext cx="594360" cy="5943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0182" y="1331366"/>
            <a:ext cx="309067" cy="30906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7260336" y="18745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Health check / rollback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Images are pinned by sha256 digest and verified against the Root key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Health checks within 180 s; automatic rollback if unhealthy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Parser images upgrade one device per check-in cycle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Optional maintenance window: FLORA_UPDATER_WINDOW=HH:MM-HH:MM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56032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to 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"unknown device type …; sync from Haber first"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type is not in the catalogue yet. Check the Canopy connection and the licence, then Overview → License → Sync now.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 "device license invalid / not licensed / device limit reached"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problem: expired, revoked, type not allowed or max_devices reached. Ask the Canopy administrator; Root issues licences per hospital.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Canopy shows 503 "no verified license bundle"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Canopy has no verified bundle from Flora Root yet: a Canopy-side issue.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 "No data from &lt;device&gt;"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Streams: are frames arriving on the pod, are polls going out? Check cable, baud/parity, port, source IP and that the controller is running.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Controller shows Stopped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stays stopped across restarts until you press Start (or run docker compose up).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port not visible (Windows)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Desktop cannot pass COM ports. Run serial/socket controllers natively and point SERIAL_ADMIN_URL / SOCKET_ADMIN_URL to them.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Dräger M540 silent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Multicast does not cross subnets or Docker bridges: use tools/iacs-relay/relay.py with udp_relay framing.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Edits to instances.json have no effect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is only a first-start seed. Edit devices in the console.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5544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reference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Console https://&lt;gateway&gt;  ·  data-api /data-api/&lt;leaf-id&gt;/api/observations  ·  full manual and diagrams in docs/gateway-manual/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SM Flora Gateway">
  <a:themeElements>
    <a:clrScheme name="ESM Flora Gateway">
      <a:dk1>
        <a:srgbClr val="14342B"/>
      </a:dk1>
      <a:lt1>
        <a:srgbClr val="FFFFFF"/>
      </a:lt1>
      <a:dk2>
        <a:srgbClr val="1F6F5C"/>
      </a:dk2>
      <a:lt2>
        <a:srgbClr val="EEF5F1"/>
      </a:lt2>
      <a:accent1>
        <a:srgbClr val="1F6F5C"/>
      </a:accent1>
      <a:accent2>
        <a:srgbClr val="B5651D"/>
      </a:accent2>
      <a:accent3>
        <a:srgbClr val="1E4E79"/>
      </a:accent3>
      <a:accent4>
        <a:srgbClr val="6B4F2A"/>
      </a:accent4>
      <a:accent5>
        <a:srgbClr val="444C8A"/>
      </a:accent5>
      <a:accent6>
        <a:srgbClr val="9B2C2C"/>
      </a:accent6>
      <a:hlink>
        <a:srgbClr val="1E4E79"/>
      </a:hlink>
      <a:folHlink>
        <a:srgbClr val="7A4E9C"/>
      </a:folHlink>
    </a:clrScheme>
    <a:fontScheme name="ESM Flora Gatewa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Flora Gateway User Manual</dc:title>
  <dc:subject>PptxGenJS Presentation</dc:subject>
  <dc:creator>ESM Flora</dc:creator>
  <cp:lastModifiedBy>ESM Flora</cp:lastModifiedBy>
  <cp:revision>1</cp:revision>
  <dcterms:created xsi:type="dcterms:W3CDTF">2026-10-13T14:07:09Z</dcterms:created>
  <dcterms:modified xsi:type="dcterms:W3CDTF">2026-10-13T14:07:09Z</dcterms:modified>
</cp:coreProperties>
</file>