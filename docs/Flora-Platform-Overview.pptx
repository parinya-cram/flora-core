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ac1e014e-0987-e19f-4b68-917b628b41bc}">
          <p14:sldIdLst>
            <p14:sldId id="256"/>
          </p14:sldIdLst>
        </p14:section>
        <p14:section name="ภาพรวมโครงการ" id="{1748c1f3-5eee-b519-1ba6-eb695700ba61}">
          <p14:sldIdLst>
            <p14:sldId id="257"/>
            <p14:sldId id="258"/>
          </p14:sldIdLst>
        </p14:section>
        <p14:section name="สถาปัตยกรรม" id="{59bb41d7-fb5c-9b93-cbed-5348fb5d8abc}">
          <p14:sldIdLst>
            <p14:sldId id="259"/>
            <p14:sldId id="260"/>
            <p14:sldId id="261"/>
          </p14:sldIdLst>
        </p14:section>
        <p14:section name="การทำงาน" id="{caed875c-5c84-bd2f-62e6-76177e96824f}">
          <p14:sldIdLst>
            <p14:sldId id="262"/>
            <p14:sldId id="263"/>
          </p14:sldIdLst>
        </p14:section>
        <p14:section name="งานคลินิก" id="{01785eee-95d8-fb13-0bba-c26ec04e8f98}">
          <p14:sldIdLst>
            <p14:sldId id="264"/>
            <p14:sldId id="265"/>
            <p14:sldId id="266"/>
            <p14:sldId id="267"/>
          </p14:sldIdLst>
        </p14:section>
        <p14:section name="Terminology" id="{ab9fffea-f52e-89bd-2ac9-a060a15b4579}">
          <p14:sldIdLst>
            <p14:sldId id="268"/>
          </p14:sldIdLst>
        </p14:section>
        <p14:section name="สรุป" id="{3037a5a7-70b6-4c65-74df-60ba59c4de1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เอกสารภาพรวมแพลตฟอร์ม Flora ทั้งระบบ คู่มือของแต่ละชั้นแยกเป็นเอกสารต่างหาก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 14 ชนิดมาจาก catalog ของ Haber ปัจจุบัน ส่วนที่ผ่านการ validate กับเครื่องจริงยังมีน้อยกว่านี้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การเชื่อมต่อทั้งหมดเป็น HTTP/JSON ที่เริ่มจากชั้นล่างขึ้นไปหาชั้นบน จึงใช้งานหลัง NAT ได้ Canopy ไม่เรียกฐานข้อมูลของ Leaf 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Flora Platform · ภาพรวมแพลตฟอร์ม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Flora Platform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ภาพรวมแพลตฟอร์มบันทึกทางคลินิกสำหรับห้องผ่าตัดและ ICU</a:t>
            </a:r>
            <a:endParaRPr lang="en-US" sz="2200" dirty="0"/>
          </a:p>
        </p:txBody>
      </p:sp>
      <p:sp>
        <p:nvSpPr>
          <p:cNvPr id="4" name="tier-chip-Root"/>
          <p:cNvSpPr/>
          <p:nvPr/>
        </p:nvSpPr>
        <p:spPr>
          <a:xfrm>
            <a:off x="731520" y="48463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3A3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Root</a:t>
            </a:r>
            <a:endParaRPr lang="en-US" sz="1600" dirty="0"/>
          </a:p>
        </p:txBody>
      </p:sp>
      <p:sp>
        <p:nvSpPr>
          <p:cNvPr id="6" name="tier-chip-Canopy"/>
          <p:cNvSpPr/>
          <p:nvPr/>
        </p:nvSpPr>
        <p:spPr>
          <a:xfrm>
            <a:off x="2468880" y="48463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3A3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Canopy</a:t>
            </a:r>
            <a:endParaRPr lang="en-US" sz="1600" dirty="0"/>
          </a:p>
        </p:txBody>
      </p:sp>
      <p:sp>
        <p:nvSpPr>
          <p:cNvPr id="8" name="tier-chip-Leaf"/>
          <p:cNvSpPr/>
          <p:nvPr/>
        </p:nvSpPr>
        <p:spPr>
          <a:xfrm>
            <a:off x="4206240" y="48463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3A3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Leaf</a:t>
            </a:r>
            <a:endParaRPr lang="en-US" sz="1600" dirty="0"/>
          </a:p>
        </p:txBody>
      </p:sp>
      <p:sp>
        <p:nvSpPr>
          <p:cNvPr id="10" name="tier-chip-Gateway"/>
          <p:cNvSpPr/>
          <p:nvPr/>
        </p:nvSpPr>
        <p:spPr>
          <a:xfrm>
            <a:off x="5943600" y="48463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73A3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Gateway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8D5"/>
                </a:solidFill>
              </a:rPr>
              <a:t>14 ต.ค. 2569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Flora บันทึกค่าจากเครื่องมือแพทย์เข้าเวชระเบียนอัตโนมัติทุกนาที</a:t>
            </a:r>
            <a:endParaRPr lang="en-US" sz="2800" dirty="0"/>
          </a:p>
        </p:txBody>
      </p:sp>
      <p:sp>
        <p:nvSpPr>
          <p:cNvPr id="3" name="stats-panel"/>
          <p:cNvSpPr/>
          <p:nvPr/>
        </p:nvSpPr>
        <p:spPr>
          <a:xfrm>
            <a:off x="548640" y="1417320"/>
            <a:ext cx="4297680" cy="466344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ติดตั้งในโรงพยาบาล (on-premise)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ข้อมูลผู้ป่วยไม่ออกนอกโรงพยาบาล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 นาที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ความละเอียดของค่าจากเครื่องในเวชระเบียน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วินาที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Leaf ส่งข้อมูลเคสขึ้นส่วนกลาง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14 ชนิด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40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เครื่องมือแพทย์ใน catalog ปัจจุบัน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ปัญหาที่แก้</a:t>
            </a:r>
            <a:endParaRPr lang="en-US" sz="1800" dirty="0"/>
          </a:p>
        </p:txBody>
      </p:sp>
      <p:sp>
        <p:nvSpPr>
          <p:cNvPr id="12" name="problem-0-circle"/>
          <p:cNvSpPr/>
          <p:nvPr/>
        </p:nvSpPr>
        <p:spPr>
          <a:xfrm>
            <a:off x="5303520" y="19659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roblem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0921" y="2113361"/>
            <a:ext cx="272125" cy="27212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080760" y="196596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ไม่ต้องจดค่า vital signs ด้วยมือ ลดเวลาและการคลาดเคลื่อน</a:t>
            </a:r>
            <a:endParaRPr lang="en-US" sz="1500" dirty="0"/>
          </a:p>
        </p:txBody>
      </p:sp>
      <p:sp>
        <p:nvSpPr>
          <p:cNvPr id="15" name="problem-1-circle"/>
          <p:cNvSpPr/>
          <p:nvPr/>
        </p:nvSpPr>
        <p:spPr>
          <a:xfrm>
            <a:off x="5303520" y="2788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problem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921" y="2936321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080760" y="278892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รวมเครื่องหลายยี่ห้อ หลายโปรโตคอล (RS-232, HL7, UDP, TCP)</a:t>
            </a:r>
            <a:endParaRPr lang="en-US" sz="1500" dirty="0"/>
          </a:p>
        </p:txBody>
      </p:sp>
      <p:sp>
        <p:nvSpPr>
          <p:cNvPr id="18" name="problem-2-circle"/>
          <p:cNvSpPr/>
          <p:nvPr/>
        </p:nvSpPr>
        <p:spPr>
          <a:xfrm>
            <a:off x="5303520" y="3611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problem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921" y="375928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80760" y="361188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ส่วนกลางเห็นทุกเตียงของโรงพยาบาลในที่เดียว</a:t>
            </a:r>
            <a:endParaRPr lang="en-US" sz="1500" dirty="0"/>
          </a:p>
        </p:txBody>
      </p:sp>
      <p:sp>
        <p:nvSpPr>
          <p:cNvPr id="21" name="problem-3-circle"/>
          <p:cNvSpPr/>
          <p:nvPr/>
        </p:nvSpPr>
        <p:spPr>
          <a:xfrm>
            <a:off x="5303520" y="44348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problem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921" y="458224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080760" y="443484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เครือข่ายล่ม การบันทึกที่ข้างเตียงก็ไม่หยุด</a:t>
            </a:r>
            <a:endParaRPr lang="en-US" sz="1500" dirty="0"/>
          </a:p>
        </p:txBody>
      </p:sp>
      <p:sp>
        <p:nvSpPr>
          <p:cNvPr id="24" name="problem-4-circle"/>
          <p:cNvSpPr/>
          <p:nvPr/>
        </p:nvSpPr>
        <p:spPr>
          <a:xfrm>
            <a:off x="5303520" y="5257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problem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921" y="5405201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080760" y="525780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ฟอร์มและรายงานแก้เองได้ ไม่ต้องรอ vendor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ผู้ใช้ 4 กลุ่ม ใช้ระบบเดียวกันคนละมุม</a:t>
            </a:r>
            <a:endParaRPr lang="en-US" sz="2800" dirty="0"/>
          </a:p>
        </p:txBody>
      </p:sp>
      <p:sp>
        <p:nvSpPr>
          <p:cNvPr id="3" name="user-card-0"/>
          <p:cNvSpPr/>
          <p:nvPr/>
        </p:nvSpPr>
        <p:spPr>
          <a:xfrm>
            <a:off x="54864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4" name="user-0-circle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ser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วิสัญญีแพทย์ พยาบาล 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57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บันทึกเคสดมยา ยา สารน้ำ Event และพิมพ์ Anesthesia record</a:t>
            </a:r>
            <a:endParaRPr lang="en-US" sz="1400" dirty="0"/>
          </a:p>
        </p:txBody>
      </p:sp>
      <p:sp>
        <p:nvSpPr>
          <p:cNvPr id="8" name="user-card-1"/>
          <p:cNvSpPr/>
          <p:nvPr/>
        </p:nvSpPr>
        <p:spPr>
          <a:xfrm>
            <a:off x="338328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9" name="user-1-circle"/>
          <p:cNvSpPr/>
          <p:nvPr/>
        </p:nvSpPr>
        <p:spPr>
          <a:xfrm>
            <a:off x="365760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user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795" y="20189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แพทย์ พยาบาล ICU / Ward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657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ดูแลหลายเตียง รับ Admission และส่งต่อเคส</a:t>
            </a:r>
            <a:endParaRPr lang="en-US" sz="1400" dirty="0"/>
          </a:p>
        </p:txBody>
      </p:sp>
      <p:sp>
        <p:nvSpPr>
          <p:cNvPr id="13" name="user-card-2"/>
          <p:cNvSpPr/>
          <p:nvPr/>
        </p:nvSpPr>
        <p:spPr>
          <a:xfrm>
            <a:off x="621792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4" name="user-2-circle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user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0189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Clinical admin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657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สร้างฟอร์ม Workflow และรายงานเองใน Studio</a:t>
            </a:r>
            <a:endParaRPr lang="en-US" sz="1400" dirty="0"/>
          </a:p>
        </p:txBody>
      </p:sp>
      <p:sp>
        <p:nvSpPr>
          <p:cNvPr id="18" name="user-card-3"/>
          <p:cNvSpPr/>
          <p:nvPr/>
        </p:nvSpPr>
        <p:spPr>
          <a:xfrm>
            <a:off x="9052560" y="15544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9" name="user-3-circle"/>
          <p:cNvSpPr/>
          <p:nvPr/>
        </p:nvSpPr>
        <p:spPr>
          <a:xfrm>
            <a:off x="93268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er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075" y="201899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IT / ทีม support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657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ติดตั้ง Leaf และ Gateway ดูสถานะและอัปเดต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สถาปัตยกรรมระบบ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4 ชั้น แต่ละชั้นทำงานต่อได้เองเมื่อชั้นอื่นขาดการติดต่อ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ข้อมูลไหลขึ้นจากเครื่องมือแพทย์ ผ่าน Gateway และ Leaf สู่ Canopy</a:t>
            </a:r>
            <a:endParaRPr lang="en-US" sz="2800" dirty="0"/>
          </a:p>
        </p:txBody>
      </p:sp>
      <p:sp>
        <p:nvSpPr>
          <p:cNvPr id="3" name="root-box"/>
          <p:cNvSpPr/>
          <p:nvPr/>
        </p:nvSpPr>
        <p:spPr>
          <a:xfrm>
            <a:off x="548640" y="123444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Root · Cloud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ออก License (Ed25519) · build และ sign release · registry · รับ heartbeat</a:t>
            </a:r>
            <a:endParaRPr lang="en-US" sz="1300" dirty="0"/>
          </a:p>
        </p:txBody>
      </p:sp>
      <p:sp>
        <p:nvSpPr>
          <p:cNvPr id="5" name="canopy-container"/>
          <p:cNvSpPr/>
          <p:nvPr/>
        </p:nvSpPr>
        <p:spPr>
          <a:xfrm>
            <a:off x="548640" y="201168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Canopy · ศูนย์กลางโรงพยาบาล (1 แห่งต่อ 1 โรงพยาบาล)</a:t>
            </a:r>
            <a:endParaRPr lang="en-US" sz="1200" dirty="0"/>
          </a:p>
        </p:txBody>
      </p:sp>
      <p:sp>
        <p:nvSpPr>
          <p:cNvPr id="7" name="canopy-part-0"/>
          <p:cNvSpPr/>
          <p:nvPr/>
        </p:nvSpPr>
        <p:spPr>
          <a:xfrm>
            <a:off x="731520" y="2377440"/>
            <a:ext cx="35661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Canopy web /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Central view · Studio</a:t>
            </a:r>
            <a:endParaRPr lang="en-US" sz="1300" dirty="0"/>
          </a:p>
        </p:txBody>
      </p:sp>
      <p:sp>
        <p:nvSpPr>
          <p:cNvPr id="9" name="canopy-part-1"/>
          <p:cNvSpPr/>
          <p:nvPr/>
        </p:nvSpPr>
        <p:spPr>
          <a:xfrm>
            <a:off x="4480560" y="2377440"/>
            <a:ext cx="35661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Sync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รับเคสจากทุก Leaf · ส่ง Admission ลง</a:t>
            </a:r>
            <a:endParaRPr lang="en-US" sz="1300" dirty="0"/>
          </a:p>
        </p:txBody>
      </p:sp>
      <p:sp>
        <p:nvSpPr>
          <p:cNvPr id="11" name="canopy-part-2"/>
          <p:cNvSpPr/>
          <p:nvPr/>
        </p:nvSpPr>
        <p:spPr>
          <a:xfrm>
            <a:off x="8229600" y="2377440"/>
            <a:ext cx="3200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Haber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License · release · device type</a:t>
            </a:r>
            <a:endParaRPr lang="en-US" sz="1300" dirty="0"/>
          </a:p>
        </p:txBody>
      </p:sp>
      <p:sp>
        <p:nvSpPr>
          <p:cNvPr id="13" name="leaf-0"/>
          <p:cNvSpPr/>
          <p:nvPr/>
        </p:nvSpPr>
        <p:spPr>
          <a:xfrm>
            <a:off x="2743200" y="361188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Leaf · ห้องผ่าตัด OR-01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UI + API + PostgreSQL ในเครื่อง</a:t>
            </a:r>
            <a:endParaRPr lang="en-US" sz="1300" dirty="0"/>
          </a:p>
        </p:txBody>
      </p:sp>
      <p:sp>
        <p:nvSpPr>
          <p:cNvPr id="15" name="leaf-1"/>
          <p:cNvSpPr/>
          <p:nvPr/>
        </p:nvSpPr>
        <p:spPr>
          <a:xfrm>
            <a:off x="6400800" y="3611880"/>
            <a:ext cx="329184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Leaf · ICU เตียง 1–n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Leaf ต่อ 1 เตียง · handover ได้</a:t>
            </a:r>
            <a:endParaRPr lang="en-US" sz="1300" dirty="0"/>
          </a:p>
        </p:txBody>
      </p:sp>
      <p:sp>
        <p:nvSpPr>
          <p:cNvPr id="17" name="gateway-box"/>
          <p:cNvSpPr/>
          <p:nvPr/>
        </p:nvSpPr>
        <p:spPr>
          <a:xfrm>
            <a:off x="548640" y="48006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8280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Gateway · Mini PC Linux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Controller (serial / TCP / UDP / HTTP) → Kafka (72 ชม.) → Parser ต่อเครื่อง → Collector → PostgreSQL → Kong</a:t>
            </a:r>
            <a:endParaRPr lang="en-US" sz="1300" dirty="0"/>
          </a:p>
        </p:txBody>
      </p:sp>
      <p:sp>
        <p:nvSpPr>
          <p:cNvPr id="19" name="device-0"/>
          <p:cNvSpPr/>
          <p:nvPr/>
        </p:nvSpPr>
        <p:spPr>
          <a:xfrm>
            <a:off x="548640" y="5760720"/>
            <a:ext cx="26060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760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monitor</a:t>
            </a:r>
            <a:endParaRPr lang="en-US" sz="1200" dirty="0"/>
          </a:p>
        </p:txBody>
      </p:sp>
      <p:sp>
        <p:nvSpPr>
          <p:cNvPr id="21" name="device-arrow-0"/>
          <p:cNvSpPr/>
          <p:nvPr/>
        </p:nvSpPr>
        <p:spPr>
          <a:xfrm flipV="1">
            <a:off x="1851660" y="5559552"/>
            <a:ext cx="914" cy="20116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22" name="device-1"/>
          <p:cNvSpPr/>
          <p:nvPr/>
        </p:nvSpPr>
        <p:spPr>
          <a:xfrm>
            <a:off x="3383280" y="5760720"/>
            <a:ext cx="26060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5760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เครื่องดมยา</a:t>
            </a:r>
            <a:endParaRPr lang="en-US" sz="1200" dirty="0"/>
          </a:p>
        </p:txBody>
      </p:sp>
      <p:sp>
        <p:nvSpPr>
          <p:cNvPr id="24" name="device-arrow-1"/>
          <p:cNvSpPr/>
          <p:nvPr/>
        </p:nvSpPr>
        <p:spPr>
          <a:xfrm flipV="1">
            <a:off x="4686300" y="5559552"/>
            <a:ext cx="914" cy="20116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25" name="device-2"/>
          <p:cNvSpPr/>
          <p:nvPr/>
        </p:nvSpPr>
        <p:spPr>
          <a:xfrm>
            <a:off x="6217920" y="5760720"/>
            <a:ext cx="26060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5760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Ventilator</a:t>
            </a:r>
            <a:endParaRPr lang="en-US" sz="1200" dirty="0"/>
          </a:p>
        </p:txBody>
      </p:sp>
      <p:sp>
        <p:nvSpPr>
          <p:cNvPr id="27" name="device-arrow-2"/>
          <p:cNvSpPr/>
          <p:nvPr/>
        </p:nvSpPr>
        <p:spPr>
          <a:xfrm flipV="1">
            <a:off x="7520940" y="5559552"/>
            <a:ext cx="914" cy="20116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28" name="device-3"/>
          <p:cNvSpPr/>
          <p:nvPr/>
        </p:nvSpPr>
        <p:spPr>
          <a:xfrm>
            <a:off x="9052560" y="5760720"/>
            <a:ext cx="26060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0" y="5760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Infusion pump</a:t>
            </a:r>
            <a:endParaRPr lang="en-US" sz="1200" dirty="0"/>
          </a:p>
        </p:txBody>
      </p:sp>
      <p:sp>
        <p:nvSpPr>
          <p:cNvPr id="30" name="device-arrow-3"/>
          <p:cNvSpPr/>
          <p:nvPr/>
        </p:nvSpPr>
        <p:spPr>
          <a:xfrm flipV="1">
            <a:off x="10355580" y="5559552"/>
            <a:ext cx="914" cy="20116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1" name="haber-root"/>
          <p:cNvSpPr/>
          <p:nvPr/>
        </p:nvSpPr>
        <p:spPr>
          <a:xfrm flipV="1">
            <a:off x="9829800" y="1810512"/>
            <a:ext cx="914" cy="56692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headEnd type="triangle"/>
            <a:tailEnd type="triangle"/>
          </a:ln>
        </p:spPr>
      </p:sp>
      <p:sp>
        <p:nvSpPr>
          <p:cNvPr id="32" name="leaf-or-sync"/>
          <p:cNvSpPr/>
          <p:nvPr/>
        </p:nvSpPr>
        <p:spPr>
          <a:xfrm flipV="1">
            <a:off x="4389120" y="3154680"/>
            <a:ext cx="1280160" cy="457200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3" name="leaf-icu-sync"/>
          <p:cNvSpPr/>
          <p:nvPr/>
        </p:nvSpPr>
        <p:spPr>
          <a:xfrm flipH="1" flipV="1">
            <a:off x="6949440" y="3154680"/>
            <a:ext cx="1097280" cy="457200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4" name="gw-leaf-or"/>
          <p:cNvSpPr/>
          <p:nvPr/>
        </p:nvSpPr>
        <p:spPr>
          <a:xfrm flipV="1">
            <a:off x="4389120" y="4416552"/>
            <a:ext cx="914" cy="38404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5" name="gw-leaf-icu"/>
          <p:cNvSpPr/>
          <p:nvPr/>
        </p:nvSpPr>
        <p:spPr>
          <a:xfrm flipV="1">
            <a:off x="8046720" y="4416552"/>
            <a:ext cx="914" cy="384048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6" name="gw-haber"/>
          <p:cNvSpPr/>
          <p:nvPr/>
        </p:nvSpPr>
        <p:spPr>
          <a:xfrm flipV="1">
            <a:off x="11247120" y="3154680"/>
            <a:ext cx="914" cy="1645920"/>
          </a:xfrm>
          <a:prstGeom prst="line">
            <a:avLst/>
          </a:prstGeom>
          <a:noFill/>
          <a:ln w="19050">
            <a:solidFill>
              <a:srgbClr val="8A9A9C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3152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↑ Leaf ส่งขึ้นทุก 10 วินาที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4462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↑ Leaf ดึงค่าทุก 2 วินาที ผ่าน Kong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462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check-in + alert ทุก 30 วินาที ↑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หน้าที่ของแต่ละชั้น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45720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ชั้น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อยู่ที่ไหน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หน้าที่หลัก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Root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Cloud ของผู้พัฒนา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Tenant, License, release ที่เซ็นแล้ว, registry, รับ heartbeat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FastAPI, PostgreSQL 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Canopy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Server กลางของโรงพยาบาล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Central view, Admission, Studio, รับ sync จาก Leaf, Haber แจก License/release/device type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React, FastAPI, PostgreSQL, LDAP/AD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ข้างเตียง / ห้องผ่าตัด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บันทึกเคส, ฐานข้อมูลในเครื่อง, sync worker, STT ภาษาไทย (เลือกได้)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React (browser / Electron), FastAPI, PostgreSQL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กล่องใกล้เครื่องมือแพทย์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รับค่า แปลงเป็นรหัสกลาง เก็บ และให้ Leaf ดึง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Rust, Kafka, Python parser, PostgreSQL, Kong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คู่กับทุก Canopy / Leaf / Gateway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ถาม Haber ทุก 30 วินาที ตรวจลายเซ็น อัปเดต และ rollback ใน 180 วินาที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Docker Compose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Root เป็นที่เดียวที่ build image · โรงพยาบาลต้องอนุมัติ release ก่อน · ไม่อัปเดต Leaf ที่มีเคสกำลังทำ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จากเครื่องถึงส่วนกลางใน 8 ขั้น ทุกขั้นเก็บก่อนส่งต่อ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GATEWAY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LEAF → CANOPY</a:t>
            </a:r>
            <a:endParaRPr lang="en-US" sz="1200" dirty="0"/>
          </a:p>
        </p:txBody>
      </p:sp>
      <p:sp>
        <p:nvSpPr>
          <p:cNvPr id="5" name="step-card-1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6" name="step-num-1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รับค่าจากเครื่อง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RS-232, HL7 v2 (MLLP), UDP multicast, TCP, HTTP</a:t>
            </a:r>
            <a:endParaRPr lang="en-US" sz="1300" dirty="0"/>
          </a:p>
        </p:txBody>
      </p:sp>
      <p:sp>
        <p:nvSpPr>
          <p:cNvPr id="10" name="step-card-2"/>
          <p:cNvSpPr/>
          <p:nvPr/>
        </p:nvSpPr>
        <p:spPr>
          <a:xfrm>
            <a:off x="33832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1" name="step-num-2"/>
          <p:cNvSpPr/>
          <p:nvPr/>
        </p:nvSpPr>
        <p:spPr>
          <a:xfrm>
            <a:off x="35661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พักข้อมูลดิบ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77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Kafka เก็บไว้ 72 ชั่วโมง</a:t>
            </a:r>
            <a:endParaRPr lang="en-US" sz="1300" dirty="0"/>
          </a:p>
        </p:txBody>
      </p:sp>
      <p:sp>
        <p:nvSpPr>
          <p:cNvPr id="15" name="step-card-3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6" name="step-num-3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แปลงค่า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377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Parser ต่อเครื่อง → รหัสกลาง ivy_param + เวลาเครื่องและเวลาระบบ</a:t>
            </a:r>
            <a:endParaRPr lang="en-US" sz="1300" dirty="0"/>
          </a:p>
        </p:txBody>
      </p:sp>
      <p:sp>
        <p:nvSpPr>
          <p:cNvPr id="20" name="step-card-4"/>
          <p:cNvSpPr/>
          <p:nvPr/>
        </p:nvSpPr>
        <p:spPr>
          <a:xfrm>
            <a:off x="905256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1" name="step-num-4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เก็บบน Gateway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377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Collector เขียน PostgreSQL แบบ commit หลังเก็บ</a:t>
            </a:r>
            <a:endParaRPr lang="en-US" sz="1300" dirty="0"/>
          </a:p>
        </p:txBody>
      </p:sp>
      <p:sp>
        <p:nvSpPr>
          <p:cNvPr id="25" name="step-card-5"/>
          <p:cNvSpPr/>
          <p:nvPr/>
        </p:nvSpPr>
        <p:spPr>
          <a:xfrm>
            <a:off x="548640" y="40233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6" name="step-num-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Leaf ดึงค่า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ทุก 2 วินาทีผ่าน Kong เห็นเฉพาะเครื่องตัวเอง เก็บเป็นรายนาที</a:t>
            </a:r>
            <a:endParaRPr lang="en-US" sz="1300" dirty="0"/>
          </a:p>
        </p:txBody>
      </p:sp>
      <p:sp>
        <p:nvSpPr>
          <p:cNvPr id="30" name="step-card-6"/>
          <p:cNvSpPr/>
          <p:nvPr/>
        </p:nvSpPr>
        <p:spPr>
          <a:xfrm>
            <a:off x="3383280" y="40233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31" name="step-num-6"/>
          <p:cNvSpPr/>
          <p:nvPr/>
        </p:nvSpPr>
        <p:spPr>
          <a:xfrm>
            <a:off x="3566160" y="4206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ผู้ใช้ตรวจค่า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Invalidate ช่วงที่ผิดปกติพร้อมเหตุผล ค่าดิบไม่ถูกลบ</a:t>
            </a:r>
            <a:endParaRPr lang="en-US" sz="1300" dirty="0"/>
          </a:p>
        </p:txBody>
      </p:sp>
      <p:sp>
        <p:nvSpPr>
          <p:cNvPr id="35" name="step-card-7"/>
          <p:cNvSpPr/>
          <p:nvPr/>
        </p:nvSpPr>
        <p:spPr>
          <a:xfrm>
            <a:off x="6217920" y="40233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36" name="step-num-7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ส่งขึ้น Canopy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Sync ทุก 10 วินาที ส่งซ้ำได้ไม่เกิดข้อมูลซ้อน</a:t>
            </a:r>
            <a:endParaRPr lang="en-US" sz="1300" dirty="0"/>
          </a:p>
        </p:txBody>
      </p:sp>
      <p:sp>
        <p:nvSpPr>
          <p:cNvPr id="40" name="step-card-8"/>
          <p:cNvSpPr/>
          <p:nvPr/>
        </p:nvSpPr>
        <p:spPr>
          <a:xfrm>
            <a:off x="9052560" y="40233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41" name="step-num-8"/>
          <p:cNvSpPr/>
          <p:nvPr/>
        </p:nvSpPr>
        <p:spPr>
          <a:xfrm>
            <a:off x="9235440" y="4206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354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82980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ดูที่ส่วนกลาง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235440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Central view, สถานะ Leaf และ Gateway alert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เมื่อเกิดเหตุขัดข้อง การบันทึกไม่หยุด</a:t>
            </a:r>
            <a:endParaRPr lang="en-US" sz="2800" dirty="0"/>
          </a:p>
        </p:txBody>
      </p:sp>
      <p:sp>
        <p:nvSpPr>
          <p:cNvPr id="3" name="resilience-circle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resilienc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007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60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ทุกชั้นเก็บข้อมูลไว้เองก่อนส่งต่อ ปลายทางหยุดชั่วคราวข้อมูลจึงไม่หาย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เหตุการณ์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ระบบทำอะไร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Canopy หรือเครือข่ายล่ม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Leaf บันทึกต่อในฐานข้อมูลตัวเอง เข้าระบบด้วยผู้ใช้ที่ cache ไว้ แล้ว sync เมื่อกลับมา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Leaf อ่านค่าจาก Gateway ไม่ได้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อ่านนาทีนั้นใหม่ ตามทันได้ครั้งละ 60 นาที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เครื่องมือแพทย์เงียบเกิน 2 นาที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เปิด alert ส่งให้ Canopy (หน้า Gateway Alerts)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หลุดจาก Canopy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ทำงานต่อด้วย License ล่าสุด เก็บ alert ไว้ส่งทีหลัง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เปลี่ยนกล่อง Gateway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Config และตำแหน่งเก็บที่ Canopy ดึงกลับมาใช้ตอน check-in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License หมดอายุหรือถูกเพิกถอน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หยุด parser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 release ใหม่ระหว่างเคส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Updater รอจนไม่มีเคสกำลังทำ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ตอบโจทย์งานคลินิก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ห้องผ่าตัด (OR) และหอผู้ป่วยวิกฤต (ICU)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OR: ครอบคลุมตั้งแต่รับตารางผ่าตัดจนพิมพ์ Anesthesia record</a:t>
            </a:r>
            <a:endParaRPr lang="en-US" sz="2800" dirty="0"/>
          </a:p>
        </p:txBody>
      </p:sp>
      <p:sp>
        <p:nvSpPr>
          <p:cNvPr id="3" name="or-step-0"/>
          <p:cNvSpPr/>
          <p:nvPr/>
        </p:nvSpPr>
        <p:spPr>
          <a:xfrm>
            <a:off x="548640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ก่อนผ่าตัด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รับนัดและผู้ป่วยจาก HIS (SIU, ORM, ADT) เตรียม Admission และ Pre-op</a:t>
            </a:r>
            <a:endParaRPr lang="en-US" sz="1300" dirty="0"/>
          </a:p>
        </p:txBody>
      </p:sp>
      <p:sp>
        <p:nvSpPr>
          <p:cNvPr id="6" name="or-step-1"/>
          <p:cNvSpPr/>
          <p:nvPr/>
        </p:nvSpPr>
        <p:spPr>
          <a:xfrm>
            <a:off x="2130552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เริ่มเคส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ตรวจเคสซ้อน ล็อก Workflow ของ Ward ไว้กับเคส</a:t>
            </a:r>
            <a:endParaRPr lang="en-US" sz="1300" dirty="0"/>
          </a:p>
        </p:txBody>
      </p:sp>
      <p:sp>
        <p:nvSpPr>
          <p:cNvPr id="9" name="or-step-2"/>
          <p:cNvSpPr/>
          <p:nvPr/>
        </p:nvSpPr>
        <p:spPr>
          <a:xfrm>
            <a:off x="3712464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86784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Checklist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58184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Section Checklist ใน Anesthesia record</a:t>
            </a:r>
            <a:endParaRPr lang="en-US" sz="1300" dirty="0"/>
          </a:p>
        </p:txBody>
      </p:sp>
      <p:sp>
        <p:nvSpPr>
          <p:cNvPr id="12" name="or-step-3"/>
          <p:cNvSpPr/>
          <p:nvPr/>
        </p:nvSpPr>
        <p:spPr>
          <a:xfrm>
            <a:off x="5294376" y="1600200"/>
            <a:ext cx="169164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68696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ระหว่างดมยา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0096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Vitals ทุกนาที, Event, ยา bolus/drip, สารน้ำ, เลือด, I/O</a:t>
            </a:r>
            <a:endParaRPr lang="en-US" sz="1300" dirty="0"/>
          </a:p>
        </p:txBody>
      </p:sp>
      <p:sp>
        <p:nvSpPr>
          <p:cNvPr id="15" name="or-step-4"/>
          <p:cNvSpPr/>
          <p:nvPr/>
        </p:nvSpPr>
        <p:spPr>
          <a:xfrm>
            <a:off x="6876288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50608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เทคนิคดมยา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22008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 (ETT, LMA, tubeless), Neuraxial, PNB, Line, Pain</a:t>
            </a:r>
            <a:endParaRPr lang="en-US" sz="1300" dirty="0"/>
          </a:p>
        </p:txBody>
      </p:sp>
      <p:sp>
        <p:nvSpPr>
          <p:cNvPr id="18" name="or-step-5"/>
          <p:cNvSpPr/>
          <p:nvPr/>
        </p:nvSpPr>
        <p:spPr>
          <a:xfrm>
            <a:off x="8458200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32520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PACU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Section PACU และ Outcome, Discharge หยุด drip</a:t>
            </a:r>
            <a:endParaRPr lang="en-US" sz="1300" dirty="0"/>
          </a:p>
        </p:txBody>
      </p:sp>
      <p:sp>
        <p:nvSpPr>
          <p:cNvPr id="21" name="or-step-6"/>
          <p:cNvSpPr/>
          <p:nvPr/>
        </p:nvSpPr>
        <p:spPr>
          <a:xfrm>
            <a:off x="10040112" y="1600200"/>
            <a:ext cx="1691640" cy="777240"/>
          </a:xfrm>
          <a:prstGeom prst="chevron">
            <a:avLst/>
          </a:prstGeom>
          <a:solidFill>
            <a:schemeClr val="bg2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4432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หลังจบเคส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2606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Case packet PDF, Archive แก้ไม่ได้, Report / AI Studio</a:t>
            </a:r>
            <a:endParaRPr lang="en-US" sz="1300" dirty="0"/>
          </a:p>
        </p:txBody>
      </p:sp>
      <p:sp>
        <p:nvSpPr>
          <p:cNvPr id="24" name="or-note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ค่าจากเครื่องเข้าเองทุกนาที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ผู้ใช้บันทึกเฉพาะสิ่งที่เครื่องให้ไม่ได้ เช่น Event ยา และเทคนิคการดมยา ส่วนเอกสารเรียงตามที่ Workflow ของแต่ละ Ward กำหนด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ทำไมเหมาะกับห้องผ่าตัด</a:t>
            </a:r>
            <a:endParaRPr lang="en-US" sz="2800" dirty="0"/>
          </a:p>
        </p:txBody>
      </p:sp>
      <p:sp>
        <p:nvSpPr>
          <p:cNvPr id="3" name="why-or-0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4" name="why-or-0-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hy-or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ติดตั้งแบบ 1:1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ลง Gateway บนเครื่องเดิมได้ ไม่ต้องมีกล่องแยก (จากการประชุม 8 ต.ค. ยังต้องยืนยัน)</a:t>
            </a:r>
            <a:endParaRPr lang="en-US" sz="1300" dirty="0"/>
          </a:p>
        </p:txBody>
      </p:sp>
      <p:sp>
        <p:nvSpPr>
          <p:cNvPr id="8" name="why-or-1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9" name="why-or-1-circle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why-or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ไม่หยุดกลางเคส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เครือข่ายล่มก็บันทึกต่อได้ แล้ว sync เมื่อกลับมา</a:t>
            </a:r>
            <a:endParaRPr lang="en-US" sz="1300" dirty="0"/>
          </a:p>
        </p:txBody>
      </p:sp>
      <p:sp>
        <p:nvSpPr>
          <p:cNvPr id="13" name="why-or-2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4" name="why-or-2-circle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why-or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9037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737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ไม่อัปเดตระหว่างเคส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Updater รอจนไม่มีเคสกำลังทำ</a:t>
            </a:r>
            <a:endParaRPr lang="en-US" sz="1300" dirty="0"/>
          </a:p>
        </p:txBody>
      </p:sp>
      <p:sp>
        <p:nvSpPr>
          <p:cNvPr id="18" name="why-or-3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9" name="why-or-3-circle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why-or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2812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114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แต่ละ Ward กำหนดเอง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Workflow และฟอร์มใน Studio ไม่ต้องรอ vendor</a:t>
            </a:r>
            <a:endParaRPr lang="en-US" sz="1300" dirty="0"/>
          </a:p>
        </p:txBody>
      </p:sp>
      <p:sp>
        <p:nvSpPr>
          <p:cNvPr id="23" name="why-or-4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4" name="why-or-4-circle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why-or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2812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114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สั่งด้วยเสียงภาษาไทย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Speech-to-text แบบ offline (เลือกติดตั้ง)</a:t>
            </a:r>
            <a:endParaRPr lang="en-US" sz="1300" dirty="0"/>
          </a:p>
        </p:txBody>
      </p:sp>
      <p:sp>
        <p:nvSpPr>
          <p:cNvPr id="28" name="why-or-5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9" name="why-or-5-circle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why-or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28122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4114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ค่าเข้าเองทุกนาที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Vitals จาก monitor และเครื่องดมยา ไม่ต้องจดด้วยมือ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ICU: หลายเตียง หลายเครื่อง ดูได้จากจุดเดียว</a:t>
            </a:r>
            <a:endParaRPr lang="en-US" sz="2800" dirty="0"/>
          </a:p>
        </p:txBody>
      </p:sp>
      <p:sp>
        <p:nvSpPr>
          <p:cNvPr id="3" name="icu-card-0"/>
          <p:cNvSpPr/>
          <p:nvPr/>
        </p:nvSpPr>
        <p:spPr>
          <a:xfrm>
            <a:off x="54864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เครื่องจำนวนมากในหอ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Gateway กล่องเดียวรับหลายเครื่อง ผูกกับ Leaf ของแต่ละเตียง</a:t>
            </a:r>
            <a:endParaRPr lang="en-US" sz="1300" dirty="0"/>
          </a:p>
        </p:txBody>
      </p:sp>
      <p:sp>
        <p:nvSpPr>
          <p:cNvPr id="6" name="icu-card-1"/>
          <p:cNvSpPr/>
          <p:nvPr/>
        </p:nvSpPr>
        <p:spPr>
          <a:xfrm>
            <a:off x="338328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ดูทุกเตียงจากจุดเดียว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ICU overview: online / delayed / offline และเคสที่ดูแล</a:t>
            </a:r>
            <a:endParaRPr lang="en-US" sz="1300" dirty="0"/>
          </a:p>
        </p:txBody>
      </p:sp>
      <p:sp>
        <p:nvSpPr>
          <p:cNvPr id="9" name="icu-card-2"/>
          <p:cNvSpPr/>
          <p:nvPr/>
        </p:nvSpPr>
        <p:spPr>
          <a:xfrm>
            <a:off x="621792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รู้เมื่อเครื่องหยุดส่งค่า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Gateway alert เมื่อเครื่องเงียบเกิน 2 นาที</a:t>
            </a:r>
            <a:endParaRPr lang="en-US" sz="1300" dirty="0"/>
          </a:p>
        </p:txBody>
      </p:sp>
      <p:sp>
        <p:nvSpPr>
          <p:cNvPr id="12" name="icu-card-3"/>
          <p:cNvSpPr/>
          <p:nvPr/>
        </p:nvSpPr>
        <p:spPr>
          <a:xfrm>
            <a:off x="905256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รับผู้ป่วยเข้าหอ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Admission จาก ward desk, tablet หรือ HIS (ADT)</a:t>
            </a:r>
            <a:endParaRPr lang="en-US" sz="1300" dirty="0"/>
          </a:p>
        </p:txBody>
      </p:sp>
      <p:sp>
        <p:nvSpPr>
          <p:cNvPr id="15" name="icu-card-4"/>
          <p:cNvSpPr/>
          <p:nvPr/>
        </p:nvSpPr>
        <p:spPr>
          <a:xfrm>
            <a:off x="548640" y="338328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ย้ายเตียง / ส่งต่อ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Handover ส่งเคสทั้งหมดให้ Leaf อื่น ย้ายเครื่องตามได้</a:t>
            </a:r>
            <a:endParaRPr lang="en-US" sz="1300" dirty="0"/>
          </a:p>
        </p:txBody>
      </p:sp>
      <p:sp>
        <p:nvSpPr>
          <p:cNvPr id="18" name="icu-card-5"/>
          <p:cNvSpPr/>
          <p:nvPr/>
        </p:nvSpPr>
        <p:spPr>
          <a:xfrm>
            <a:off x="3383280" y="338328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ค่าผิดปกติจากการเคลื่อนไหว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Invalidate พร้อมเหตุผล ยกเลิกได้ ค่าดิบไม่หาย</a:t>
            </a:r>
            <a:endParaRPr lang="en-US" sz="1300" dirty="0"/>
          </a:p>
        </p:txBody>
      </p:sp>
      <p:sp>
        <p:nvSpPr>
          <p:cNvPr id="21" name="icu-card-6"/>
          <p:cNvSpPr/>
          <p:nvPr/>
        </p:nvSpPr>
        <p:spPr>
          <a:xfrm>
            <a:off x="6217920" y="338328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แต่ละหน่วยบันทึกต่างกัน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Workflow ฟอร์ม และสิทธิ์ผู้ใช้แยกตาม Ward</a:t>
            </a:r>
            <a:endParaRPr lang="en-US" sz="1300" dirty="0"/>
          </a:p>
        </p:txBody>
      </p:sp>
      <p:sp>
        <p:nvSpPr>
          <p:cNvPr id="24" name="icu-card-7"/>
          <p:cNvSpPr/>
          <p:nvPr/>
        </p:nvSpPr>
        <p:spPr>
          <a:xfrm>
            <a:off x="9052560" y="338328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9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ตำแหน่งเตียงชัดเจน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โรงพยาบาล → อาคาร → หน่วย → ห้อง → เตียง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ข้อจำกัดปัจจุบัน: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Canopy เก็บสำเนาเคส 24 ชั่วโมงล่าสุด ข้อมูลเต็มอยู่ที่ Leaf ยังไม่มีหน้าจอสำหรับผู้ป่วยที่อยู่หลายวัน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คำศัพท์หลัก 16 คำที่ทุกคู่มือใช้ร่วมกัน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Admission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เคสที่เตรียมไว้ที่ Canopy หรือมาจาก HIS รอเปิดที่ Leaf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Case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การดูแลผู้ป่วยหนึ่งครั้งบน Leaf: active, discharged, archived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Central view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หน้าจอภาพรวมทุก Ward ทุกเตียงที่ Canopy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Event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เหตุการณ์คลินิกพร้อมเวลา เช่น induction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Gateway alert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แจ้งเตือนเมื่อหลุดจาก Canopy หรือเครื่องเงียบเกิน 2 นาที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Haber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บริการใน Canopy ที่แจก License, release และ device type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Handover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ส่งเคสทั้งหมดให้ Leaf อื่นทำต่อ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Invalidate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ทำเครื่องหมายค่าผิดปกติช่วงหนึ่ง ค่าดิบไม่ถูกลบ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ivy_param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รหัสกลางของ parameter เช่น HR, SpO2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เครื่องบันทึกข้างเตียงหรือห้องผ่าตัด 1 เครื่องต่อ 1 จุด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License bundle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สิทธิ์ที่ Root เซ็น: module และจำนวน Leaf, Gateway, เครื่อง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Observation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ค่าจากเครื่องหลังแปลง มี ivy_param และเวลา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Release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image ที่ Root เซ็น โรงพยาบาลอนุมัติก่อนติดตั้ง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Tenant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โรงพยาบาลหนึ่งแห่ง = Canopy หนึ่งชุด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Ward / Unit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หน่วยที่ Leaf สังกัด ใช้กำหนด Workflow และสิทธิ์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Workflow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กำหนด section ฟอร์ม และเอกสารที่พิมพ์ ต่อ Ward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ตารางคำศัพท์ฉบับเต็มอยู่ในเอกสารภาพรวมแพลตฟอร์ม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เก็บก่อนส่ง ทำงานต่อได้ทุกชั้น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ค่าจากเครื่องเข้าเวชระเบียนเองทุกนาที · ส่วนกลางเห็นทุกเตียง · แต่ละ Ward ปรับ Workflow เอง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ต้องยืนยันก่อนใช้งานจริง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D8D5"/>
                </a:solidFill>
              </a:rPr>
              <a:t>การตั้งเวลามาตรฐาน (NTP) ทุก Leaf และ Gateway · หน้าจอ ICU สำหรับผู้ป่วยหลายวัน · การติดตั้ง Gateway บนเครื่องดมยาโดยตรง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ra">
  <a:themeElements>
    <a:clrScheme name="Flora">
      <a:dk1>
        <a:srgbClr val="1E2B2D"/>
      </a:dk1>
      <a:lt1>
        <a:srgbClr val="FFFFFF"/>
      </a:lt1>
      <a:dk2>
        <a:srgbClr val="0F2A2E"/>
      </a:dk2>
      <a:lt2>
        <a:srgbClr val="EEF4F1"/>
      </a:lt2>
      <a:accent1>
        <a:srgbClr val="1F7A63"/>
      </a:accent1>
      <a:accent2>
        <a:srgbClr val="D9682E"/>
      </a:accent2>
      <a:accent3>
        <a:srgbClr val="2E6F95"/>
      </a:accent3>
      <a:accent4>
        <a:srgbClr val="7FD1B5"/>
      </a:accent4>
      <a:accent5>
        <a:srgbClr val="6B7A7C"/>
      </a:accent5>
      <a:accent6>
        <a:srgbClr val="C9A227"/>
      </a:accent6>
      <a:hlink>
        <a:srgbClr val="1F7A63"/>
      </a:hlink>
      <a:folHlink>
        <a:srgbClr val="17604E"/>
      </a:folHlink>
    </a:clrScheme>
    <a:fontScheme name="Flora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Platform — ภาพรวมแพลตฟอร์ม</dc:title>
  <dc:subject>PptxGenJS Presentation</dc:subject>
  <dc:creator>Flora</dc:creator>
  <cp:lastModifiedBy>Flora</cp:lastModifiedBy>
  <cp:revision>1</cp:revision>
  <dcterms:created xsi:type="dcterms:W3CDTF">2026-10-14T03:24:19Z</dcterms:created>
  <dcterms:modified xsi:type="dcterms:W3CDTF">2026-10-14T03:24:19Z</dcterms:modified>
</cp:coreProperties>
</file>