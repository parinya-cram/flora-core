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df0435a-011e-480f-8ce4-d308bd9c8af6}">
          <p14:sldIdLst>
            <p14:sldId id="256"/>
            <p14:sldId id="257"/>
            <p14:sldId id="258"/>
            <p14:sldId id="259"/>
          </p14:sldIdLst>
        </p14:section>
        <p14:section name="Architecture" id="{6d741080-a2fd-0d8b-d8d6-1b4a455e1a69}">
          <p14:sldIdLst>
            <p14:sldId id="260"/>
            <p14:sldId id="261"/>
            <p14:sldId id="262"/>
            <p14:sldId id="263"/>
            <p14:sldId id="264"/>
          </p14:sldIdLst>
        </p14:section>
        <p14:section name="Using the station admin" id="{d6d3be48-7e17-2aec-8cd4-2e55e39c2e6b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Procedures" id="{ce3acfc9-f135-3ea8-e671-1f9c1feb12dd}">
          <p14:sldIdLst>
            <p14:sldId id="273"/>
            <p14:sldId id="274"/>
          </p14:sldIdLst>
        </p14:section>
        <p14:section name="Data structures" id="{b6009014-2c30-c63f-bd77-72cadbb74940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Updates and devices" id="{babca4a7-0eb6-c31e-a241-880926ffc7dd}">
          <p14:sldIdLst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summarises the ESM Flora Gateway user and operations manual. The Word manual contains every field, table and procedure in full.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procedures, configuration keys and the complete data dictionary are in the Word manual ESM-Flora-Gateway-User-Manual.docx.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73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8016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BFE6D4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73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BFE6D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73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3152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993"/>
                </a:solidFill>
              </a:rPr>
              <a:t>ESM Flora Gateway · User and Operations Guide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8016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ESM Flora Gateway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BFE6D4"/>
                </a:solidFill>
              </a:rPr>
              <a:t>User and Operations Guide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BFE6D4"/>
                </a:solidFill>
              </a:rPr>
              <a:t>Version 1.0 · October 2026 · release gateway-0.2.4</a:t>
            </a:r>
            <a:endParaRPr lang="en-US" sz="2000" dirty="0"/>
          </a:p>
        </p:txBody>
      </p:sp>
      <p:sp>
        <p:nvSpPr>
          <p:cNvPr id="4" name="diagram card"/>
          <p:cNvSpPr/>
          <p:nvPr/>
        </p:nvSpPr>
        <p:spPr>
          <a:xfrm>
            <a:off x="6949440" y="2011680"/>
            <a:ext cx="48463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ESM Flora platform" descr="ESM Flora plat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227630"/>
            <a:ext cx="4572000" cy="1890677"/>
          </a:xfrm>
          <a:prstGeom prst="rect">
            <a:avLst/>
          </a:prstGeom>
        </p:spPr>
      </p:pic>
      <p:sp>
        <p:nvSpPr>
          <p:cNvPr id="6" name="tagline"/>
          <p:cNvSpPr txBox="1"/>
          <p:nvPr/>
        </p:nvSpPr>
        <p:spPr>
          <a:xfrm>
            <a:off x="640080" y="47548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8A6"/>
                </a:solidFill>
              </a:rPr>
              <a:t>Connects bedside medical devices to ESM Flora Leaf workstations, with licensing and updates controlled by Canopy and Root.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this guide covers</a:t>
            </a:r>
            <a:endParaRPr lang="en-US" sz="3200" dirty="0"/>
          </a:p>
        </p:txBody>
      </p:sp>
      <p:sp>
        <p:nvSpPr>
          <p:cNvPr id="3" name="num0"/>
          <p:cNvSpPr txBox="1"/>
          <p:nvPr/>
        </p:nvSpPr>
        <p:spPr>
          <a:xfrm>
            <a:off x="640080" y="1463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01</a:t>
            </a:r>
            <a:endParaRPr lang="en-US" sz="2800" dirty="0"/>
          </a:p>
        </p:txBody>
      </p:sp>
      <p:sp>
        <p:nvSpPr>
          <p:cNvPr id="4" name="Overview icon bg"/>
          <p:cNvSpPr/>
          <p:nvPr/>
        </p:nvSpPr>
        <p:spPr>
          <a:xfrm>
            <a:off x="1417320" y="1463040"/>
            <a:ext cx="566928" cy="566928"/>
          </a:xfrm>
          <a:prstGeom prst="ellipse">
            <a:avLst/>
          </a:prstGeom>
          <a:solidFill>
            <a:srgbClr val="2F6F4F"/>
          </a:solidFill>
          <a:ln w="12700">
            <a:solidFill>
              <a:srgbClr val="2F6F4F"/>
            </a:solidFill>
            <a:prstDash val="solid"/>
          </a:ln>
        </p:spPr>
      </p:sp>
      <p:pic>
        <p:nvPicPr>
          <p:cNvPr id="5" name="Overview icon" descr="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600200"/>
            <a:ext cx="292608" cy="292608"/>
          </a:xfrm>
          <a:prstGeom prst="rect">
            <a:avLst/>
          </a:prstGeom>
        </p:spPr>
      </p:pic>
      <p:sp>
        <p:nvSpPr>
          <p:cNvPr id="6" name="Overview"/>
          <p:cNvSpPr txBox="1"/>
          <p:nvPr/>
        </p:nvSpPr>
        <p:spPr>
          <a:xfrm>
            <a:off x="2194560" y="1389888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Overview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B64"/>
                </a:solidFill>
              </a:rPr>
              <a:t>What the gateway does and where it fits</a:t>
            </a:r>
            <a:endParaRPr lang="en-US" sz="1900" dirty="0"/>
          </a:p>
        </p:txBody>
      </p:sp>
      <p:sp>
        <p:nvSpPr>
          <p:cNvPr id="7" name="num1"/>
          <p:cNvSpPr txBox="1"/>
          <p:nvPr/>
        </p:nvSpPr>
        <p:spPr>
          <a:xfrm>
            <a:off x="6309360" y="1463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Architecture icon bg"/>
          <p:cNvSpPr/>
          <p:nvPr/>
        </p:nvSpPr>
        <p:spPr>
          <a:xfrm>
            <a:off x="7086600" y="1463040"/>
            <a:ext cx="566928" cy="566928"/>
          </a:xfrm>
          <a:prstGeom prst="ellipse">
            <a:avLst/>
          </a:prstGeom>
          <a:solidFill>
            <a:srgbClr val="2F6F4F"/>
          </a:solidFill>
          <a:ln w="12700">
            <a:solidFill>
              <a:srgbClr val="2F6F4F"/>
            </a:solidFill>
            <a:prstDash val="solid"/>
          </a:ln>
        </p:spPr>
      </p:sp>
      <p:pic>
        <p:nvPicPr>
          <p:cNvPr id="9" name="Architecture icon" descr="Architec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600200"/>
            <a:ext cx="292608" cy="292608"/>
          </a:xfrm>
          <a:prstGeom prst="rect">
            <a:avLst/>
          </a:prstGeom>
        </p:spPr>
      </p:pic>
      <p:sp>
        <p:nvSpPr>
          <p:cNvPr id="10" name="Architecture"/>
          <p:cNvSpPr txBox="1"/>
          <p:nvPr/>
        </p:nvSpPr>
        <p:spPr>
          <a:xfrm>
            <a:off x="7863840" y="1389888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Architecture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B64"/>
                </a:solidFill>
              </a:rPr>
              <a:t>Layers, data flow and technology stack</a:t>
            </a:r>
            <a:endParaRPr lang="en-US" sz="1900" dirty="0"/>
          </a:p>
        </p:txBody>
      </p:sp>
      <p:sp>
        <p:nvSpPr>
          <p:cNvPr id="11" name="num2"/>
          <p:cNvSpPr txBox="1"/>
          <p:nvPr/>
        </p:nvSpPr>
        <p:spPr>
          <a:xfrm>
            <a:off x="640080" y="3017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03</a:t>
            </a:r>
            <a:endParaRPr lang="en-US" sz="2800" dirty="0"/>
          </a:p>
        </p:txBody>
      </p:sp>
      <p:sp>
        <p:nvSpPr>
          <p:cNvPr id="12" name="Using the station admin icon bg"/>
          <p:cNvSpPr/>
          <p:nvPr/>
        </p:nvSpPr>
        <p:spPr>
          <a:xfrm>
            <a:off x="1417320" y="3017520"/>
            <a:ext cx="566928" cy="566928"/>
          </a:xfrm>
          <a:prstGeom prst="ellipse">
            <a:avLst/>
          </a:prstGeom>
          <a:solidFill>
            <a:srgbClr val="2F6F4F"/>
          </a:solidFill>
          <a:ln w="12700">
            <a:solidFill>
              <a:srgbClr val="2F6F4F"/>
            </a:solidFill>
            <a:prstDash val="solid"/>
          </a:ln>
        </p:spPr>
      </p:sp>
      <p:pic>
        <p:nvPicPr>
          <p:cNvPr id="13" name="Using the station admin icon" descr="Using the station adm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154680"/>
            <a:ext cx="292608" cy="292608"/>
          </a:xfrm>
          <a:prstGeom prst="rect">
            <a:avLst/>
          </a:prstGeom>
        </p:spPr>
      </p:pic>
      <p:sp>
        <p:nvSpPr>
          <p:cNvPr id="14" name="Using the station admin"/>
          <p:cNvSpPr txBox="1"/>
          <p:nvPr/>
        </p:nvSpPr>
        <p:spPr>
          <a:xfrm>
            <a:off x="2194560" y="2944368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Using the station admin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B64"/>
                </a:solidFill>
              </a:rPr>
              <a:t>Overview, Devices, Streams, Alerts, System</a:t>
            </a:r>
            <a:endParaRPr lang="en-US" sz="1900" dirty="0"/>
          </a:p>
        </p:txBody>
      </p:sp>
      <p:sp>
        <p:nvSpPr>
          <p:cNvPr id="15" name="num3"/>
          <p:cNvSpPr txBox="1"/>
          <p:nvPr/>
        </p:nvSpPr>
        <p:spPr>
          <a:xfrm>
            <a:off x="6309360" y="3017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04</a:t>
            </a:r>
            <a:endParaRPr lang="en-US" sz="2800" dirty="0"/>
          </a:p>
        </p:txBody>
      </p:sp>
      <p:sp>
        <p:nvSpPr>
          <p:cNvPr id="16" name="Procedures icon bg"/>
          <p:cNvSpPr/>
          <p:nvPr/>
        </p:nvSpPr>
        <p:spPr>
          <a:xfrm>
            <a:off x="7086600" y="3017520"/>
            <a:ext cx="566928" cy="566928"/>
          </a:xfrm>
          <a:prstGeom prst="ellipse">
            <a:avLst/>
          </a:prstGeom>
          <a:solidFill>
            <a:srgbClr val="2F6F4F"/>
          </a:solidFill>
          <a:ln w="12700">
            <a:solidFill>
              <a:srgbClr val="2F6F4F"/>
            </a:solidFill>
            <a:prstDash val="solid"/>
          </a:ln>
        </p:spPr>
      </p:sp>
      <p:pic>
        <p:nvPicPr>
          <p:cNvPr id="17" name="Procedures icon" descr="Procedur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3154680"/>
            <a:ext cx="292608" cy="292608"/>
          </a:xfrm>
          <a:prstGeom prst="rect">
            <a:avLst/>
          </a:prstGeom>
        </p:spPr>
      </p:pic>
      <p:sp>
        <p:nvSpPr>
          <p:cNvPr id="18" name="Procedures"/>
          <p:cNvSpPr txBox="1"/>
          <p:nvPr/>
        </p:nvSpPr>
        <p:spPr>
          <a:xfrm>
            <a:off x="7863840" y="2944368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Procedures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B64"/>
                </a:solidFill>
              </a:rPr>
              <a:t>Register devices, check data, troubleshoot</a:t>
            </a:r>
            <a:endParaRPr lang="en-US" sz="1900" dirty="0"/>
          </a:p>
        </p:txBody>
      </p:sp>
      <p:sp>
        <p:nvSpPr>
          <p:cNvPr id="19" name="num4"/>
          <p:cNvSpPr txBox="1"/>
          <p:nvPr/>
        </p:nvSpPr>
        <p:spPr>
          <a:xfrm>
            <a:off x="640080" y="4572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05</a:t>
            </a:r>
            <a:endParaRPr lang="en-US" sz="2800" dirty="0"/>
          </a:p>
        </p:txBody>
      </p:sp>
      <p:sp>
        <p:nvSpPr>
          <p:cNvPr id="20" name="Data structures icon bg"/>
          <p:cNvSpPr/>
          <p:nvPr/>
        </p:nvSpPr>
        <p:spPr>
          <a:xfrm>
            <a:off x="1417320" y="4572000"/>
            <a:ext cx="566928" cy="566928"/>
          </a:xfrm>
          <a:prstGeom prst="ellipse">
            <a:avLst/>
          </a:prstGeom>
          <a:solidFill>
            <a:srgbClr val="2F6F4F"/>
          </a:solidFill>
          <a:ln w="12700">
            <a:solidFill>
              <a:srgbClr val="2F6F4F"/>
            </a:solidFill>
            <a:prstDash val="solid"/>
          </a:ln>
        </p:spPr>
      </p:sp>
      <p:pic>
        <p:nvPicPr>
          <p:cNvPr id="21" name="Data structures icon" descr="Data structur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4709160"/>
            <a:ext cx="292608" cy="292608"/>
          </a:xfrm>
          <a:prstGeom prst="rect">
            <a:avLst/>
          </a:prstGeom>
        </p:spPr>
      </p:pic>
      <p:sp>
        <p:nvSpPr>
          <p:cNvPr id="22" name="Data structures"/>
          <p:cNvSpPr txBox="1"/>
          <p:nvPr/>
        </p:nvSpPr>
        <p:spPr>
          <a:xfrm>
            <a:off x="2194560" y="4498848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Data structures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B64"/>
                </a:solidFill>
              </a:rPr>
              <a:t>18 tables, relational diagrams, Kafka, data-api</a:t>
            </a:r>
            <a:endParaRPr lang="en-US" sz="1900" dirty="0"/>
          </a:p>
        </p:txBody>
      </p:sp>
      <p:sp>
        <p:nvSpPr>
          <p:cNvPr id="23" name="num5"/>
          <p:cNvSpPr txBox="1"/>
          <p:nvPr/>
        </p:nvSpPr>
        <p:spPr>
          <a:xfrm>
            <a:off x="6309360" y="45720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06</a:t>
            </a:r>
            <a:endParaRPr lang="en-US" sz="2800" dirty="0"/>
          </a:p>
        </p:txBody>
      </p:sp>
      <p:sp>
        <p:nvSpPr>
          <p:cNvPr id="24" name="Updates and licensing icon bg"/>
          <p:cNvSpPr/>
          <p:nvPr/>
        </p:nvSpPr>
        <p:spPr>
          <a:xfrm>
            <a:off x="7086600" y="4572000"/>
            <a:ext cx="566928" cy="566928"/>
          </a:xfrm>
          <a:prstGeom prst="ellipse">
            <a:avLst/>
          </a:prstGeom>
          <a:solidFill>
            <a:srgbClr val="2F6F4F"/>
          </a:solidFill>
          <a:ln w="12700">
            <a:solidFill>
              <a:srgbClr val="2F6F4F"/>
            </a:solidFill>
            <a:prstDash val="solid"/>
          </a:ln>
        </p:spPr>
      </p:sp>
      <p:pic>
        <p:nvPicPr>
          <p:cNvPr id="25" name="Updates and licensing icon" descr="Updates and licens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4709160"/>
            <a:ext cx="292608" cy="292608"/>
          </a:xfrm>
          <a:prstGeom prst="rect">
            <a:avLst/>
          </a:prstGeom>
        </p:spPr>
      </p:pic>
      <p:sp>
        <p:nvSpPr>
          <p:cNvPr id="26" name="Updates and licensing"/>
          <p:cNvSpPr txBox="1"/>
          <p:nvPr/>
        </p:nvSpPr>
        <p:spPr>
          <a:xfrm>
            <a:off x="7863840" y="4498848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Updates and licensing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B64"/>
                </a:solidFill>
              </a:rPr>
              <a:t>Haber check-in, releases, license rules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ESM Flora Gateway does</a:t>
            </a:r>
            <a:endParaRPr lang="en-US" sz="3200" dirty="0"/>
          </a:p>
        </p:txBody>
      </p:sp>
      <p:sp>
        <p:nvSpPr>
          <p:cNvPr id="3" name="Connects any device icon bg"/>
          <p:cNvSpPr/>
          <p:nvPr/>
        </p:nvSpPr>
        <p:spPr>
          <a:xfrm>
            <a:off x="731520" y="1463040"/>
            <a:ext cx="566928" cy="566928"/>
          </a:xfrm>
          <a:prstGeom prst="ellipse">
            <a:avLst/>
          </a:prstGeom>
          <a:solidFill>
            <a:srgbClr val="2F6F4F"/>
          </a:solidFill>
          <a:ln w="12700">
            <a:solidFill>
              <a:srgbClr val="2F6F4F"/>
            </a:solidFill>
            <a:prstDash val="solid"/>
          </a:ln>
        </p:spPr>
      </p:sp>
      <p:pic>
        <p:nvPicPr>
          <p:cNvPr id="4" name="Connects any device icon" descr="Connects any dev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0200"/>
            <a:ext cx="292608" cy="292608"/>
          </a:xfrm>
          <a:prstGeom prst="rect">
            <a:avLst/>
          </a:prstGeom>
        </p:spPr>
      </p:pic>
      <p:sp>
        <p:nvSpPr>
          <p:cNvPr id="5" name="Connects any device"/>
          <p:cNvSpPr txBox="1"/>
          <p:nvPr/>
        </p:nvSpPr>
        <p:spPr>
          <a:xfrm>
            <a:off x="1508760" y="1389888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Connects any device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B64"/>
                </a:solidFill>
              </a:rPr>
              <a:t>RS-232, HL7 v2 / MLLP, TCP / UDP, HTTP polling and HTTP push</a:t>
            </a:r>
            <a:endParaRPr lang="en-US" sz="1900" dirty="0"/>
          </a:p>
        </p:txBody>
      </p:sp>
      <p:sp>
        <p:nvSpPr>
          <p:cNvPr id="6" name="One parser per device icon bg"/>
          <p:cNvSpPr/>
          <p:nvPr/>
        </p:nvSpPr>
        <p:spPr>
          <a:xfrm>
            <a:off x="6309360" y="1463040"/>
            <a:ext cx="566928" cy="566928"/>
          </a:xfrm>
          <a:prstGeom prst="ellipse">
            <a:avLst/>
          </a:prstGeom>
          <a:solidFill>
            <a:srgbClr val="2F6F4F"/>
          </a:solidFill>
          <a:ln w="12700">
            <a:solidFill>
              <a:srgbClr val="2F6F4F"/>
            </a:solidFill>
            <a:prstDash val="solid"/>
          </a:ln>
        </p:spPr>
      </p:sp>
      <p:pic>
        <p:nvPicPr>
          <p:cNvPr id="7" name="One parser per device icon" descr="One parser per devi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292608" cy="292608"/>
          </a:xfrm>
          <a:prstGeom prst="rect">
            <a:avLst/>
          </a:prstGeom>
        </p:spPr>
      </p:pic>
      <p:sp>
        <p:nvSpPr>
          <p:cNvPr id="8" name="One parser per device"/>
          <p:cNvSpPr txBox="1"/>
          <p:nvPr/>
        </p:nvSpPr>
        <p:spPr>
          <a:xfrm>
            <a:off x="7086600" y="1389888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One parser per device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B64"/>
                </a:solidFill>
              </a:rPr>
              <a:t>Isolated container decodes each protocol into ESM Flora observations</a:t>
            </a:r>
            <a:endParaRPr lang="en-US" sz="1900" dirty="0"/>
          </a:p>
        </p:txBody>
      </p:sp>
      <p:sp>
        <p:nvSpPr>
          <p:cNvPr id="9" name="Stores everything icon bg"/>
          <p:cNvSpPr/>
          <p:nvPr/>
        </p:nvSpPr>
        <p:spPr>
          <a:xfrm>
            <a:off x="731520" y="3063240"/>
            <a:ext cx="566928" cy="566928"/>
          </a:xfrm>
          <a:prstGeom prst="ellipse">
            <a:avLst/>
          </a:prstGeom>
          <a:solidFill>
            <a:srgbClr val="2D6FA3"/>
          </a:solidFill>
          <a:ln w="12700">
            <a:solidFill>
              <a:srgbClr val="2D6FA3"/>
            </a:solidFill>
            <a:prstDash val="solid"/>
          </a:ln>
        </p:spPr>
      </p:sp>
      <p:pic>
        <p:nvPicPr>
          <p:cNvPr id="10" name="Stores everything icon" descr="Stores everyth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00400"/>
            <a:ext cx="292608" cy="292608"/>
          </a:xfrm>
          <a:prstGeom prst="rect">
            <a:avLst/>
          </a:prstGeom>
        </p:spPr>
      </p:pic>
      <p:sp>
        <p:nvSpPr>
          <p:cNvPr id="11" name="Stores everything"/>
          <p:cNvSpPr txBox="1"/>
          <p:nvPr/>
        </p:nvSpPr>
        <p:spPr>
          <a:xfrm>
            <a:off x="1508760" y="2990088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Stores everything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B64"/>
                </a:solidFill>
              </a:rPr>
              <a:t>Observations, original measurements and logs in PostgreSQL</a:t>
            </a:r>
            <a:endParaRPr lang="en-US" sz="1900" dirty="0"/>
          </a:p>
        </p:txBody>
      </p:sp>
      <p:sp>
        <p:nvSpPr>
          <p:cNvPr id="12" name="Serves each Leaf icon bg"/>
          <p:cNvSpPr/>
          <p:nvPr/>
        </p:nvSpPr>
        <p:spPr>
          <a:xfrm>
            <a:off x="6309360" y="3063240"/>
            <a:ext cx="566928" cy="566928"/>
          </a:xfrm>
          <a:prstGeom prst="ellipse">
            <a:avLst/>
          </a:prstGeom>
          <a:solidFill>
            <a:srgbClr val="2D6FA3"/>
          </a:solidFill>
          <a:ln w="12700">
            <a:solidFill>
              <a:srgbClr val="2D6FA3"/>
            </a:solidFill>
            <a:prstDash val="solid"/>
          </a:ln>
        </p:spPr>
      </p:sp>
      <p:pic>
        <p:nvPicPr>
          <p:cNvPr id="13" name="Serves each Leaf icon" descr="Serves each Lea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200400"/>
            <a:ext cx="292608" cy="292608"/>
          </a:xfrm>
          <a:prstGeom prst="rect">
            <a:avLst/>
          </a:prstGeom>
        </p:spPr>
      </p:pic>
      <p:sp>
        <p:nvSpPr>
          <p:cNvPr id="14" name="Serves each Leaf"/>
          <p:cNvSpPr txBox="1"/>
          <p:nvPr/>
        </p:nvSpPr>
        <p:spPr>
          <a:xfrm>
            <a:off x="7086600" y="2990088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Serves each Leaf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B64"/>
                </a:solidFill>
              </a:rPr>
              <a:t>data-api returns only the devices assigned to that workstation</a:t>
            </a:r>
            <a:endParaRPr lang="en-US" sz="1900" dirty="0"/>
          </a:p>
        </p:txBody>
      </p:sp>
      <p:sp>
        <p:nvSpPr>
          <p:cNvPr id="15" name="Watches itself icon bg"/>
          <p:cNvSpPr/>
          <p:nvPr/>
        </p:nvSpPr>
        <p:spPr>
          <a:xfrm>
            <a:off x="731520" y="4663440"/>
            <a:ext cx="566928" cy="566928"/>
          </a:xfrm>
          <a:prstGeom prst="ellipse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pic>
        <p:nvPicPr>
          <p:cNvPr id="16" name="Watches itself icon" descr="Watches itself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800600"/>
            <a:ext cx="292608" cy="292608"/>
          </a:xfrm>
          <a:prstGeom prst="rect">
            <a:avLst/>
          </a:prstGeom>
        </p:spPr>
      </p:pic>
      <p:sp>
        <p:nvSpPr>
          <p:cNvPr id="17" name="Watches itself"/>
          <p:cNvSpPr txBox="1"/>
          <p:nvPr/>
        </p:nvSpPr>
        <p:spPr>
          <a:xfrm>
            <a:off x="1508760" y="4590288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Watches itself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B64"/>
                </a:solidFill>
              </a:rPr>
              <a:t>7-day status history and alerts forwarded to Canopy</a:t>
            </a:r>
            <a:endParaRPr lang="en-US" sz="1900" dirty="0"/>
          </a:p>
        </p:txBody>
      </p:sp>
      <p:sp>
        <p:nvSpPr>
          <p:cNvPr id="18" name="Centrally governed icon bg"/>
          <p:cNvSpPr/>
          <p:nvPr/>
        </p:nvSpPr>
        <p:spPr>
          <a:xfrm>
            <a:off x="6309360" y="4663440"/>
            <a:ext cx="566928" cy="566928"/>
          </a:xfrm>
          <a:prstGeom prst="ellipse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pic>
        <p:nvPicPr>
          <p:cNvPr id="19" name="Centrally governed icon" descr="Centrally governe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800600"/>
            <a:ext cx="292608" cy="292608"/>
          </a:xfrm>
          <a:prstGeom prst="rect">
            <a:avLst/>
          </a:prstGeom>
        </p:spPr>
      </p:pic>
      <p:sp>
        <p:nvSpPr>
          <p:cNvPr id="20" name="Centrally governed"/>
          <p:cNvSpPr txBox="1"/>
          <p:nvPr/>
        </p:nvSpPr>
        <p:spPr>
          <a:xfrm>
            <a:off x="7086600" y="4590288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Centrally governed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B64"/>
                </a:solidFill>
              </a:rPr>
              <a:t>Device types, parser images, license and updates from Canopy and Root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Where the gateway fits in ESM Flora</a:t>
            </a:r>
            <a:endParaRPr lang="en-US" sz="3200" dirty="0"/>
          </a:p>
        </p:txBody>
      </p:sp>
      <p:sp>
        <p:nvSpPr>
          <p:cNvPr id="3" name="Platform diagram frame"/>
          <p:cNvSpPr/>
          <p:nvPr/>
        </p:nvSpPr>
        <p:spPr>
          <a:xfrm>
            <a:off x="521208" y="1751867"/>
            <a:ext cx="7370064" cy="3079947"/>
          </a:xfrm>
          <a:prstGeom prst="rect">
            <a:avLst/>
          </a:prstGeom>
          <a:solidFill>
            <a:schemeClr val="bg1"/>
          </a:solidFill>
          <a:ln w="9525">
            <a:solidFill>
              <a:srgbClr val="C9D3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Platform diagram" descr="Platform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79299"/>
            <a:ext cx="7315200" cy="3025083"/>
          </a:xfrm>
          <a:prstGeom prst="rect">
            <a:avLst/>
          </a:prstGeom>
        </p:spPr>
      </p:pic>
      <p:sp>
        <p:nvSpPr>
          <p:cNvPr id="5" name="Root (cloud) card"/>
          <p:cNvSpPr/>
          <p:nvPr/>
        </p:nvSpPr>
        <p:spPr>
          <a:xfrm>
            <a:off x="8229600" y="12801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6" name="Root (cloud)"/>
          <p:cNvSpPr txBox="1"/>
          <p:nvPr/>
        </p:nvSpPr>
        <p:spPr>
          <a:xfrm>
            <a:off x="8394192" y="1389888"/>
            <a:ext cx="309981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913A"/>
                </a:solidFill>
              </a:rPr>
              <a:t>Root (cloud)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Signs releases and the hospital license, including device types and device count.</a:t>
            </a:r>
            <a:endParaRPr lang="en-US" sz="1600" dirty="0"/>
          </a:p>
        </p:txBody>
      </p:sp>
      <p:sp>
        <p:nvSpPr>
          <p:cNvPr id="7" name="Canopy / Haber (hospital) card"/>
          <p:cNvSpPr/>
          <p:nvPr/>
        </p:nvSpPr>
        <p:spPr>
          <a:xfrm>
            <a:off x="8229600" y="26517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8" name="Canopy / Haber (hospital)"/>
          <p:cNvSpPr txBox="1"/>
          <p:nvPr/>
        </p:nvSpPr>
        <p:spPr>
          <a:xfrm>
            <a:off x="8394192" y="2761488"/>
            <a:ext cx="309981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F6F4F"/>
                </a:solidFill>
              </a:rPr>
              <a:t>Canopy / Haber (hospital)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Gateway checks in every 20–30 s: devices, site and alerts out; types, images and license in.</a:t>
            </a:r>
            <a:endParaRPr lang="en-US" sz="1600" dirty="0"/>
          </a:p>
        </p:txBody>
      </p:sp>
      <p:sp>
        <p:nvSpPr>
          <p:cNvPr id="9" name="Leaf (bedside) card"/>
          <p:cNvSpPr/>
          <p:nvPr/>
        </p:nvSpPr>
        <p:spPr>
          <a:xfrm>
            <a:off x="8229600" y="40233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10" name="Leaf (bedside)"/>
          <p:cNvSpPr txBox="1"/>
          <p:nvPr/>
        </p:nvSpPr>
        <p:spPr>
          <a:xfrm>
            <a:off x="8394192" y="4133088"/>
            <a:ext cx="309981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D6FA3"/>
                </a:solidFill>
              </a:rPr>
              <a:t>Leaf (bedside)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Pulls its own devices' observations from the gateway data-api.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Architecture and technology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BFE6D4"/>
                </a:solidFill>
              </a:rPr>
              <a:t>Layers, data flow, stack, ports and security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Five layers, one Docker Compose project</a:t>
            </a:r>
            <a:endParaRPr lang="en-US" sz="3200" dirty="0"/>
          </a:p>
        </p:txBody>
      </p:sp>
      <p:sp>
        <p:nvSpPr>
          <p:cNvPr id="3" name="Architecture diagram frame"/>
          <p:cNvSpPr/>
          <p:nvPr/>
        </p:nvSpPr>
        <p:spPr>
          <a:xfrm>
            <a:off x="521208" y="1338733"/>
            <a:ext cx="7918704" cy="4729174"/>
          </a:xfrm>
          <a:prstGeom prst="rect">
            <a:avLst/>
          </a:prstGeom>
          <a:solidFill>
            <a:schemeClr val="bg1"/>
          </a:solidFill>
          <a:ln w="9525">
            <a:solidFill>
              <a:srgbClr val="C9D3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Architecture diagram" descr="Architectur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66165"/>
            <a:ext cx="7863840" cy="4674310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8641080" y="128016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2"/>
                </a:solidFill>
              </a:rPr>
              <a:t>Ingress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Rust controllers own every port and connection (pods)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2"/>
                </a:solidFill>
              </a:rPr>
              <a:t>Broker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Kafka 3.9 decouples devices from parsers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2"/>
                </a:solidFill>
              </a:rPr>
              <a:t>Process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one Python parser container per enabled device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2"/>
                </a:solidFill>
              </a:rPr>
              <a:t>Egress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collector, server (data-api), Kong, publisher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2"/>
                </a:solidFill>
              </a:rPr>
              <a:t>Control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gateway-service, Docker, flora-updater, TLS edge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a measurement travels</a:t>
            </a:r>
            <a:endParaRPr lang="en-US" sz="3200" dirty="0"/>
          </a:p>
        </p:txBody>
      </p:sp>
      <p:sp>
        <p:nvSpPr>
          <p:cNvPr id="3" name="step0"/>
          <p:cNvSpPr/>
          <p:nvPr/>
        </p:nvSpPr>
        <p:spPr>
          <a:xfrm>
            <a:off x="548640" y="2011680"/>
            <a:ext cx="1463040" cy="1920240"/>
          </a:xfrm>
          <a:prstGeom prst="roundRect">
            <a:avLst>
              <a:gd name="adj" fmla="val 6250"/>
            </a:avLst>
          </a:prstGeom>
          <a:solidFill>
            <a:srgbClr val="EEF4F0"/>
          </a:solidFill>
          <a:ln w="12700">
            <a:solidFill>
              <a:srgbClr val="2F6F4F"/>
            </a:solidFill>
            <a:prstDash val="solid"/>
          </a:ln>
        </p:spPr>
      </p:sp>
      <p:sp>
        <p:nvSpPr>
          <p:cNvPr id="4" name="stepnum0"/>
          <p:cNvSpPr/>
          <p:nvPr/>
        </p:nvSpPr>
        <p:spPr>
          <a:xfrm>
            <a:off x="1033272" y="2148840"/>
            <a:ext cx="493776" cy="493776"/>
          </a:xfrm>
          <a:prstGeom prst="ellipse">
            <a:avLst/>
          </a:prstGeom>
          <a:solidFill>
            <a:srgbClr val="17362B"/>
          </a:solidFill>
          <a:ln w="12700">
            <a:solidFill>
              <a:srgbClr val="17362B"/>
            </a:solidFill>
            <a:prstDash val="solid"/>
          </a:ln>
        </p:spPr>
      </p:sp>
      <p:sp>
        <p:nvSpPr>
          <p:cNvPr id="5" name="n0"/>
          <p:cNvSpPr txBox="1"/>
          <p:nvPr/>
        </p:nvSpPr>
        <p:spPr>
          <a:xfrm>
            <a:off x="1033272" y="2148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text0"/>
          <p:cNvSpPr txBox="1"/>
          <p:nvPr/>
        </p:nvSpPr>
        <p:spPr>
          <a:xfrm>
            <a:off x="621792" y="274320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Device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64"/>
                </a:solidFill>
              </a:rPr>
              <a:t>sends a frame to its port</a:t>
            </a:r>
            <a:endParaRPr lang="en-US" sz="1500" dirty="0"/>
          </a:p>
        </p:txBody>
      </p:sp>
      <p:sp>
        <p:nvSpPr>
          <p:cNvPr id="7" name="arrow0"/>
          <p:cNvSpPr/>
          <p:nvPr/>
        </p:nvSpPr>
        <p:spPr>
          <a:xfrm rot="5400000">
            <a:off x="2039112" y="2834640"/>
            <a:ext cx="109728" cy="274320"/>
          </a:xfrm>
          <a:prstGeom prst="rtTriangle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8" name="step1"/>
          <p:cNvSpPr/>
          <p:nvPr/>
        </p:nvSpPr>
        <p:spPr>
          <a:xfrm>
            <a:off x="2176272" y="2011680"/>
            <a:ext cx="1463040" cy="1920240"/>
          </a:xfrm>
          <a:prstGeom prst="roundRect">
            <a:avLst>
              <a:gd name="adj" fmla="val 6250"/>
            </a:avLst>
          </a:prstGeom>
          <a:solidFill>
            <a:srgbClr val="F4F7F5"/>
          </a:solidFill>
          <a:ln w="12700">
            <a:solidFill>
              <a:srgbClr val="2F6F4F"/>
            </a:solidFill>
            <a:prstDash val="solid"/>
          </a:ln>
        </p:spPr>
      </p:sp>
      <p:sp>
        <p:nvSpPr>
          <p:cNvPr id="9" name="stepnum1"/>
          <p:cNvSpPr/>
          <p:nvPr/>
        </p:nvSpPr>
        <p:spPr>
          <a:xfrm>
            <a:off x="2660904" y="2148840"/>
            <a:ext cx="493776" cy="493776"/>
          </a:xfrm>
          <a:prstGeom prst="ellipse">
            <a:avLst/>
          </a:prstGeom>
          <a:solidFill>
            <a:srgbClr val="17362B"/>
          </a:solidFill>
          <a:ln w="12700">
            <a:solidFill>
              <a:srgbClr val="17362B"/>
            </a:solidFill>
            <a:prstDash val="solid"/>
          </a:ln>
        </p:spPr>
      </p:sp>
      <p:sp>
        <p:nvSpPr>
          <p:cNvPr id="10" name="n1"/>
          <p:cNvSpPr txBox="1"/>
          <p:nvPr/>
        </p:nvSpPr>
        <p:spPr>
          <a:xfrm>
            <a:off x="2660904" y="2148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teptext1"/>
          <p:cNvSpPr txBox="1"/>
          <p:nvPr/>
        </p:nvSpPr>
        <p:spPr>
          <a:xfrm>
            <a:off x="2249424" y="274320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Controller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64"/>
                </a:solidFill>
              </a:rPr>
              <a:t>RawFrame → gw.raw.&lt;pod&gt;</a:t>
            </a:r>
            <a:endParaRPr lang="en-US" sz="1500" dirty="0"/>
          </a:p>
        </p:txBody>
      </p:sp>
      <p:sp>
        <p:nvSpPr>
          <p:cNvPr id="12" name="arrow1"/>
          <p:cNvSpPr/>
          <p:nvPr/>
        </p:nvSpPr>
        <p:spPr>
          <a:xfrm rot="5400000">
            <a:off x="3666744" y="2834640"/>
            <a:ext cx="109728" cy="274320"/>
          </a:xfrm>
          <a:prstGeom prst="rtTriangle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13" name="step2"/>
          <p:cNvSpPr/>
          <p:nvPr/>
        </p:nvSpPr>
        <p:spPr>
          <a:xfrm>
            <a:off x="3803904" y="2011680"/>
            <a:ext cx="1463040" cy="1920240"/>
          </a:xfrm>
          <a:prstGeom prst="roundRect">
            <a:avLst>
              <a:gd name="adj" fmla="val 6250"/>
            </a:avLst>
          </a:prstGeom>
          <a:solidFill>
            <a:srgbClr val="F4F7F5"/>
          </a:solidFill>
          <a:ln w="12700">
            <a:solidFill>
              <a:srgbClr val="2F6F4F"/>
            </a:solidFill>
            <a:prstDash val="solid"/>
          </a:ln>
        </p:spPr>
      </p:sp>
      <p:sp>
        <p:nvSpPr>
          <p:cNvPr id="14" name="stepnum2"/>
          <p:cNvSpPr/>
          <p:nvPr/>
        </p:nvSpPr>
        <p:spPr>
          <a:xfrm>
            <a:off x="4288536" y="2148840"/>
            <a:ext cx="493776" cy="493776"/>
          </a:xfrm>
          <a:prstGeom prst="ellipse">
            <a:avLst/>
          </a:prstGeom>
          <a:solidFill>
            <a:srgbClr val="17362B"/>
          </a:solidFill>
          <a:ln w="12700">
            <a:solidFill>
              <a:srgbClr val="17362B"/>
            </a:solidFill>
            <a:prstDash val="solid"/>
          </a:ln>
        </p:spPr>
      </p:sp>
      <p:sp>
        <p:nvSpPr>
          <p:cNvPr id="15" name="n2"/>
          <p:cNvSpPr txBox="1"/>
          <p:nvPr/>
        </p:nvSpPr>
        <p:spPr>
          <a:xfrm>
            <a:off x="4288536" y="2148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teptext2"/>
          <p:cNvSpPr txBox="1"/>
          <p:nvPr/>
        </p:nvSpPr>
        <p:spPr>
          <a:xfrm>
            <a:off x="3877056" y="274320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Parser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64"/>
                </a:solidFill>
              </a:rPr>
              <a:t>decodes; polls on gw.cmd.&lt;pod&gt;</a:t>
            </a:r>
            <a:endParaRPr lang="en-US" sz="1500" dirty="0"/>
          </a:p>
        </p:txBody>
      </p:sp>
      <p:sp>
        <p:nvSpPr>
          <p:cNvPr id="17" name="arrow2"/>
          <p:cNvSpPr/>
          <p:nvPr/>
        </p:nvSpPr>
        <p:spPr>
          <a:xfrm rot="5400000">
            <a:off x="5294376" y="2834640"/>
            <a:ext cx="109728" cy="274320"/>
          </a:xfrm>
          <a:prstGeom prst="rtTriangle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18" name="step3"/>
          <p:cNvSpPr/>
          <p:nvPr/>
        </p:nvSpPr>
        <p:spPr>
          <a:xfrm>
            <a:off x="5431536" y="2011680"/>
            <a:ext cx="1463040" cy="1920240"/>
          </a:xfrm>
          <a:prstGeom prst="roundRect">
            <a:avLst>
              <a:gd name="adj" fmla="val 6250"/>
            </a:avLst>
          </a:prstGeom>
          <a:solidFill>
            <a:srgbClr val="F4F7F5"/>
          </a:solidFill>
          <a:ln w="12700">
            <a:solidFill>
              <a:srgbClr val="2F6F4F"/>
            </a:solidFill>
            <a:prstDash val="solid"/>
          </a:ln>
        </p:spPr>
      </p:sp>
      <p:sp>
        <p:nvSpPr>
          <p:cNvPr id="19" name="stepnum3"/>
          <p:cNvSpPr/>
          <p:nvPr/>
        </p:nvSpPr>
        <p:spPr>
          <a:xfrm>
            <a:off x="5916168" y="2148840"/>
            <a:ext cx="493776" cy="493776"/>
          </a:xfrm>
          <a:prstGeom prst="ellipse">
            <a:avLst/>
          </a:prstGeom>
          <a:solidFill>
            <a:srgbClr val="17362B"/>
          </a:solidFill>
          <a:ln w="12700">
            <a:solidFill>
              <a:srgbClr val="17362B"/>
            </a:solidFill>
            <a:prstDash val="solid"/>
          </a:ln>
        </p:spPr>
      </p:sp>
      <p:sp>
        <p:nvSpPr>
          <p:cNvPr id="20" name="n3"/>
          <p:cNvSpPr txBox="1"/>
          <p:nvPr/>
        </p:nvSpPr>
        <p:spPr>
          <a:xfrm>
            <a:off x="5916168" y="2148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teptext3"/>
          <p:cNvSpPr txBox="1"/>
          <p:nvPr/>
        </p:nvSpPr>
        <p:spPr>
          <a:xfrm>
            <a:off x="5504688" y="274320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Kafka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64"/>
                </a:solidFill>
              </a:rPr>
              <a:t>gw.obs · gw.measurements</a:t>
            </a:r>
            <a:endParaRPr lang="en-US" sz="1500" dirty="0"/>
          </a:p>
        </p:txBody>
      </p:sp>
      <p:sp>
        <p:nvSpPr>
          <p:cNvPr id="22" name="arrow3"/>
          <p:cNvSpPr/>
          <p:nvPr/>
        </p:nvSpPr>
        <p:spPr>
          <a:xfrm rot="5400000">
            <a:off x="6922008" y="2834640"/>
            <a:ext cx="109728" cy="274320"/>
          </a:xfrm>
          <a:prstGeom prst="rtTriangle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23" name="step4"/>
          <p:cNvSpPr/>
          <p:nvPr/>
        </p:nvSpPr>
        <p:spPr>
          <a:xfrm>
            <a:off x="7059168" y="2011680"/>
            <a:ext cx="1463040" cy="1920240"/>
          </a:xfrm>
          <a:prstGeom prst="roundRect">
            <a:avLst>
              <a:gd name="adj" fmla="val 6250"/>
            </a:avLst>
          </a:prstGeom>
          <a:solidFill>
            <a:srgbClr val="F4F7F5"/>
          </a:solidFill>
          <a:ln w="12700">
            <a:solidFill>
              <a:srgbClr val="2F6F4F"/>
            </a:solidFill>
            <a:prstDash val="solid"/>
          </a:ln>
        </p:spPr>
      </p:sp>
      <p:sp>
        <p:nvSpPr>
          <p:cNvPr id="24" name="stepnum4"/>
          <p:cNvSpPr/>
          <p:nvPr/>
        </p:nvSpPr>
        <p:spPr>
          <a:xfrm>
            <a:off x="7543800" y="2148840"/>
            <a:ext cx="493776" cy="493776"/>
          </a:xfrm>
          <a:prstGeom prst="ellipse">
            <a:avLst/>
          </a:prstGeom>
          <a:solidFill>
            <a:srgbClr val="17362B"/>
          </a:solidFill>
          <a:ln w="12700">
            <a:solidFill>
              <a:srgbClr val="17362B"/>
            </a:solidFill>
            <a:prstDash val="solid"/>
          </a:ln>
        </p:spPr>
      </p:sp>
      <p:sp>
        <p:nvSpPr>
          <p:cNvPr id="25" name="n4"/>
          <p:cNvSpPr txBox="1"/>
          <p:nvPr/>
        </p:nvSpPr>
        <p:spPr>
          <a:xfrm>
            <a:off x="7543800" y="2148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steptext4"/>
          <p:cNvSpPr txBox="1"/>
          <p:nvPr/>
        </p:nvSpPr>
        <p:spPr>
          <a:xfrm>
            <a:off x="7132320" y="274320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Collector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64"/>
                </a:solidFill>
              </a:rPr>
              <a:t>batch insert to PostgreSQL</a:t>
            </a:r>
            <a:endParaRPr lang="en-US" sz="1500" dirty="0"/>
          </a:p>
        </p:txBody>
      </p:sp>
      <p:sp>
        <p:nvSpPr>
          <p:cNvPr id="27" name="arrow4"/>
          <p:cNvSpPr/>
          <p:nvPr/>
        </p:nvSpPr>
        <p:spPr>
          <a:xfrm rot="5400000">
            <a:off x="8549640" y="2834640"/>
            <a:ext cx="109728" cy="274320"/>
          </a:xfrm>
          <a:prstGeom prst="rtTriangle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28" name="step5"/>
          <p:cNvSpPr/>
          <p:nvPr/>
        </p:nvSpPr>
        <p:spPr>
          <a:xfrm>
            <a:off x="8686800" y="2011680"/>
            <a:ext cx="1463040" cy="1920240"/>
          </a:xfrm>
          <a:prstGeom prst="roundRect">
            <a:avLst>
              <a:gd name="adj" fmla="val 6250"/>
            </a:avLst>
          </a:prstGeom>
          <a:solidFill>
            <a:srgbClr val="F4F7F5"/>
          </a:solidFill>
          <a:ln w="12700">
            <a:solidFill>
              <a:srgbClr val="2F6F4F"/>
            </a:solidFill>
            <a:prstDash val="solid"/>
          </a:ln>
        </p:spPr>
      </p:sp>
      <p:sp>
        <p:nvSpPr>
          <p:cNvPr id="29" name="stepnum5"/>
          <p:cNvSpPr/>
          <p:nvPr/>
        </p:nvSpPr>
        <p:spPr>
          <a:xfrm>
            <a:off x="9171432" y="2148840"/>
            <a:ext cx="493776" cy="493776"/>
          </a:xfrm>
          <a:prstGeom prst="ellipse">
            <a:avLst/>
          </a:prstGeom>
          <a:solidFill>
            <a:srgbClr val="17362B"/>
          </a:solidFill>
          <a:ln w="12700">
            <a:solidFill>
              <a:srgbClr val="17362B"/>
            </a:solidFill>
            <a:prstDash val="solid"/>
          </a:ln>
        </p:spPr>
      </p:sp>
      <p:sp>
        <p:nvSpPr>
          <p:cNvPr id="30" name="n5"/>
          <p:cNvSpPr txBox="1"/>
          <p:nvPr/>
        </p:nvSpPr>
        <p:spPr>
          <a:xfrm>
            <a:off x="9171432" y="2148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steptext5"/>
          <p:cNvSpPr txBox="1"/>
          <p:nvPr/>
        </p:nvSpPr>
        <p:spPr>
          <a:xfrm>
            <a:off x="8759952" y="274320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data-api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64"/>
                </a:solidFill>
              </a:rPr>
              <a:t>Kong /data-api/&lt;leaf-id&gt;</a:t>
            </a:r>
            <a:endParaRPr lang="en-US" sz="1500" dirty="0"/>
          </a:p>
        </p:txBody>
      </p:sp>
      <p:sp>
        <p:nvSpPr>
          <p:cNvPr id="32" name="arrow5"/>
          <p:cNvSpPr/>
          <p:nvPr/>
        </p:nvSpPr>
        <p:spPr>
          <a:xfrm rot="5400000">
            <a:off x="10177272" y="2834640"/>
            <a:ext cx="109728" cy="274320"/>
          </a:xfrm>
          <a:prstGeom prst="rtTriangle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33" name="step6"/>
          <p:cNvSpPr/>
          <p:nvPr/>
        </p:nvSpPr>
        <p:spPr>
          <a:xfrm>
            <a:off x="10314432" y="2011680"/>
            <a:ext cx="1463040" cy="1920240"/>
          </a:xfrm>
          <a:prstGeom prst="roundRect">
            <a:avLst>
              <a:gd name="adj" fmla="val 6250"/>
            </a:avLst>
          </a:prstGeom>
          <a:solidFill>
            <a:srgbClr val="EEF4F0"/>
          </a:solidFill>
          <a:ln w="12700">
            <a:solidFill>
              <a:srgbClr val="2D6FA3"/>
            </a:solidFill>
            <a:prstDash val="solid"/>
          </a:ln>
        </p:spPr>
      </p:sp>
      <p:sp>
        <p:nvSpPr>
          <p:cNvPr id="34" name="stepnum6"/>
          <p:cNvSpPr/>
          <p:nvPr/>
        </p:nvSpPr>
        <p:spPr>
          <a:xfrm>
            <a:off x="10799064" y="2148840"/>
            <a:ext cx="493776" cy="493776"/>
          </a:xfrm>
          <a:prstGeom prst="ellipse">
            <a:avLst/>
          </a:prstGeom>
          <a:solidFill>
            <a:srgbClr val="17362B"/>
          </a:solidFill>
          <a:ln w="12700">
            <a:solidFill>
              <a:srgbClr val="17362B"/>
            </a:solidFill>
            <a:prstDash val="solid"/>
          </a:ln>
        </p:spPr>
      </p:sp>
      <p:sp>
        <p:nvSpPr>
          <p:cNvPr id="35" name="n6"/>
          <p:cNvSpPr txBox="1"/>
          <p:nvPr/>
        </p:nvSpPr>
        <p:spPr>
          <a:xfrm>
            <a:off x="10799064" y="2148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steptext6"/>
          <p:cNvSpPr txBox="1"/>
          <p:nvPr/>
        </p:nvSpPr>
        <p:spPr>
          <a:xfrm>
            <a:off x="10387584" y="2743200"/>
            <a:ext cx="1316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Leaf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64"/>
                </a:solidFill>
              </a:rPr>
              <a:t>charts the vitals</a:t>
            </a:r>
            <a:endParaRPr lang="en-US" sz="1500" dirty="0"/>
          </a:p>
        </p:txBody>
      </p:sp>
      <p:sp>
        <p:nvSpPr>
          <p:cNvPr id="37" name="Pods name every connection card"/>
          <p:cNvSpPr/>
          <p:nvPr/>
        </p:nvSpPr>
        <p:spPr>
          <a:xfrm>
            <a:off x="548640" y="438912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38" name="Pods name every connection"/>
          <p:cNvSpPr txBox="1"/>
          <p:nvPr/>
        </p:nvSpPr>
        <p:spPr>
          <a:xfrm>
            <a:off x="713232" y="4498848"/>
            <a:ext cx="51572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F6F4F"/>
                </a:solidFill>
              </a:rPr>
              <a:t>Pods name every connection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serial.COM1, socket.or-monitor, feeder.icu-ventilator, webhook.or-anesthesia. Each device points at one pod; its parser reads gw.raw.&lt;pod&gt; and writes gw.cmd.&lt;pod&gt;.</a:t>
            </a:r>
            <a:endParaRPr lang="en-US" sz="1600" dirty="0"/>
          </a:p>
        </p:txBody>
      </p:sp>
      <p:sp>
        <p:nvSpPr>
          <p:cNvPr id="39" name="Nothing is lost card"/>
          <p:cNvSpPr/>
          <p:nvPr/>
        </p:nvSpPr>
        <p:spPr>
          <a:xfrm>
            <a:off x="6217920" y="438912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40" name="Nothing is lost"/>
          <p:cNvSpPr txBox="1"/>
          <p:nvPr/>
        </p:nvSpPr>
        <p:spPr>
          <a:xfrm>
            <a:off x="6382512" y="4498848"/>
            <a:ext cx="511149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D6FA3"/>
                </a:solidFill>
              </a:rPr>
              <a:t>Nothing is lost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collector commits Kafka offsets only after the database write; telemetry is stored even for devices not yet registered.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Rust (edition 2021) card"/>
          <p:cNvSpPr/>
          <p:nvPr/>
        </p:nvSpPr>
        <p:spPr>
          <a:xfrm>
            <a:off x="548640" y="13716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4" name="ic bg0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rgbClr val="2F6F4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c0" descr="Rust (edition 202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92608" cy="292608"/>
          </a:xfrm>
          <a:prstGeom prst="rect">
            <a:avLst/>
          </a:prstGeom>
        </p:spPr>
      </p:pic>
      <p:sp>
        <p:nvSpPr>
          <p:cNvPr id="6" name="st0"/>
          <p:cNvSpPr txBox="1"/>
          <p:nvPr/>
        </p:nvSpPr>
        <p:spPr>
          <a:xfrm>
            <a:off x="1463040" y="16002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Rust (edition 2021)</a:t>
            </a:r>
            <a:endParaRPr lang="en-US" sz="1600" dirty="0"/>
          </a:p>
        </p:txBody>
      </p:sp>
      <p:sp>
        <p:nvSpPr>
          <p:cNvPr id="7" name="sd0"/>
          <p:cNvSpPr txBox="1"/>
          <p:nvPr/>
        </p:nvSpPr>
        <p:spPr>
          <a:xfrm>
            <a:off x="777240" y="22860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Controllers, collector, server, publisher · tokio 1.53, rdkafka 0.37, axum 0.8, tokio-serial 5.5</a:t>
            </a:r>
            <a:endParaRPr lang="en-US" sz="1250" dirty="0"/>
          </a:p>
        </p:txBody>
      </p:sp>
      <p:sp>
        <p:nvSpPr>
          <p:cNvPr id="8" name="Apache Kafka 3.9.1 card"/>
          <p:cNvSpPr/>
          <p:nvPr/>
        </p:nvSpPr>
        <p:spPr>
          <a:xfrm>
            <a:off x="4297680" y="13716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9" name="ic bg1"/>
          <p:cNvSpPr/>
          <p:nvPr/>
        </p:nvSpPr>
        <p:spPr>
          <a:xfrm>
            <a:off x="4526280" y="1600200"/>
            <a:ext cx="566928" cy="566928"/>
          </a:xfrm>
          <a:prstGeom prst="ellipse">
            <a:avLst/>
          </a:prstGeom>
          <a:solidFill>
            <a:srgbClr val="2D6FA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c1" descr="Apache Kafka 3.9.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37360"/>
            <a:ext cx="292608" cy="292608"/>
          </a:xfrm>
          <a:prstGeom prst="rect">
            <a:avLst/>
          </a:prstGeom>
        </p:spPr>
      </p:pic>
      <p:sp>
        <p:nvSpPr>
          <p:cNvPr id="11" name="st1"/>
          <p:cNvSpPr txBox="1"/>
          <p:nvPr/>
        </p:nvSpPr>
        <p:spPr>
          <a:xfrm>
            <a:off x="5212080" y="16002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Apache Kafka 3.9.1</a:t>
            </a:r>
            <a:endParaRPr lang="en-US" sz="1600" dirty="0"/>
          </a:p>
        </p:txBody>
      </p:sp>
      <p:sp>
        <p:nvSpPr>
          <p:cNvPr id="12" name="sd1"/>
          <p:cNvSpPr txBox="1"/>
          <p:nvPr/>
        </p:nvSpPr>
        <p:spPr>
          <a:xfrm>
            <a:off x="4526280" y="22860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Single-node KRaft broker · topics gw.raw, gw.cmd, gw.obs, gw.measurements, gw.logs</a:t>
            </a:r>
            <a:endParaRPr lang="en-US" sz="1250" dirty="0"/>
          </a:p>
        </p:txBody>
      </p:sp>
      <p:sp>
        <p:nvSpPr>
          <p:cNvPr id="13" name="PostgreSQL 17.6 card"/>
          <p:cNvSpPr/>
          <p:nvPr/>
        </p:nvSpPr>
        <p:spPr>
          <a:xfrm>
            <a:off x="8046720" y="137160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14" name="ic bg2"/>
          <p:cNvSpPr/>
          <p:nvPr/>
        </p:nvSpPr>
        <p:spPr>
          <a:xfrm>
            <a:off x="8275320" y="1600200"/>
            <a:ext cx="566928" cy="566928"/>
          </a:xfrm>
          <a:prstGeom prst="ellipse">
            <a:avLst/>
          </a:prstGeom>
          <a:solidFill>
            <a:srgbClr val="C891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c2" descr="PostgreSQL 17.6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737360"/>
            <a:ext cx="292608" cy="292608"/>
          </a:xfrm>
          <a:prstGeom prst="rect">
            <a:avLst/>
          </a:prstGeom>
        </p:spPr>
      </p:pic>
      <p:sp>
        <p:nvSpPr>
          <p:cNvPr id="16" name="st2"/>
          <p:cNvSpPr txBox="1"/>
          <p:nvPr/>
        </p:nvSpPr>
        <p:spPr>
          <a:xfrm>
            <a:off x="8961120" y="16002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PostgreSQL 17.6</a:t>
            </a:r>
            <a:endParaRPr lang="en-US" sz="1600" dirty="0"/>
          </a:p>
        </p:txBody>
      </p:sp>
      <p:sp>
        <p:nvSpPr>
          <p:cNvPr id="17" name="sd2"/>
          <p:cNvSpPr txBox="1"/>
          <p:nvPr/>
        </p:nvSpPr>
        <p:spPr>
          <a:xfrm>
            <a:off x="8275320" y="22860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Registry, telemetry, logs, status history and alerts · 18 tables</a:t>
            </a:r>
            <a:endParaRPr lang="en-US" sz="1250" dirty="0"/>
          </a:p>
        </p:txBody>
      </p:sp>
      <p:sp>
        <p:nvSpPr>
          <p:cNvPr id="18" name="Kong 3.9 (DB-less) card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19" name="ic bg3"/>
          <p:cNvSpPr/>
          <p:nvPr/>
        </p:nvSpPr>
        <p:spPr>
          <a:xfrm>
            <a:off x="777240" y="3977640"/>
            <a:ext cx="566928" cy="566928"/>
          </a:xfrm>
          <a:prstGeom prst="ellipse">
            <a:avLst/>
          </a:prstGeom>
          <a:solidFill>
            <a:srgbClr val="2F6F4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c3" descr="Kong 3.9 (DB-less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14800"/>
            <a:ext cx="292608" cy="292608"/>
          </a:xfrm>
          <a:prstGeom prst="rect">
            <a:avLst/>
          </a:prstGeom>
        </p:spPr>
      </p:pic>
      <p:sp>
        <p:nvSpPr>
          <p:cNvPr id="21" name="st3"/>
          <p:cNvSpPr txBox="1"/>
          <p:nvPr/>
        </p:nvSpPr>
        <p:spPr>
          <a:xfrm>
            <a:off x="1463040" y="39776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Kong 3.9 (DB-less)</a:t>
            </a:r>
            <a:endParaRPr lang="en-US" sz="1600" dirty="0"/>
          </a:p>
        </p:txBody>
      </p:sp>
      <p:sp>
        <p:nvSpPr>
          <p:cNvPr id="22" name="sd3"/>
          <p:cNvSpPr txBox="1"/>
          <p:nvPr/>
        </p:nvSpPr>
        <p:spPr>
          <a:xfrm>
            <a:off x="777240" y="46634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data-api with one route per Leaf; adds leaf_id</a:t>
            </a:r>
            <a:endParaRPr lang="en-US" sz="1250" dirty="0"/>
          </a:p>
        </p:txBody>
      </p:sp>
      <p:sp>
        <p:nvSpPr>
          <p:cNvPr id="23" name="Python 3.13 · FastAPI 0.118 card"/>
          <p:cNvSpPr/>
          <p:nvPr/>
        </p:nvSpPr>
        <p:spPr>
          <a:xfrm>
            <a:off x="4297680" y="37490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24" name="ic bg4"/>
          <p:cNvSpPr/>
          <p:nvPr/>
        </p:nvSpPr>
        <p:spPr>
          <a:xfrm>
            <a:off x="4526280" y="3977640"/>
            <a:ext cx="566928" cy="566928"/>
          </a:xfrm>
          <a:prstGeom prst="ellipse">
            <a:avLst/>
          </a:prstGeom>
          <a:solidFill>
            <a:srgbClr val="2D6FA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c4" descr="Python 3.13 · FastAPI 0.118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114800"/>
            <a:ext cx="292608" cy="292608"/>
          </a:xfrm>
          <a:prstGeom prst="rect">
            <a:avLst/>
          </a:prstGeom>
        </p:spPr>
      </p:pic>
      <p:sp>
        <p:nvSpPr>
          <p:cNvPr id="26" name="st4"/>
          <p:cNvSpPr txBox="1"/>
          <p:nvPr/>
        </p:nvSpPr>
        <p:spPr>
          <a:xfrm>
            <a:off x="5212080" y="39776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 3.13 · FastAPI 0.118</a:t>
            </a:r>
            <a:endParaRPr lang="en-US" sz="1600" dirty="0"/>
          </a:p>
        </p:txBody>
      </p:sp>
      <p:sp>
        <p:nvSpPr>
          <p:cNvPr id="27" name="sd4"/>
          <p:cNvSpPr txBox="1"/>
          <p:nvPr/>
        </p:nvSpPr>
        <p:spPr>
          <a:xfrm>
            <a:off x="4526280" y="46634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Station admin, parser runtime (aiokafka 0.12), Canopy check-in</a:t>
            </a:r>
            <a:endParaRPr lang="en-US" sz="1250" dirty="0"/>
          </a:p>
        </p:txBody>
      </p:sp>
      <p:sp>
        <p:nvSpPr>
          <p:cNvPr id="28" name="Docker · nginx 1.27 card"/>
          <p:cNvSpPr/>
          <p:nvPr/>
        </p:nvSpPr>
        <p:spPr>
          <a:xfrm>
            <a:off x="8046720" y="37490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29" name="ic bg5"/>
          <p:cNvSpPr/>
          <p:nvPr/>
        </p:nvSpPr>
        <p:spPr>
          <a:xfrm>
            <a:off x="8275320" y="3977640"/>
            <a:ext cx="566928" cy="566928"/>
          </a:xfrm>
          <a:prstGeom prst="ellipse">
            <a:avLst/>
          </a:prstGeom>
          <a:solidFill>
            <a:srgbClr val="C891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c5" descr="Docker · nginx 1.27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4114800"/>
            <a:ext cx="292608" cy="292608"/>
          </a:xfrm>
          <a:prstGeom prst="rect">
            <a:avLst/>
          </a:prstGeom>
        </p:spPr>
      </p:pic>
      <p:sp>
        <p:nvSpPr>
          <p:cNvPr id="31" name="st5"/>
          <p:cNvSpPr txBox="1"/>
          <p:nvPr/>
        </p:nvSpPr>
        <p:spPr>
          <a:xfrm>
            <a:off x="8961120" y="39776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Docker · nginx 1.27</a:t>
            </a:r>
            <a:endParaRPr lang="en-US" sz="1600" dirty="0"/>
          </a:p>
        </p:txBody>
      </p:sp>
      <p:sp>
        <p:nvSpPr>
          <p:cNvPr id="32" name="sd5"/>
          <p:cNvSpPr txBox="1"/>
          <p:nvPr/>
        </p:nvSpPr>
        <p:spPr>
          <a:xfrm>
            <a:off x="8275320" y="46634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Every service and parser in containers; TLS edge on 443; flora-updater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Ports and security</a:t>
            </a:r>
            <a:endParaRPr lang="en-US" sz="32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035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01752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Port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Service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Bound to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443 (dev 7443)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HTTPS edge: station admin + /data-api/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all interfaces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7400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Station admin (HTTP)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127.0.0.1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7410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Kong data-api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127.0.0.1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7412 · 7414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PostgreSQL · Kafka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127.0.0.1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7421 / 7422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HL7 MLLP monitors (OR / ICU)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all interfaces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7423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Webhook (HTTP push)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all interfaces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9500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Dräger Vista CMS link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all interfaces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ullets"/>
          <p:cNvSpPr txBox="1"/>
          <p:nvPr/>
        </p:nvSpPr>
        <p:spPr>
          <a:xfrm>
            <a:off x="6949440" y="1325880"/>
            <a:ext cx="47548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Sign-in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local accounts, scrypt hashes, HttpOnly session cookie (12 h)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Roles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operator (devices, controllers) and admin (types, users, Canopy)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Transport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TLS 1.2 / 1.3 at the edge; hospital CA trusted via certs/trust.env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Canopy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bearer tokens for check-in and updater; Root Ed25519 signatures on releases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Host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Docker socket is root-equivalent: restrict OS access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Using the station admin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BFE6D4"/>
                </a:solidFill>
              </a:rPr>
              <a:t>https://&lt;gateway-host&gt;/  ·  local: http://localhost:7400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Sign in and roles</a:t>
            </a:r>
            <a:endParaRPr lang="en-US" sz="3200" dirty="0"/>
          </a:p>
        </p:txBody>
      </p:sp>
      <p:sp>
        <p:nvSpPr>
          <p:cNvPr id="3" name="Sign-in page frame"/>
          <p:cNvSpPr/>
          <p:nvPr/>
        </p:nvSpPr>
        <p:spPr>
          <a:xfrm>
            <a:off x="521208" y="1252728"/>
            <a:ext cx="5175504" cy="3255264"/>
          </a:xfrm>
          <a:prstGeom prst="rect">
            <a:avLst/>
          </a:prstGeom>
          <a:solidFill>
            <a:schemeClr val="bg1"/>
          </a:solidFill>
          <a:ln w="9525">
            <a:solidFill>
              <a:srgbClr val="C9D3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Sign-in page" descr="Sign-in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20640" cy="3200400"/>
          </a:xfrm>
          <a:prstGeom prst="rect">
            <a:avLst/>
          </a:prstGeom>
        </p:spPr>
      </p:pic>
      <p:sp>
        <p:nvSpPr>
          <p:cNvPr id="5" name="Change the default password card"/>
          <p:cNvSpPr/>
          <p:nvPr/>
        </p:nvSpPr>
        <p:spPr>
          <a:xfrm>
            <a:off x="548640" y="475488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6" name="Change the default password"/>
          <p:cNvSpPr txBox="1"/>
          <p:nvPr/>
        </p:nvSpPr>
        <p:spPr>
          <a:xfrm>
            <a:off x="713232" y="4864608"/>
            <a:ext cx="47914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913A"/>
                </a:solidFill>
              </a:rPr>
              <a:t>Change the default password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new gateway creates admin / admin only when no user exists. Change it at once under System → Users → My password.</a:t>
            </a:r>
            <a:endParaRPr lang="en-US" sz="16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280160"/>
          <a:ext cx="562356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Capability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Operator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Admin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Overview, Devices, Streams, Alerts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Add / edit / enable / remove devices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Start / stop / restart controllers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Acknowledge alerts, Sync now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Device types, manufacturers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View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Edit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Users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Own password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Manage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Canopy connection, location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Overview: is everything working?</a:t>
            </a:r>
            <a:endParaRPr lang="en-US" sz="3200" dirty="0"/>
          </a:p>
        </p:txBody>
      </p:sp>
      <p:sp>
        <p:nvSpPr>
          <p:cNvPr id="3" name="Overview screen frame"/>
          <p:cNvSpPr/>
          <p:nvPr/>
        </p:nvSpPr>
        <p:spPr>
          <a:xfrm>
            <a:off x="521208" y="1275588"/>
            <a:ext cx="7735824" cy="4855464"/>
          </a:xfrm>
          <a:prstGeom prst="rect">
            <a:avLst/>
          </a:prstGeom>
          <a:solidFill>
            <a:schemeClr val="bg1"/>
          </a:solidFill>
          <a:ln w="9525">
            <a:solidFill>
              <a:srgbClr val="C9D3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Overview screen" descr="Overview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3020"/>
            <a:ext cx="7680960" cy="4800600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8503920" y="1280160"/>
            <a:ext cx="3200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2"/>
                </a:solidFill>
              </a:rPr>
              <a:t>Station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gateway ID, Canopy link, hospital, ward, room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2"/>
                </a:solidFill>
              </a:rPr>
              <a:t>Status history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one lane per service, controller and device; 1, 6 or 24 h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Green up · red down · grey stopped · hatched no record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2"/>
                </a:solidFill>
              </a:rPr>
              <a:t>Down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a device after 120 s without data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License, layers and live device data</a:t>
            </a:r>
            <a:endParaRPr lang="en-US" sz="3200" dirty="0"/>
          </a:p>
        </p:txBody>
      </p:sp>
      <p:sp>
        <p:nvSpPr>
          <p:cNvPr id="3" name="License and layers frame"/>
          <p:cNvSpPr/>
          <p:nvPr/>
        </p:nvSpPr>
        <p:spPr>
          <a:xfrm>
            <a:off x="521208" y="1255538"/>
            <a:ext cx="5724144" cy="2335245"/>
          </a:xfrm>
          <a:prstGeom prst="rect">
            <a:avLst/>
          </a:prstGeom>
          <a:solidFill>
            <a:schemeClr val="bg1"/>
          </a:solidFill>
          <a:ln w="9525">
            <a:solidFill>
              <a:srgbClr val="C9D3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License and layers" descr="License and 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2970"/>
            <a:ext cx="5669280" cy="2280381"/>
          </a:xfrm>
          <a:prstGeom prst="rect">
            <a:avLst/>
          </a:prstGeom>
        </p:spPr>
      </p:pic>
      <p:sp>
        <p:nvSpPr>
          <p:cNvPr id="5" name="Live device data frame"/>
          <p:cNvSpPr/>
          <p:nvPr/>
        </p:nvSpPr>
        <p:spPr>
          <a:xfrm>
            <a:off x="1453455" y="3767328"/>
            <a:ext cx="3859650" cy="2478024"/>
          </a:xfrm>
          <a:prstGeom prst="rect">
            <a:avLst/>
          </a:prstGeom>
          <a:solidFill>
            <a:schemeClr val="bg1"/>
          </a:solidFill>
          <a:ln w="9525">
            <a:solidFill>
              <a:srgbClr val="C9D3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Live device data" descr="Live device da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87" y="3794760"/>
            <a:ext cx="3804786" cy="2423160"/>
          </a:xfrm>
          <a:prstGeom prst="rect">
            <a:avLst/>
          </a:prstGeom>
        </p:spPr>
      </p:pic>
      <p:sp>
        <p:nvSpPr>
          <p:cNvPr id="7" name="bullets"/>
          <p:cNvSpPr txBox="1"/>
          <p:nvPr/>
        </p:nvSpPr>
        <p:spPr>
          <a:xfrm>
            <a:off x="6583680" y="128016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License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Valid / Not valid, devices used / allowed; invalid stops every parser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Layers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one card per controller; pod dot, frames, last error; Stop / Start / Restart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Live device data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data status, latest values, Restart, Enable / Disable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Logs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latest 40 entries from every component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Devices: register and manage</a:t>
            </a:r>
            <a:endParaRPr lang="en-US" sz="3200" dirty="0"/>
          </a:p>
        </p:txBody>
      </p:sp>
      <p:sp>
        <p:nvSpPr>
          <p:cNvPr id="3" name="Installed devices frame"/>
          <p:cNvSpPr/>
          <p:nvPr/>
        </p:nvSpPr>
        <p:spPr>
          <a:xfrm>
            <a:off x="521208" y="1292733"/>
            <a:ext cx="5632704" cy="3541014"/>
          </a:xfrm>
          <a:prstGeom prst="rect">
            <a:avLst/>
          </a:prstGeom>
          <a:solidFill>
            <a:schemeClr val="bg1"/>
          </a:solidFill>
          <a:ln w="9525">
            <a:solidFill>
              <a:srgbClr val="C9D3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nstalled devices" descr="Installed dev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0165"/>
            <a:ext cx="5577840" cy="3486150"/>
          </a:xfrm>
          <a:prstGeom prst="rect">
            <a:avLst/>
          </a:prstGeom>
        </p:spPr>
      </p:pic>
      <p:sp>
        <p:nvSpPr>
          <p:cNvPr id="5" name="Add device form frame"/>
          <p:cNvSpPr/>
          <p:nvPr/>
        </p:nvSpPr>
        <p:spPr>
          <a:xfrm>
            <a:off x="6327648" y="1378458"/>
            <a:ext cx="5358384" cy="3369564"/>
          </a:xfrm>
          <a:prstGeom prst="rect">
            <a:avLst/>
          </a:prstGeom>
          <a:solidFill>
            <a:schemeClr val="bg1"/>
          </a:solidFill>
          <a:ln w="9525">
            <a:solidFill>
              <a:srgbClr val="C9D3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Add device form" descr="Add device 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05890"/>
            <a:ext cx="5303520" cy="3314700"/>
          </a:xfrm>
          <a:prstGeom prst="rect">
            <a:avLst/>
          </a:prstGeom>
        </p:spPr>
      </p:pic>
      <p:sp>
        <p:nvSpPr>
          <p:cNvPr id="7" name="Installed devices card"/>
          <p:cNvSpPr/>
          <p:nvPr/>
        </p:nvSpPr>
        <p:spPr>
          <a:xfrm>
            <a:off x="548640" y="512064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8" name="Installed devices"/>
          <p:cNvSpPr txBox="1"/>
          <p:nvPr/>
        </p:nvSpPr>
        <p:spPr>
          <a:xfrm>
            <a:off x="713232" y="5230368"/>
            <a:ext cx="52486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F6F4F"/>
                </a:solidFill>
              </a:rPr>
              <a:t>Installed devices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Monitor · Edit · Enable / Disable · Remove. Parser column shows disabled, not started or the container status.</a:t>
            </a:r>
            <a:endParaRPr lang="en-US" sz="1600" dirty="0"/>
          </a:p>
        </p:txBody>
      </p:sp>
      <p:sp>
        <p:nvSpPr>
          <p:cNvPr id="9" name="Add device card"/>
          <p:cNvSpPr/>
          <p:nvPr/>
        </p:nvSpPr>
        <p:spPr>
          <a:xfrm>
            <a:off x="6355080" y="512064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10" name="Add device"/>
          <p:cNvSpPr txBox="1"/>
          <p:nvPr/>
        </p:nvSpPr>
        <p:spPr>
          <a:xfrm>
            <a:off x="6519672" y="5230368"/>
            <a:ext cx="49743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D6FA3"/>
                </a:solidFill>
              </a:rPr>
              <a:t>Add device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Device ID (permanent), type, Leaf workstation, connection pod e.g. serial.COM1. Saving an enabled device starts its parser.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Device monitor and raw streams</a:t>
            </a:r>
            <a:endParaRPr lang="en-US" sz="3200" dirty="0"/>
          </a:p>
        </p:txBody>
      </p:sp>
      <p:sp>
        <p:nvSpPr>
          <p:cNvPr id="3" name="Device monitor frame"/>
          <p:cNvSpPr/>
          <p:nvPr/>
        </p:nvSpPr>
        <p:spPr>
          <a:xfrm>
            <a:off x="814811" y="1207008"/>
            <a:ext cx="4954057" cy="4078224"/>
          </a:xfrm>
          <a:prstGeom prst="rect">
            <a:avLst/>
          </a:prstGeom>
          <a:solidFill>
            <a:schemeClr val="bg1"/>
          </a:solidFill>
          <a:ln w="9525">
            <a:solidFill>
              <a:srgbClr val="C9D3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Device monitor" descr="Device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243" y="1234440"/>
            <a:ext cx="4899193" cy="4023360"/>
          </a:xfrm>
          <a:prstGeom prst="rect">
            <a:avLst/>
          </a:prstGeom>
        </p:spPr>
      </p:pic>
      <p:sp>
        <p:nvSpPr>
          <p:cNvPr id="5" name="Streams detail frame"/>
          <p:cNvSpPr/>
          <p:nvPr/>
        </p:nvSpPr>
        <p:spPr>
          <a:xfrm>
            <a:off x="7078980" y="1207008"/>
            <a:ext cx="3810000" cy="4078224"/>
          </a:xfrm>
          <a:prstGeom prst="rect">
            <a:avLst/>
          </a:prstGeom>
          <a:solidFill>
            <a:schemeClr val="bg1"/>
          </a:solidFill>
          <a:ln w="9525">
            <a:solidFill>
              <a:srgbClr val="C9D3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Streams detail" descr="Streams det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412" y="1234440"/>
            <a:ext cx="3755136" cy="4023360"/>
          </a:xfrm>
          <a:prstGeom prst="rect">
            <a:avLst/>
          </a:prstGeom>
        </p:spPr>
      </p:pic>
      <p:sp>
        <p:nvSpPr>
          <p:cNvPr id="7" name="Monitor card"/>
          <p:cNvSpPr/>
          <p:nvPr/>
        </p:nvSpPr>
        <p:spPr>
          <a:xfrm>
            <a:off x="548640" y="544068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8" name="Monitor"/>
          <p:cNvSpPr txBox="1"/>
          <p:nvPr/>
        </p:nvSpPr>
        <p:spPr>
          <a:xfrm>
            <a:off x="713232" y="5550408"/>
            <a:ext cx="51572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F6F4F"/>
                </a:solidFill>
              </a:rPr>
              <a:t>Monitor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Stored rows per minute, parameters in range, payloads sent to the collector.</a:t>
            </a:r>
            <a:endParaRPr lang="en-US" sz="1600" dirty="0"/>
          </a:p>
        </p:txBody>
      </p:sp>
      <p:sp>
        <p:nvSpPr>
          <p:cNvPr id="9" name="Streams card"/>
          <p:cNvSpPr/>
          <p:nvPr/>
        </p:nvSpPr>
        <p:spPr>
          <a:xfrm>
            <a:off x="6309360" y="544068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10" name="Streams"/>
          <p:cNvSpPr txBox="1"/>
          <p:nvPr/>
        </p:nvSpPr>
        <p:spPr>
          <a:xfrm>
            <a:off x="6473952" y="5550408"/>
            <a:ext cx="50200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D6FA3"/>
                </a:solidFill>
              </a:rPr>
              <a:t>Streams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Raw frames per pod before parsing; text or hex; in = blue, out = orange.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Alerts</a:t>
            </a:r>
            <a:endParaRPr lang="en-US" sz="3200" dirty="0"/>
          </a:p>
        </p:txBody>
      </p:sp>
      <p:sp>
        <p:nvSpPr>
          <p:cNvPr id="3" name="Alerts screen frame"/>
          <p:cNvSpPr/>
          <p:nvPr/>
        </p:nvSpPr>
        <p:spPr>
          <a:xfrm>
            <a:off x="521208" y="1298448"/>
            <a:ext cx="5907024" cy="3712464"/>
          </a:xfrm>
          <a:prstGeom prst="rect">
            <a:avLst/>
          </a:prstGeom>
          <a:solidFill>
            <a:schemeClr val="bg1"/>
          </a:solidFill>
          <a:ln w="9525">
            <a:solidFill>
              <a:srgbClr val="C9D3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Alerts screen" descr="Alerts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852160" cy="3657600"/>
          </a:xfrm>
          <a:prstGeom prst="rect">
            <a:avLst/>
          </a:prstGeom>
        </p:spPr>
      </p:pic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234440"/>
          <a:ext cx="498348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960120"/>
                <a:gridCol w="1965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Alert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Severity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Opens when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Canopy connection lost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Warning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 check-in for ~1 min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Controller down: &lt;name&gt;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Critical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Controller stopped or unreachable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 data from &lt;device&gt;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Critical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Enabled device silent 120 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Gateway service was not running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Warning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Gap in the service lane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  <p:sp>
        <p:nvSpPr>
          <p:cNvPr id="6" name="bullets"/>
          <p:cNvSpPr txBox="1"/>
          <p:nvPr/>
        </p:nvSpPr>
        <p:spPr>
          <a:xfrm>
            <a:off x="6675120" y="3840480"/>
            <a:ext cx="4983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Acknowledge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records who handled it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Delivery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✓ in Canopy or ◷ queued for Canopy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Alert log —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resolved alerts with filters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menu: device types, manufacturers, users</a:t>
            </a:r>
            <a:endParaRPr lang="en-US" sz="3200" dirty="0"/>
          </a:p>
        </p:txBody>
      </p:sp>
      <p:sp>
        <p:nvSpPr>
          <p:cNvPr id="3" name="Device types frame"/>
          <p:cNvSpPr/>
          <p:nvPr/>
        </p:nvSpPr>
        <p:spPr>
          <a:xfrm>
            <a:off x="521208" y="1709928"/>
            <a:ext cx="3712464" cy="2340864"/>
          </a:xfrm>
          <a:prstGeom prst="rect">
            <a:avLst/>
          </a:prstGeom>
          <a:solidFill>
            <a:schemeClr val="bg1"/>
          </a:solidFill>
          <a:ln w="9525">
            <a:solidFill>
              <a:srgbClr val="C9D3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Device types" descr="Device typ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657600" cy="2286000"/>
          </a:xfrm>
          <a:prstGeom prst="rect">
            <a:avLst/>
          </a:prstGeom>
        </p:spPr>
      </p:pic>
      <p:sp>
        <p:nvSpPr>
          <p:cNvPr id="5" name="Manufacturers frame"/>
          <p:cNvSpPr/>
          <p:nvPr/>
        </p:nvSpPr>
        <p:spPr>
          <a:xfrm>
            <a:off x="4242816" y="1709928"/>
            <a:ext cx="3712464" cy="2340864"/>
          </a:xfrm>
          <a:prstGeom prst="rect">
            <a:avLst/>
          </a:prstGeom>
          <a:solidFill>
            <a:schemeClr val="bg1"/>
          </a:solidFill>
          <a:ln w="9525">
            <a:solidFill>
              <a:srgbClr val="C9D3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Manufacturers" descr="Manufactur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737360"/>
            <a:ext cx="3657600" cy="2286000"/>
          </a:xfrm>
          <a:prstGeom prst="rect">
            <a:avLst/>
          </a:prstGeom>
        </p:spPr>
      </p:pic>
      <p:sp>
        <p:nvSpPr>
          <p:cNvPr id="7" name="Users frame"/>
          <p:cNvSpPr/>
          <p:nvPr/>
        </p:nvSpPr>
        <p:spPr>
          <a:xfrm>
            <a:off x="7973568" y="1709928"/>
            <a:ext cx="3712464" cy="2340864"/>
          </a:xfrm>
          <a:prstGeom prst="rect">
            <a:avLst/>
          </a:prstGeom>
          <a:solidFill>
            <a:schemeClr val="bg1"/>
          </a:solidFill>
          <a:ln w="9525">
            <a:solidFill>
              <a:srgbClr val="C9D3C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Users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737360"/>
            <a:ext cx="3657600" cy="2286000"/>
          </a:xfrm>
          <a:prstGeom prst="rect">
            <a:avLst/>
          </a:prstGeom>
        </p:spPr>
      </p:pic>
      <p:sp>
        <p:nvSpPr>
          <p:cNvPr id="9" name="Device types card"/>
          <p:cNvSpPr/>
          <p:nvPr/>
        </p:nvSpPr>
        <p:spPr>
          <a:xfrm>
            <a:off x="548640" y="475488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10" name="Device types"/>
          <p:cNvSpPr txBox="1"/>
          <p:nvPr/>
        </p:nvSpPr>
        <p:spPr>
          <a:xfrm>
            <a:off x="713232" y="4864608"/>
            <a:ext cx="332841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F6F4F"/>
                </a:solidFill>
              </a:rPr>
              <a:t>Device types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From Canopy (release-managed) plus local templates that reuse a delivered parser image.</a:t>
            </a:r>
            <a:endParaRPr lang="en-US" sz="1600" dirty="0"/>
          </a:p>
        </p:txBody>
      </p:sp>
      <p:sp>
        <p:nvSpPr>
          <p:cNvPr id="11" name="Manufacturers card"/>
          <p:cNvSpPr/>
          <p:nvPr/>
        </p:nvSpPr>
        <p:spPr>
          <a:xfrm>
            <a:off x="4270248" y="475488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12" name="Manufacturers"/>
          <p:cNvSpPr txBox="1"/>
          <p:nvPr/>
        </p:nvSpPr>
        <p:spPr>
          <a:xfrm>
            <a:off x="4434840" y="4864608"/>
            <a:ext cx="332841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D6FA3"/>
                </a:solidFill>
              </a:rPr>
              <a:t>Manufacturers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Vendor directory; cannot delete one still used by a type.</a:t>
            </a:r>
            <a:endParaRPr lang="en-US" sz="1600" dirty="0"/>
          </a:p>
        </p:txBody>
      </p:sp>
      <p:sp>
        <p:nvSpPr>
          <p:cNvPr id="13" name="Users card"/>
          <p:cNvSpPr/>
          <p:nvPr/>
        </p:nvSpPr>
        <p:spPr>
          <a:xfrm>
            <a:off x="8001000" y="475488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14" name="Users"/>
          <p:cNvSpPr txBox="1"/>
          <p:nvPr/>
        </p:nvSpPr>
        <p:spPr>
          <a:xfrm>
            <a:off x="8165592" y="4864608"/>
            <a:ext cx="332841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913A"/>
                </a:solidFill>
              </a:rPr>
              <a:t>Users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Admins manage accounts; one enabled admin must remain. Everyone can change their own password.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Register a new device</a:t>
            </a:r>
            <a:endParaRPr lang="en-US" sz="3200" dirty="0"/>
          </a:p>
        </p:txBody>
      </p:sp>
      <p:sp>
        <p:nvSpPr>
          <p:cNvPr id="3" name="r0"/>
          <p:cNvSpPr/>
          <p:nvPr/>
        </p:nvSpPr>
        <p:spPr>
          <a:xfrm>
            <a:off x="640080" y="1325880"/>
            <a:ext cx="640080" cy="640080"/>
          </a:xfrm>
          <a:prstGeom prst="ellipse">
            <a:avLst/>
          </a:prstGeom>
          <a:solidFill>
            <a:srgbClr val="2F6F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rn0"/>
          <p:cNvSpPr txBox="1"/>
          <p:nvPr/>
        </p:nvSpPr>
        <p:spPr>
          <a:xfrm>
            <a:off x="6400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rt0"/>
          <p:cNvSpPr txBox="1"/>
          <p:nvPr/>
        </p:nvSpPr>
        <p:spPr>
          <a:xfrm>
            <a:off x="1463040" y="12801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 the type  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System → Device types. Missing? Sync now, or ask Canopy for a release and license.</a:t>
            </a:r>
            <a:endParaRPr lang="en-US" sz="1700" dirty="0"/>
          </a:p>
        </p:txBody>
      </p:sp>
      <p:sp>
        <p:nvSpPr>
          <p:cNvPr id="6" name="r1"/>
          <p:cNvSpPr/>
          <p:nvPr/>
        </p:nvSpPr>
        <p:spPr>
          <a:xfrm>
            <a:off x="640080" y="2304288"/>
            <a:ext cx="640080" cy="640080"/>
          </a:xfrm>
          <a:prstGeom prst="ellipse">
            <a:avLst/>
          </a:prstGeom>
          <a:solidFill>
            <a:srgbClr val="2F6F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rn1"/>
          <p:cNvSpPr txBox="1"/>
          <p:nvPr/>
        </p:nvSpPr>
        <p:spPr>
          <a:xfrm>
            <a:off x="640080" y="2304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rt1"/>
          <p:cNvSpPr txBox="1"/>
          <p:nvPr/>
        </p:nvSpPr>
        <p:spPr>
          <a:xfrm>
            <a:off x="1463040" y="225856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Define the pod  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gateway.toml: [[serial.pods]] path + line settings, or [[socket.pods]] port + framing.</a:t>
            </a:r>
            <a:endParaRPr lang="en-US" sz="1700" dirty="0"/>
          </a:p>
        </p:txBody>
      </p:sp>
      <p:sp>
        <p:nvSpPr>
          <p:cNvPr id="9" name="r2"/>
          <p:cNvSpPr/>
          <p:nvPr/>
        </p:nvSpPr>
        <p:spPr>
          <a:xfrm>
            <a:off x="640080" y="3282696"/>
            <a:ext cx="640080" cy="640080"/>
          </a:xfrm>
          <a:prstGeom prst="ellipse">
            <a:avLst/>
          </a:prstGeom>
          <a:solidFill>
            <a:srgbClr val="2F6F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rn2"/>
          <p:cNvSpPr txBox="1"/>
          <p:nvPr/>
        </p:nvSpPr>
        <p:spPr>
          <a:xfrm>
            <a:off x="640080" y="32826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rt2"/>
          <p:cNvSpPr txBox="1"/>
          <p:nvPr/>
        </p:nvSpPr>
        <p:spPr>
          <a:xfrm>
            <a:off x="1463040" y="323697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Restart the controller  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Overview → Layers → Restart (serial- or socket-controller).</a:t>
            </a:r>
            <a:endParaRPr lang="en-US" sz="1700" dirty="0"/>
          </a:p>
        </p:txBody>
      </p:sp>
      <p:sp>
        <p:nvSpPr>
          <p:cNvPr id="12" name="r3"/>
          <p:cNvSpPr/>
          <p:nvPr/>
        </p:nvSpPr>
        <p:spPr>
          <a:xfrm>
            <a:off x="640080" y="4261104"/>
            <a:ext cx="640080" cy="640080"/>
          </a:xfrm>
          <a:prstGeom prst="ellipse">
            <a:avLst/>
          </a:prstGeom>
          <a:solidFill>
            <a:srgbClr val="2F6F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rn3"/>
          <p:cNvSpPr txBox="1"/>
          <p:nvPr/>
        </p:nvSpPr>
        <p:spPr>
          <a:xfrm>
            <a:off x="640080" y="42611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rt3"/>
          <p:cNvSpPr txBox="1"/>
          <p:nvPr/>
        </p:nvSpPr>
        <p:spPr>
          <a:xfrm>
            <a:off x="1463040" y="421538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Add the device  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Devices → Add device: type, pod (serial.COM6), Leaf workstation → Save.</a:t>
            </a:r>
            <a:endParaRPr lang="en-US" sz="1700" dirty="0"/>
          </a:p>
        </p:txBody>
      </p:sp>
      <p:sp>
        <p:nvSpPr>
          <p:cNvPr id="15" name="r4"/>
          <p:cNvSpPr/>
          <p:nvPr/>
        </p:nvSpPr>
        <p:spPr>
          <a:xfrm>
            <a:off x="640080" y="5239512"/>
            <a:ext cx="640080" cy="640080"/>
          </a:xfrm>
          <a:prstGeom prst="ellipse">
            <a:avLst/>
          </a:prstGeom>
          <a:solidFill>
            <a:srgbClr val="C891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rn4"/>
          <p:cNvSpPr txBox="1"/>
          <p:nvPr/>
        </p:nvSpPr>
        <p:spPr>
          <a:xfrm>
            <a:off x="640080" y="5239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rt4"/>
          <p:cNvSpPr txBox="1"/>
          <p:nvPr/>
        </p:nvSpPr>
        <p:spPr>
          <a:xfrm>
            <a:off x="1463040" y="5193792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Verify   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Parser running, frames on Streams, values in Live device data, vitals on the Leaf.</a:t>
            </a:r>
            <a:endParaRPr lang="en-US" sz="1700" dirty="0"/>
          </a:p>
        </p:txBody>
      </p:sp>
      <p:sp>
        <p:nvSpPr>
          <p:cNvPr id="18" name="Pods are configuration, not UI card"/>
          <p:cNvSpPr/>
          <p:nvPr/>
        </p:nvSpPr>
        <p:spPr>
          <a:xfrm>
            <a:off x="7315200" y="1325880"/>
            <a:ext cx="4343400" cy="2148840"/>
          </a:xfrm>
          <a:prstGeom prst="roundRect">
            <a:avLst>
              <a:gd name="adj" fmla="val 3404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19" name="Pods are configuration, not UI"/>
          <p:cNvSpPr txBox="1"/>
          <p:nvPr/>
        </p:nvSpPr>
        <p:spPr>
          <a:xfrm>
            <a:off x="7479792" y="1435608"/>
            <a:ext cx="401421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913A"/>
                </a:solidFill>
              </a:rPr>
              <a:t>Pods are configuration, not UI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 port, baud rate and network listeners live in config/gateway.toml (or PUT /api/config/&lt;section&gt; with the full pod list), followed by a controller restart.</a:t>
            </a:r>
            <a:endParaRPr lang="en-US" sz="1600" dirty="0"/>
          </a:p>
        </p:txBody>
      </p:sp>
      <p:sp>
        <p:nvSpPr>
          <p:cNvPr id="20" name="Licensing applies card"/>
          <p:cNvSpPr/>
          <p:nvPr/>
        </p:nvSpPr>
        <p:spPr>
          <a:xfrm>
            <a:off x="7315200" y="3657600"/>
            <a:ext cx="4343400" cy="2331720"/>
          </a:xfrm>
          <a:prstGeom prst="roundRect">
            <a:avLst>
              <a:gd name="adj" fmla="val 3137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21" name="Licensing applies"/>
          <p:cNvSpPr txBox="1"/>
          <p:nvPr/>
        </p:nvSpPr>
        <p:spPr>
          <a:xfrm>
            <a:off x="7479792" y="3767328"/>
            <a:ext cx="4014216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D6FA3"/>
                </a:solidFill>
              </a:rPr>
              <a:t>Licensing applies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Only licensed device types can be added or enabled, and enabled devices cannot exceed max devices. Moving a device to another Leaf: Edit → Leaf workstation.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Troubleshoot a device with no data</a:t>
            </a:r>
            <a:endParaRPr lang="en-US" sz="3200" dirty="0"/>
          </a:p>
        </p:txBody>
      </p:sp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1099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94560"/>
                <a:gridCol w="2743200"/>
                <a:gridCol w="5715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Check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Where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If not OK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Device enabled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Devices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Enable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Parser running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Devices · Parser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Restart; read Logs parser.&lt;device_id&gt;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Controller running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Overview · Layers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Start / Restart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Pod connected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Layers · pod dot, last error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Cable, COM port, IP, firewall, source_ips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Frames arrive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Streams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frames: physical / network. Frames but no values: type, options, device settings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License valid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Overview · License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Canopy connection, Sync now, contact Canopy admin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  <p:sp>
        <p:nvSpPr>
          <p:cNvPr id="4" name="Rule of thumb card"/>
          <p:cNvSpPr/>
          <p:nvPr/>
        </p:nvSpPr>
        <p:spPr>
          <a:xfrm>
            <a:off x="548640" y="457200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5" name="Rule of thumb"/>
          <p:cNvSpPr txBox="1"/>
          <p:nvPr/>
        </p:nvSpPr>
        <p:spPr>
          <a:xfrm>
            <a:off x="713232" y="4681728"/>
            <a:ext cx="107807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8913A"/>
                </a:solidFill>
              </a:rPr>
              <a:t>Rule of thumb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Streams tells you whether the problem is before the parser (no frames: cable, port, network) or in the parser (frames but no values: device type, options, protocol settings).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Data structures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BFE6D4"/>
                </a:solidFill>
              </a:rPr>
              <a:t>18 PostgreSQL tables · Kafka messages · data-api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Database overview: 18 tables in four domains</a:t>
            </a:r>
            <a:endParaRPr lang="en-US" sz="3200" dirty="0"/>
          </a:p>
        </p:txBody>
      </p:sp>
      <p:pic>
        <p:nvPicPr>
          <p:cNvPr id="3" name="Database overview: 18 tables in four domains" descr="Database overview: 18 tables in four domai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123" y="1188720"/>
            <a:ext cx="8588994" cy="443484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571500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4"/>
                </a:solidFill>
              </a:rPr>
              <a:t>Only three foreign keys are enforced (solid). The rest are logical links kept by the application (dashed), so telemetry is never rejected.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Device registry, licensing and site</a:t>
            </a:r>
            <a:endParaRPr lang="en-US" sz="3200" dirty="0"/>
          </a:p>
        </p:txBody>
      </p:sp>
      <p:pic>
        <p:nvPicPr>
          <p:cNvPr id="3" name="Device registry, licensing and site" descr="Device registry, licensing and 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689" y="1188720"/>
            <a:ext cx="6629862" cy="443484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571500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4"/>
                </a:solidFill>
              </a:rPr>
              <a:t>device_instance → device_type → manufacturer are enforced. Types point to delivered parser images; the license lists allowed types.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Telemetry and logs</a:t>
            </a:r>
            <a:endParaRPr lang="en-US" sz="3200" dirty="0"/>
          </a:p>
        </p:txBody>
      </p:sp>
      <p:pic>
        <p:nvPicPr>
          <p:cNvPr id="3" name="Telemetry and logs" descr="Telemetry and l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9666" y="1188720"/>
            <a:ext cx="7907907" cy="443484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571500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4"/>
                </a:solidFill>
              </a:rPr>
              <a:t>Written by the collector from Kafka. device_id links each row to the instance logically; device_seen keeps the latest state per device.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Access control, status history and alerts</a:t>
            </a:r>
            <a:endParaRPr lang="en-US" sz="3200" dirty="0"/>
          </a:p>
        </p:txBody>
      </p:sp>
      <p:pic>
        <p:nvPicPr>
          <p:cNvPr id="3" name="Access control, status history and alerts" descr="Access control, status history and ale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457" y="1188720"/>
            <a:ext cx="7544326" cy="443484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548640" y="571500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4"/>
                </a:solidFill>
              </a:rPr>
              <a:t>Sessions cascade with users. Status samples and alerts share lane names: gateway, canopy, controller:&lt;name&gt;, device:&lt;id&gt;.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Kafka topics and the data-api</a:t>
            </a:r>
            <a:endParaRPr lang="en-US" sz="3200" dirty="0"/>
          </a:p>
        </p:txBody>
      </p:sp>
      <p:graphicFrame>
        <p:nvGraphicFramePr>
          <p:cNvPr id="2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4864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10312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Topic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Producer → consumer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gw.raw.&lt;pod&gt;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controller → parser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RawFrame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gw.cmd.&lt;pod&gt;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parser / service → controller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Command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gw.obs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parser → collector, publisher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Observation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gw.measurements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parser → collector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DeviceMeasurement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gw.logs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any → collector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LogEvent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325880"/>
          <a:ext cx="5349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71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Endpoint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Returns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GET /api/observations?from&amp;to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Observations of the Leaf's devices (window ≤ 4 h)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GET /api/measurements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Original fields, paged with after_id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GET /api/devices/status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online / waiting / offline per device and by category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GET /health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Service status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  <p:sp>
        <p:nvSpPr>
          <p:cNvPr id="5" name="Observation (stored 1:1 in gateway_observation) card"/>
          <p:cNvSpPr/>
          <p:nvPr/>
        </p:nvSpPr>
        <p:spPr>
          <a:xfrm>
            <a:off x="548640" y="4343400"/>
            <a:ext cx="11109960" cy="1645920"/>
          </a:xfrm>
          <a:prstGeom prst="roundRect">
            <a:avLst>
              <a:gd name="adj" fmla="val 4444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6" name="Observation (stored 1:1 in gateway_observation)"/>
          <p:cNvSpPr txBox="1"/>
          <p:nvPr/>
        </p:nvSpPr>
        <p:spPr>
          <a:xfrm>
            <a:off x="713232" y="4453128"/>
            <a:ext cx="1078077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D6FA3"/>
                </a:solidFill>
              </a:rPr>
              <a:t>Observation (stored 1:1 in gateway_observation)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device_id · source · protocol · raw_code · ivy_param (hr, spo2, nibp_sys, etco2 …) · value · unit · device_ts · system_ts · pod. Leaf reads it from https://&lt;gateway-host&gt;/data-api/&lt;leaf-id&gt;/api/observations; Kong adds leaf_id so each Leaf sees only its own devices.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Updates and licensing</a:t>
            </a:r>
            <a:endParaRPr lang="en-US" sz="3200" dirty="0"/>
          </a:p>
        </p:txBody>
      </p:sp>
      <p:sp>
        <p:nvSpPr>
          <p:cNvPr id="3" name="chain0"/>
          <p:cNvSpPr/>
          <p:nvPr/>
        </p:nvSpPr>
        <p:spPr>
          <a:xfrm>
            <a:off x="548640" y="13716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4" name="cbg0"/>
          <p:cNvSpPr/>
          <p:nvPr/>
        </p:nvSpPr>
        <p:spPr>
          <a:xfrm>
            <a:off x="1554480" y="1554480"/>
            <a:ext cx="594360" cy="594360"/>
          </a:xfrm>
          <a:prstGeom prst="ellipse">
            <a:avLst/>
          </a:prstGeom>
          <a:solidFill>
            <a:srgbClr val="C8913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cic0" descr="Ro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1700784"/>
            <a:ext cx="301752" cy="301752"/>
          </a:xfrm>
          <a:prstGeom prst="rect">
            <a:avLst/>
          </a:prstGeom>
        </p:spPr>
      </p:pic>
      <p:sp>
        <p:nvSpPr>
          <p:cNvPr id="6" name="ct0"/>
          <p:cNvSpPr txBox="1"/>
          <p:nvPr/>
        </p:nvSpPr>
        <p:spPr>
          <a:xfrm>
            <a:off x="685800" y="22860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Root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Builds and signs every release and license</a:t>
            </a:r>
            <a:endParaRPr lang="en-US" sz="1600" dirty="0"/>
          </a:p>
        </p:txBody>
      </p:sp>
      <p:sp>
        <p:nvSpPr>
          <p:cNvPr id="7" name="ca0"/>
          <p:cNvSpPr/>
          <p:nvPr/>
        </p:nvSpPr>
        <p:spPr>
          <a:xfrm rot="5400000">
            <a:off x="3200400" y="2423160"/>
            <a:ext cx="118872" cy="274320"/>
          </a:xfrm>
          <a:prstGeom prst="rtTriangle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8" name="chain1"/>
          <p:cNvSpPr/>
          <p:nvPr/>
        </p:nvSpPr>
        <p:spPr>
          <a:xfrm>
            <a:off x="3383280" y="13716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9" name="cbg1"/>
          <p:cNvSpPr/>
          <p:nvPr/>
        </p:nvSpPr>
        <p:spPr>
          <a:xfrm>
            <a:off x="4389120" y="1554480"/>
            <a:ext cx="594360" cy="594360"/>
          </a:xfrm>
          <a:prstGeom prst="ellipse">
            <a:avLst/>
          </a:prstGeom>
          <a:solidFill>
            <a:srgbClr val="2F6F4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cic1" descr="Haber @ Canop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1700784"/>
            <a:ext cx="301752" cy="301752"/>
          </a:xfrm>
          <a:prstGeom prst="rect">
            <a:avLst/>
          </a:prstGeom>
        </p:spPr>
      </p:pic>
      <p:sp>
        <p:nvSpPr>
          <p:cNvPr id="11" name="ct1"/>
          <p:cNvSpPr txBox="1"/>
          <p:nvPr/>
        </p:nvSpPr>
        <p:spPr>
          <a:xfrm>
            <a:off x="3520440" y="22860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Haber @ Canopy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Mirrors images; hospital approves the rollout</a:t>
            </a:r>
            <a:endParaRPr lang="en-US" sz="1600" dirty="0"/>
          </a:p>
        </p:txBody>
      </p:sp>
      <p:sp>
        <p:nvSpPr>
          <p:cNvPr id="12" name="ca1"/>
          <p:cNvSpPr/>
          <p:nvPr/>
        </p:nvSpPr>
        <p:spPr>
          <a:xfrm rot="5400000">
            <a:off x="6035040" y="2423160"/>
            <a:ext cx="118872" cy="274320"/>
          </a:xfrm>
          <a:prstGeom prst="rtTriangle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13" name="chain2"/>
          <p:cNvSpPr/>
          <p:nvPr/>
        </p:nvSpPr>
        <p:spPr>
          <a:xfrm>
            <a:off x="6217920" y="13716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14" name="cbg2"/>
          <p:cNvSpPr/>
          <p:nvPr/>
        </p:nvSpPr>
        <p:spPr>
          <a:xfrm>
            <a:off x="7223760" y="1554480"/>
            <a:ext cx="594360" cy="594360"/>
          </a:xfrm>
          <a:prstGeom prst="ellipse">
            <a:avLst/>
          </a:prstGeom>
          <a:solidFill>
            <a:srgbClr val="2D6FA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cic2" descr="flora-upda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700784"/>
            <a:ext cx="301752" cy="301752"/>
          </a:xfrm>
          <a:prstGeom prst="rect">
            <a:avLst/>
          </a:prstGeom>
        </p:spPr>
      </p:pic>
      <p:sp>
        <p:nvSpPr>
          <p:cNvPr id="16" name="ct2"/>
          <p:cNvSpPr txBox="1"/>
          <p:nvPr/>
        </p:nvSpPr>
        <p:spPr>
          <a:xfrm>
            <a:off x="6355080" y="22860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flora-updater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Verifies signature, recreates changed services, rolls back on failure</a:t>
            </a:r>
            <a:endParaRPr lang="en-US" sz="1600" dirty="0"/>
          </a:p>
        </p:txBody>
      </p:sp>
      <p:sp>
        <p:nvSpPr>
          <p:cNvPr id="17" name="ca2"/>
          <p:cNvSpPr/>
          <p:nvPr/>
        </p:nvSpPr>
        <p:spPr>
          <a:xfrm rot="5400000">
            <a:off x="8869680" y="2423160"/>
            <a:ext cx="118872" cy="274320"/>
          </a:xfrm>
          <a:prstGeom prst="rtTriangle">
            <a:avLst/>
          </a:prstGeom>
          <a:solidFill>
            <a:srgbClr val="C8913A"/>
          </a:solidFill>
          <a:ln w="12700">
            <a:solidFill>
              <a:srgbClr val="C8913A"/>
            </a:solidFill>
            <a:prstDash val="solid"/>
          </a:ln>
        </p:spPr>
      </p:sp>
      <p:sp>
        <p:nvSpPr>
          <p:cNvPr id="18" name="chain3"/>
          <p:cNvSpPr/>
          <p:nvPr/>
        </p:nvSpPr>
        <p:spPr>
          <a:xfrm>
            <a:off x="9052560" y="13716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4F7F5"/>
          </a:solidFill>
          <a:ln w="9525">
            <a:solidFill>
              <a:srgbClr val="C9D3CE"/>
            </a:solidFill>
            <a:prstDash val="solid"/>
          </a:ln>
        </p:spPr>
      </p:sp>
      <p:sp>
        <p:nvSpPr>
          <p:cNvPr id="19" name="cbg3"/>
          <p:cNvSpPr/>
          <p:nvPr/>
        </p:nvSpPr>
        <p:spPr>
          <a:xfrm>
            <a:off x="10058400" y="1554480"/>
            <a:ext cx="594360" cy="594360"/>
          </a:xfrm>
          <a:prstGeom prst="ellipse">
            <a:avLst/>
          </a:prstGeom>
          <a:solidFill>
            <a:srgbClr val="17362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cic3" descr="Par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4" y="1700784"/>
            <a:ext cx="301752" cy="301752"/>
          </a:xfrm>
          <a:prstGeom prst="rect">
            <a:avLst/>
          </a:prstGeom>
        </p:spPr>
      </p:pic>
      <p:sp>
        <p:nvSpPr>
          <p:cNvPr id="21" name="ct3"/>
          <p:cNvSpPr txBox="1"/>
          <p:nvPr/>
        </p:nvSpPr>
        <p:spPr>
          <a:xfrm>
            <a:off x="9189720" y="228600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Parsers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Replaced one per cycle; new image pulled before the old one stops</a:t>
            </a:r>
            <a:endParaRPr lang="en-US" sz="1600" dirty="0"/>
          </a:p>
        </p:txBody>
      </p:sp>
      <p:sp>
        <p:nvSpPr>
          <p:cNvPr id="22" name="bullets"/>
          <p:cNvSpPr txBox="1"/>
          <p:nvPr/>
        </p:nvSpPr>
        <p:spPr>
          <a:xfrm>
            <a:off x="548640" y="4069080"/>
            <a:ext cx="11109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2"/>
                </a:solidFill>
              </a:rPr>
              <a:t>License not valid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no license, revoked by Root, or expired: every parser stops until a valid license arrives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2"/>
                </a:solidFill>
              </a:rPr>
              <a:t>Canopy unreachable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the last license is kept and data collection continues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2"/>
                </a:solidFill>
              </a:rPr>
              <a:t>Limits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only licensed device types; enabled devices ≤ max devices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2"/>
                </a:solidFill>
              </a:rPr>
              <a:t>Maintenance window —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FLORA_UPDATER_WINDOW, e.g. 02:00-05:00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Supported devices (release gateway-0.2.4)</a:t>
            </a:r>
            <a:endParaRPr lang="en-US" sz="3200" dirty="0"/>
          </a:p>
        </p:txBody>
      </p:sp>
      <p:graphicFrame>
        <p:nvGraphicFramePr>
          <p:cNvPr id="2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109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023360"/>
                <a:gridCol w="196596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Device type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Device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Connection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Parser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hl7-patient-monitor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Patient monitor, HL7 v2 / IHE PCD-01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socket · MLLP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hl7v2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hidro-hl7-monitor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Hidro HL7 monitor profile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socket · MLLP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hidro_hl7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draeger-iacs-m540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Dräger M540, IACS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socket · UDP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iacs_m540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draeger-medibus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Dräger MEDIBUS.X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serial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medibus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draeger-vista-120s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Dräger Vista 120 S, CMS link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socket · TCP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draeger_vista_s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ge-carestation-750 · ge-aisys-cs2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GE Carestation 750 · Aisys CS2 (COM 1.2)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serial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ge_carestation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ge-bx50-dri · ge-s5-dri · ge-aisys-dri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GE Bx50 / B650 · S/5 · Aisys (DRI)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serial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ge_dri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bbraun-space-bcc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B. Braun SpaceCom, BCC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socket · TCP client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bbraun_bcc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json-anesthesia-machine · http-ventilator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JSON push · HTTP poll devices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webhook · feeder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json_fields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serial-temp-module · acme-t200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Temperature / CVP modules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serial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ascii_kv · acme_t200</a:t>
                      </a:r>
                      <a:endParaRPr lang="en-US" sz="12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9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3152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Administrator checklist</a:t>
            </a:r>
            <a:endParaRPr lang="en-US" sz="4000" dirty="0"/>
          </a:p>
        </p:txBody>
      </p:sp>
      <p:sp>
        <p:nvSpPr>
          <p:cNvPr id="3" name="checklist"/>
          <p:cNvSpPr txBox="1"/>
          <p:nvPr/>
        </p:nvSpPr>
        <p:spPr>
          <a:xfrm>
            <a:off x="640080" y="2011680"/>
            <a:ext cx="10789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Change the default admin password and create named accounts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Connect to Canopy (Overview → Canopy connection) and confirm the license is Valid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Define pods in gateway.toml, then add devices with their Leaf workstation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Verify data on Streams, Live device data and the Leaf chart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Back up the gateway database volume, config/ and certs/; plan telemetry housekeeping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M Flora">
  <a:themeElements>
    <a:clrScheme name="ESM Flora">
      <a:dk1>
        <a:srgbClr val="1D2621"/>
      </a:dk1>
      <a:lt1>
        <a:srgbClr val="FFFFFF"/>
      </a:lt1>
      <a:dk2>
        <a:srgbClr val="17362B"/>
      </a:dk2>
      <a:lt2>
        <a:srgbClr val="EEF4F0"/>
      </a:lt2>
      <a:accent1>
        <a:srgbClr val="2F6F4F"/>
      </a:accent1>
      <a:accent2>
        <a:srgbClr val="5FD3A6"/>
      </a:accent2>
      <a:accent3>
        <a:srgbClr val="C8913A"/>
      </a:accent3>
      <a:accent4>
        <a:srgbClr val="2D6FA3"/>
      </a:accent4>
      <a:accent5>
        <a:srgbClr val="B23B3B"/>
      </a:accent5>
      <a:accent6>
        <a:srgbClr val="8AA399"/>
      </a:accent6>
      <a:hlink>
        <a:srgbClr val="2D6FA3"/>
      </a:hlink>
      <a:folHlink>
        <a:srgbClr val="5B6B64"/>
      </a:folHlink>
    </a:clrScheme>
    <a:fontScheme name="ESM Flor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ESM Flora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ESM Flora Gateway — User and Operations Guide</dc:title>
  <dc:subject>PptxGenJS Presentation</dc:subject>
  <dc:creator>ESM Flora</dc:creator>
  <cp:lastModifiedBy>ESM Flora</cp:lastModifiedBy>
  <cp:revision>1</cp:revision>
  <dcterms:created xsi:type="dcterms:W3CDTF">2026-10-13T04:50:08Z</dcterms:created>
  <dcterms:modified xsi:type="dcterms:W3CDTF">2026-10-13T04:50:08Z</dcterms:modified>
</cp:coreProperties>
</file>